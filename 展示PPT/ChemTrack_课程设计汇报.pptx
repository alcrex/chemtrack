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hemtrack_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hemtrack_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07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01 / OVERVIEW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774132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ChemTrack：把危化品管理变成一条可追溯责任链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44026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校园实验室危化品全生命周期管理系统 · 课程设计汇报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0075" y="2064544"/>
            <a:ext cx="153756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从采购到处置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0075" y="24836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每一次动作都有责任人、状态和证据。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09600" y="3143250"/>
            <a:ext cx="1352550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59724" y="3228499"/>
            <a:ext cx="8523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MVP 已可运行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095500" y="3143250"/>
            <a:ext cx="135255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233175" y="3228499"/>
            <a:ext cx="10772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2026.09.16 汇报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3885" y="397430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软件工程课程设计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2742" y="4292918"/>
            <a:ext cx="26711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需求 · 可行性 · 建模 · 演示闭环</a:t>
            </a:r>
          </a:p>
        </p:txBody>
      </p:sp>
      <p:sp>
        <p:nvSpPr>
          <p:cNvPr id="40" name="Line 40"/>
          <p:cNvSpPr/>
          <p:nvPr/>
        </p:nvSpPr>
        <p:spPr>
          <a:xfrm>
            <a:off x="6858000" y="27622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6648450" y="2552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811851" y="2706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90360" y="3108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78220" y="336994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P3</a:t>
            </a:r>
          </a:p>
        </p:txBody>
      </p:sp>
      <p:sp>
        <p:nvSpPr>
          <p:cNvPr id="45" name="Ellipse 45"/>
          <p:cNvSpPr/>
          <p:nvPr/>
        </p:nvSpPr>
        <p:spPr>
          <a:xfrm>
            <a:off x="7410450" y="2552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573851" y="2706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52360" y="3108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库存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40220" y="336994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P2</a:t>
            </a:r>
          </a:p>
        </p:txBody>
      </p:sp>
      <p:sp>
        <p:nvSpPr>
          <p:cNvPr id="49" name="Ellipse 49"/>
          <p:cNvSpPr/>
          <p:nvPr/>
        </p:nvSpPr>
        <p:spPr>
          <a:xfrm>
            <a:off x="8172450" y="2552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335851" y="2706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14360" y="3108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领用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02220" y="336994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P4</a:t>
            </a:r>
          </a:p>
        </p:txBody>
      </p:sp>
      <p:sp>
        <p:nvSpPr>
          <p:cNvPr id="53" name="Ellipse 53"/>
          <p:cNvSpPr/>
          <p:nvPr/>
        </p:nvSpPr>
        <p:spPr>
          <a:xfrm>
            <a:off x="8934450" y="2552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097851" y="2706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76360" y="3108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064220" y="336994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P5</a:t>
            </a:r>
          </a:p>
        </p:txBody>
      </p:sp>
      <p:sp>
        <p:nvSpPr>
          <p:cNvPr id="57" name="Ellipse 57"/>
          <p:cNvSpPr/>
          <p:nvPr/>
        </p:nvSpPr>
        <p:spPr>
          <a:xfrm>
            <a:off x="9696450" y="2552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859851" y="2706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738360" y="3108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处置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826220" y="336994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P7</a:t>
            </a:r>
          </a:p>
        </p:txBody>
      </p:sp>
      <p:sp>
        <p:nvSpPr>
          <p:cNvPr id="61" name="Ellipse 61"/>
          <p:cNvSpPr/>
          <p:nvPr/>
        </p:nvSpPr>
        <p:spPr>
          <a:xfrm>
            <a:off x="10458450" y="25527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621851" y="2706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500360" y="3108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588220" y="336994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P8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852666" y="2077402"/>
            <a:ext cx="14849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责任链 / LIFECYCLE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990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02 / PROBLEM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51751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先解决责任链断裂，再谈功能堆叠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问题定义：危化品风险来自跨角色、跨状态的信息断裂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1809750"/>
            <a:ext cx="4762500" cy="3714750"/>
          </a:xfrm>
          <a:prstGeom prst="roundRect">
            <a:avLst>
              <a:gd name="adj" fmla="val 307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69442" y="20069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现状：信息分散</a:t>
            </a:r>
          </a:p>
        </p:txBody>
      </p:sp>
      <p:sp>
        <p:nvSpPr>
          <p:cNvPr id="34" name="Ellipse 34"/>
          <p:cNvSpPr/>
          <p:nvPr/>
        </p:nvSpPr>
        <p:spPr>
          <a:xfrm>
            <a:off x="885825" y="2447925"/>
            <a:ext cx="285750" cy="2857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97161" y="2508885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6642" y="24069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库存台账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7785" y="2697956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采购、库存、领用各自维护</a:t>
            </a:r>
          </a:p>
        </p:txBody>
      </p:sp>
      <p:sp>
        <p:nvSpPr>
          <p:cNvPr id="38" name="Ellipse 38"/>
          <p:cNvSpPr/>
          <p:nvPr/>
        </p:nvSpPr>
        <p:spPr>
          <a:xfrm>
            <a:off x="885825" y="3324225"/>
            <a:ext cx="285750" cy="2857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97161" y="3385185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26642" y="3283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责任交接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7785" y="357425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教师、管理员、学生靠口头确认</a:t>
            </a:r>
          </a:p>
        </p:txBody>
      </p:sp>
      <p:sp>
        <p:nvSpPr>
          <p:cNvPr id="42" name="Ellipse 42"/>
          <p:cNvSpPr/>
          <p:nvPr/>
        </p:nvSpPr>
        <p:spPr>
          <a:xfrm>
            <a:off x="885825" y="4200525"/>
            <a:ext cx="285750" cy="2857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97161" y="4261485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6642" y="41595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风险处置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7785" y="445055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过期、异常、危废缺少统一闭环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829300" y="1809750"/>
            <a:ext cx="5753100" cy="3714750"/>
          </a:xfrm>
          <a:prstGeom prst="roundRect">
            <a:avLst>
              <a:gd name="adj" fmla="val 307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089142" y="200691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目标：让每次动作都可追溯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147816" y="253460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79692" y="25022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一套台账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80835" y="2764631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批次、有效期、位置、二维码统一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47816" y="341090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79692" y="33785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分级审批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80835" y="3640931"/>
            <a:ext cx="22956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高风险试剂教师审批 + 管理员复核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147816" y="428720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79692" y="42548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闭环留痕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80835" y="4517231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发放、归还、预警、处置写入审计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" y="5772150"/>
            <a:ext cx="10972800" cy="323850"/>
          </a:xfrm>
          <a:prstGeom prst="roundRect">
            <a:avLst>
              <a:gd name="adj" fmla="val 23529"/>
            </a:avLst>
          </a:prstGeom>
          <a:solidFill>
            <a:schemeClr val="lt1"/>
          </a:solidFill>
          <a:ln w="9525">
            <a:solidFill>
              <a:schemeClr val="accent2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2892737" y="5869781"/>
            <a:ext cx="64065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问题定义 → 责任链断裂导致安全动作无法被验证；系统目标 → 用状态、权限和审计把链路补齐。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3168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03 / FEASIBILITY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668050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四维可行性：MVP 先落地，再扩展治理能力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44026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经济、技术、操作、社会 / 法律四个维度都能找到落点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1809750"/>
            <a:ext cx="5029200" cy="1619250"/>
          </a:xfrm>
          <a:prstGeom prst="roundRect">
            <a:avLst>
              <a:gd name="adj" fmla="val 705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09600" y="1809750"/>
            <a:ext cx="76200" cy="1619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70585" y="205025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经济可行性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7156" y="2339340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低成本起步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585" y="2717006"/>
            <a:ext cx="423311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复用校园服务器与开源技术栈；成本集中在部署、备份、培训。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981700" y="1809750"/>
            <a:ext cx="5029200" cy="1619250"/>
          </a:xfrm>
          <a:prstGeom prst="roundRect">
            <a:avLst>
              <a:gd name="adj" fmla="val 705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981700" y="1809750"/>
            <a:ext cx="76200" cy="16192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242685" y="205025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技术可行性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39256" y="23393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成熟组合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42685" y="2717006"/>
            <a:ext cx="41667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Spring Boot + Vue + MySQL 支持事务、RBAC、预警和审计。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09600" y="3695700"/>
            <a:ext cx="5029200" cy="1619250"/>
          </a:xfrm>
          <a:prstGeom prst="roundRect">
            <a:avLst>
              <a:gd name="adj" fmla="val 705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09600" y="3695700"/>
            <a:ext cx="76200" cy="16192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70585" y="39362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操作可行性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7156" y="42252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角色清晰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0585" y="4602956"/>
            <a:ext cx="46854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学生、教师、管理员、安全负责人边界明确；演示模式降低培训门槛。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981700" y="3695700"/>
            <a:ext cx="5029200" cy="1619250"/>
          </a:xfrm>
          <a:prstGeom prst="roundRect">
            <a:avLst>
              <a:gd name="adj" fmla="val 705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981700" y="3695700"/>
            <a:ext cx="76200" cy="16192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242685" y="3936206"/>
            <a:ext cx="7965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社会 / 法律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39256" y="42252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治理对齐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42685" y="4602956"/>
            <a:ext cx="3931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危化品台账、危废转运、最小权限、留痕和个人信息保护。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09600" y="5657850"/>
            <a:ext cx="10972800" cy="40005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2643251" y="5777389"/>
            <a:ext cx="69054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结论：现在可做、能被使用、符合治理方向；后续能力按身份、通知、移动采集逐步补齐。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3985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04 / REQUIREMENTS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654824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功能需求：八个模块覆盖一条完整生命周期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围绕批次状态与责任主体组织，而不是并列菜单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32" name="Line 32"/>
          <p:cNvSpPr/>
          <p:nvPr/>
        </p:nvSpPr>
        <p:spPr>
          <a:xfrm>
            <a:off x="952500" y="2857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38100">
            <a:solidFill>
              <a:schemeClr val="accent6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81915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7198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486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采购入库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7970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P3</a:t>
            </a:r>
          </a:p>
        </p:txBody>
      </p:sp>
      <p:sp>
        <p:nvSpPr>
          <p:cNvPr id="37" name="Line 37"/>
          <p:cNvSpPr/>
          <p:nvPr/>
        </p:nvSpPr>
        <p:spPr>
          <a:xfrm>
            <a:off x="1304925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38" name="Ellipse 38"/>
          <p:cNvSpPr/>
          <p:nvPr/>
        </p:nvSpPr>
        <p:spPr>
          <a:xfrm>
            <a:off x="2200275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353114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21611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档案库存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349095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P2</a:t>
            </a:r>
          </a:p>
        </p:txBody>
      </p:sp>
      <p:sp>
        <p:nvSpPr>
          <p:cNvPr id="42" name="Line 42"/>
          <p:cNvSpPr/>
          <p:nvPr/>
        </p:nvSpPr>
        <p:spPr>
          <a:xfrm>
            <a:off x="2686050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3" name="Ellipse 43"/>
          <p:cNvSpPr/>
          <p:nvPr/>
        </p:nvSpPr>
        <p:spPr>
          <a:xfrm>
            <a:off x="358140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73423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502736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领用审批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730220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P4</a:t>
            </a:r>
          </a:p>
        </p:txBody>
      </p:sp>
      <p:sp>
        <p:nvSpPr>
          <p:cNvPr id="47" name="Line 47"/>
          <p:cNvSpPr/>
          <p:nvPr/>
        </p:nvSpPr>
        <p:spPr>
          <a:xfrm>
            <a:off x="4067175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8" name="Ellipse 48"/>
          <p:cNvSpPr/>
          <p:nvPr/>
        </p:nvSpPr>
        <p:spPr>
          <a:xfrm>
            <a:off x="4962525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15364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83861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出库使用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11345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P5</a:t>
            </a:r>
          </a:p>
        </p:txBody>
      </p:sp>
      <p:sp>
        <p:nvSpPr>
          <p:cNvPr id="52" name="Line 52"/>
          <p:cNvSpPr/>
          <p:nvPr/>
        </p:nvSpPr>
        <p:spPr>
          <a:xfrm>
            <a:off x="5448300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53" name="Ellipse 53"/>
          <p:cNvSpPr/>
          <p:nvPr/>
        </p:nvSpPr>
        <p:spPr>
          <a:xfrm>
            <a:off x="634365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49648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264986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归还登记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92470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P5</a:t>
            </a:r>
          </a:p>
        </p:txBody>
      </p:sp>
      <p:sp>
        <p:nvSpPr>
          <p:cNvPr id="57" name="Line 57"/>
          <p:cNvSpPr/>
          <p:nvPr/>
        </p:nvSpPr>
        <p:spPr>
          <a:xfrm>
            <a:off x="6829425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58" name="Ellipse 58"/>
          <p:cNvSpPr/>
          <p:nvPr/>
        </p:nvSpPr>
        <p:spPr>
          <a:xfrm>
            <a:off x="7724775" y="26289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877614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646111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873595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P6</a:t>
            </a:r>
          </a:p>
        </p:txBody>
      </p:sp>
      <p:sp>
        <p:nvSpPr>
          <p:cNvPr id="62" name="Line 62"/>
          <p:cNvSpPr/>
          <p:nvPr/>
        </p:nvSpPr>
        <p:spPr>
          <a:xfrm>
            <a:off x="8210550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3" name="Ellipse 63"/>
          <p:cNvSpPr/>
          <p:nvPr/>
        </p:nvSpPr>
        <p:spPr>
          <a:xfrm>
            <a:off x="910590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25873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27236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废弃处置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254720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P7</a:t>
            </a:r>
          </a:p>
        </p:txBody>
      </p:sp>
      <p:sp>
        <p:nvSpPr>
          <p:cNvPr id="67" name="Line 67"/>
          <p:cNvSpPr/>
          <p:nvPr/>
        </p:nvSpPr>
        <p:spPr>
          <a:xfrm>
            <a:off x="9591675" y="2857500"/>
            <a:ext cx="847725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8" name="Ellipse 68"/>
          <p:cNvSpPr/>
          <p:nvPr/>
        </p:nvSpPr>
        <p:spPr>
          <a:xfrm>
            <a:off x="10487025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0639864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408361" y="32123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审计报表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635845" y="3465195"/>
            <a:ext cx="159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chemeClr val="accent5"/>
                </a:solidFill>
                <a:latin typeface="Cascadia Mono"/>
                <a:ea typeface="Cascadia Mono"/>
                <a:cs typeface="Cascadia Mono"/>
              </a:rPr>
              <a:t>P8</a:t>
            </a:r>
          </a:p>
        </p:txBody>
      </p:sp>
      <p:sp>
        <p:nvSpPr>
          <p:cNvPr id="72" name="Rectangle 72"/>
          <p:cNvSpPr/>
          <p:nvPr/>
        </p:nvSpPr>
        <p:spPr>
          <a:xfrm>
            <a:off x="609600" y="4171950"/>
            <a:ext cx="10972800" cy="125730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70204" y="4385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关键业务规则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68680" y="47339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rPr>
              <a:t>高风险试剂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145030" y="4733925"/>
            <a:ext cx="2480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必须教师审批 + 管理员复核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68680" y="50768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所有关键动作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374392" y="5093018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必须写入审计日志，普通用户不能改库存或历史记录。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3985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05 / REQUIREMENTS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625817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非功能需求：安全性优先于“看起来能用”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把性能、可靠性、错误处理和逆向约束写成验收边界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1809750"/>
            <a:ext cx="10972800" cy="457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09600" y="1809750"/>
            <a:ext cx="1619250" cy="457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823" y="1967389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70023" y="1967389"/>
            <a:ext cx="27316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常用查询 ≤2 秒；审批 / 出库 ≤3 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" y="2400300"/>
            <a:ext cx="10972800" cy="457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09600" y="2400300"/>
            <a:ext cx="161925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69823" y="25579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470023" y="2557939"/>
            <a:ext cx="36315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事务一致、外键约束、每日备份、审计不可删除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9600" y="2990850"/>
            <a:ext cx="10972800" cy="457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09600" y="2990850"/>
            <a:ext cx="1619250" cy="4572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69823" y="3148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出错处理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70023" y="3148489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参数校验、库存不足拦截、重复审批冲突、非法迁移提示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09600" y="3581400"/>
            <a:ext cx="10972800" cy="457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09600" y="3581400"/>
            <a:ext cx="161925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69823" y="3739039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470023" y="3739039"/>
            <a:ext cx="37814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Vue 浏览器、REST API、MySQL；预留统一认证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09600" y="4171950"/>
            <a:ext cx="10972800" cy="457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" y="4171950"/>
            <a:ext cx="1619250" cy="4572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69823" y="4329589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470023" y="4329589"/>
            <a:ext cx="35413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Java 17 / MySQL 8；高风险审批链不可绕过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09600" y="5029200"/>
            <a:ext cx="10972800" cy="685800"/>
          </a:xfrm>
          <a:prstGeom prst="roundRect">
            <a:avLst>
              <a:gd name="adj" fmla="val 13889"/>
            </a:avLst>
          </a:prstGeom>
          <a:solidFill>
            <a:schemeClr val="lt1"/>
          </a:solidFill>
          <a:ln w="9525">
            <a:solidFill>
              <a:schemeClr val="accent3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32485" y="51744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rPr>
              <a:t>逆向需求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1342" y="5407342"/>
            <a:ext cx="57411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库存不得小于 0 · 过期批次不得正常领用 · 普通用户不得改库存 / 审计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3985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06 / ARCHITECTURE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654824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体系结构：角色、服务与数据存储各司其职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52840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前端负责协作体验，后端负责规则与事务，数据库负责约束与留痕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1809750"/>
            <a:ext cx="2381250" cy="3429000"/>
          </a:xfrm>
          <a:prstGeom prst="roundRect">
            <a:avLst>
              <a:gd name="adj" fmla="val 48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69823" y="20150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角色入口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76300" y="2457450"/>
            <a:ext cx="1181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6463" y="2542699"/>
            <a:ext cx="960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学生 / 实验人员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66" y="28394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提交申请 · 使用归还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76300" y="3048000"/>
            <a:ext cx="1181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98042" y="31332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966" y="34299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审批方案 · 防护措施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76300" y="3638550"/>
            <a:ext cx="1181100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66114" y="3723799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实验室管理员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0966" y="40205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档案 · 入库 · 出库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76300" y="4229100"/>
            <a:ext cx="1181100" cy="266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132078" y="4314349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安全负责人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0966" y="461105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异常 · 危废 · 复盘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810000" y="1809750"/>
            <a:ext cx="4095750" cy="3429000"/>
          </a:xfrm>
          <a:prstGeom prst="roundRect">
            <a:avLst>
              <a:gd name="adj" fmla="val 3333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089273" y="20150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095750" y="2438400"/>
            <a:ext cx="3524250" cy="647700"/>
          </a:xfrm>
          <a:prstGeom prst="roundRect">
            <a:avLst>
              <a:gd name="adj" fmla="val 14706"/>
            </a:avLst>
          </a:prstGeom>
          <a:solidFill>
            <a:schemeClr val="lt1"/>
          </a:solidFill>
          <a:ln w="9525">
            <a:solidFill>
              <a:schemeClr val="accent2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185890" y="2565082"/>
            <a:ext cx="13439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Vue 3 + Vite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287137" y="28394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浏览器端协作界面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095750" y="3371850"/>
            <a:ext cx="3524250" cy="647700"/>
          </a:xfrm>
          <a:prstGeom prst="roundRect">
            <a:avLst>
              <a:gd name="adj" fmla="val 14706"/>
            </a:avLst>
          </a:prstGeom>
          <a:solidFill>
            <a:schemeClr val="lt1"/>
          </a:solidFill>
          <a:ln w="9525">
            <a:solidFill>
              <a:schemeClr val="accent2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535841" y="3514725"/>
            <a:ext cx="2644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Spring Boot 3.4 + Java 17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970097" y="3772852"/>
            <a:ext cx="1775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REST API · 事务 · 角色规则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095750" y="4305300"/>
            <a:ext cx="3524250" cy="647700"/>
          </a:xfrm>
          <a:prstGeom prst="roundRect">
            <a:avLst>
              <a:gd name="adj" fmla="val 14706"/>
            </a:avLst>
          </a:prstGeom>
          <a:solidFill>
            <a:schemeClr val="lt1"/>
          </a:solidFill>
          <a:ln w="9525">
            <a:solidFill>
              <a:schemeClr val="accent1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031853" y="4448175"/>
            <a:ext cx="16520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JDBC → MySQL 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65934" y="47063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约束 · 记录 · 报表</a:t>
            </a:r>
          </a:p>
        </p:txBody>
      </p:sp>
      <p:sp>
        <p:nvSpPr>
          <p:cNvPr id="57" name="Line 57"/>
          <p:cNvSpPr/>
          <p:nvPr/>
        </p:nvSpPr>
        <p:spPr>
          <a:xfrm>
            <a:off x="2990850" y="3524250"/>
            <a:ext cx="1104900" cy="1"/>
          </a:xfrm>
          <a:prstGeom prst="line">
            <a:avLst/>
          </a:prstGeom>
          <a:noFill/>
          <a:ln w="28575">
            <a:solidFill>
              <a:schemeClr val="accent2"/>
            </a:solidFill>
            <a:tailEnd type="triangle" w="lg" len="lg"/>
          </a:ln>
        </p:spPr>
      </p:sp>
      <p:sp>
        <p:nvSpPr>
          <p:cNvPr id="58" name="Line 58"/>
          <p:cNvSpPr/>
          <p:nvPr/>
        </p:nvSpPr>
        <p:spPr>
          <a:xfrm>
            <a:off x="7905750" y="3524250"/>
            <a:ext cx="1104900" cy="1"/>
          </a:xfrm>
          <a:prstGeom prst="line">
            <a:avLst/>
          </a:prstGeom>
          <a:noFill/>
          <a:ln w="28575">
            <a:solidFill>
              <a:schemeClr val="accent2"/>
            </a:solidFill>
            <a:tailEnd type="triangle" w="lg" len="lg"/>
          </a:ln>
        </p:spPr>
      </p:sp>
      <p:sp>
        <p:nvSpPr>
          <p:cNvPr id="59" name="Rectangle 59"/>
          <p:cNvSpPr/>
          <p:nvPr/>
        </p:nvSpPr>
        <p:spPr>
          <a:xfrm>
            <a:off x="9010650" y="1809750"/>
            <a:ext cx="2571750" cy="3429000"/>
          </a:xfrm>
          <a:prstGeom prst="roundRect">
            <a:avLst>
              <a:gd name="adj" fmla="val 4444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270873" y="20150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横向治理</a:t>
            </a:r>
          </a:p>
        </p:txBody>
      </p:sp>
      <p:sp>
        <p:nvSpPr>
          <p:cNvPr id="61" name="Ellipse 61"/>
          <p:cNvSpPr/>
          <p:nvPr/>
        </p:nvSpPr>
        <p:spPr>
          <a:xfrm>
            <a:off x="9315450" y="244792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670923" y="249126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672066" y="27251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最小权限与角色边界</a:t>
            </a:r>
          </a:p>
        </p:txBody>
      </p:sp>
      <p:sp>
        <p:nvSpPr>
          <p:cNvPr id="64" name="Ellipse 64"/>
          <p:cNvSpPr/>
          <p:nvPr/>
        </p:nvSpPr>
        <p:spPr>
          <a:xfrm>
            <a:off x="9315450" y="3038475"/>
            <a:ext cx="228600" cy="22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670923" y="30818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672066" y="3315652"/>
            <a:ext cx="13252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库存 / 有效期 / 异常</a:t>
            </a:r>
          </a:p>
        </p:txBody>
      </p:sp>
      <p:sp>
        <p:nvSpPr>
          <p:cNvPr id="67" name="Ellipse 67"/>
          <p:cNvSpPr/>
          <p:nvPr/>
        </p:nvSpPr>
        <p:spPr>
          <a:xfrm>
            <a:off x="9315450" y="362902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670923" y="367236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672066" y="39062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关键动作不可删除</a:t>
            </a:r>
          </a:p>
        </p:txBody>
      </p:sp>
      <p:sp>
        <p:nvSpPr>
          <p:cNvPr id="70" name="Ellipse 70"/>
          <p:cNvSpPr/>
          <p:nvPr/>
        </p:nvSpPr>
        <p:spPr>
          <a:xfrm>
            <a:off x="9315450" y="421957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9670923" y="4262914"/>
            <a:ext cx="3575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报表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672066" y="449675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汇总指标与闭环率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07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07 / MODELING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667556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数据流图 DFD：从外部角色到 8 个业务处理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每个关键动作都有来源、处理责任和落库去向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3885" y="16311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上下文图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57250" y="2133600"/>
            <a:ext cx="1524000" cy="609600"/>
          </a:xfrm>
          <a:prstGeom prst="roundRect">
            <a:avLst>
              <a:gd name="adj" fmla="val 15625"/>
            </a:avLst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64111" y="2367439"/>
            <a:ext cx="91027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学生 / 教师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048250" y="2133600"/>
            <a:ext cx="2095500" cy="609600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301410" y="2343150"/>
            <a:ext cx="15891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ChemTrack 系统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715500" y="2133600"/>
            <a:ext cx="1524000" cy="609600"/>
          </a:xfrm>
          <a:prstGeom prst="roundRect">
            <a:avLst>
              <a:gd name="adj" fmla="val 15625"/>
            </a:avLst>
          </a:prstGeom>
          <a:solidFill>
            <a:schemeClr val="lt2"/>
          </a:solidFill>
          <a:ln w="9525">
            <a:solidFill>
              <a:schemeClr val="accent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777657" y="2383631"/>
            <a:ext cx="13996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管理员 / 安全负责人</a:t>
            </a:r>
          </a:p>
        </p:txBody>
      </p:sp>
      <p:sp>
        <p:nvSpPr>
          <p:cNvPr id="39" name="Line 39"/>
          <p:cNvSpPr/>
          <p:nvPr/>
        </p:nvSpPr>
        <p:spPr>
          <a:xfrm>
            <a:off x="2381250" y="2438400"/>
            <a:ext cx="26670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3366291" y="2199799"/>
            <a:ext cx="6969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申请 / 查询</a:t>
            </a:r>
          </a:p>
        </p:txBody>
      </p:sp>
      <p:sp>
        <p:nvSpPr>
          <p:cNvPr id="41" name="Line 41"/>
          <p:cNvSpPr/>
          <p:nvPr/>
        </p:nvSpPr>
        <p:spPr>
          <a:xfrm>
            <a:off x="7143750" y="2438400"/>
            <a:ext cx="25717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869587" y="2199799"/>
            <a:ext cx="11200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审批 / 预警 / 报表</a:t>
            </a:r>
          </a:p>
        </p:txBody>
      </p:sp>
      <p:sp>
        <p:nvSpPr>
          <p:cNvPr id="43" name="Line 43"/>
          <p:cNvSpPr/>
          <p:nvPr/>
        </p:nvSpPr>
        <p:spPr>
          <a:xfrm>
            <a:off x="609600" y="3124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03885" y="3307556"/>
            <a:ext cx="5983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1 层分解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19150" y="373380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85647" y="385714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4504" y="4032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用户与角色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543300" y="373380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09797" y="385714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708654" y="40328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档案库存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267450" y="373380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433947" y="385714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32804" y="40328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采购入库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991600" y="373380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158097" y="385714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156954" y="40328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领用审批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19150" y="455295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85647" y="467629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P5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84504" y="4852035"/>
            <a:ext cx="8534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出库 / 归还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543300" y="455295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3709797" y="467629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708654" y="48520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267450" y="455295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433947" y="467629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P7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432804" y="48520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废弃处置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91600" y="4552950"/>
            <a:ext cx="2266950" cy="533400"/>
          </a:xfrm>
          <a:prstGeom prst="roundRect">
            <a:avLst>
              <a:gd name="adj" fmla="val 17857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9158097" y="4676299"/>
            <a:ext cx="1732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P8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156954" y="48520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审计报表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04266" y="5506402"/>
            <a:ext cx="66115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数据存储：D1 用户库 · D2 档案库 · D3 批次库存库 · D4 领用记录库 · D5 审批记录库 · D6 审计日志库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07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08 / MODELING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800149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ER 图：围绕 Chemical 与 Request 建立可追溯关系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业务闭环的关键不是表多，而是每个动作都能互相追溯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686300" y="2000250"/>
            <a:ext cx="2800350" cy="1123950"/>
          </a:xfrm>
          <a:prstGeom prst="roundRect">
            <a:avLst>
              <a:gd name="adj" fmla="val 8475"/>
            </a:avLst>
          </a:prstGeom>
          <a:solidFill>
            <a:srgbClr val="1B4742"/>
          </a:solidFill>
          <a:ln w="9525">
            <a:solidFill>
              <a:schemeClr val="accent6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832223" y="2100739"/>
            <a:ext cx="8264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Chemical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33747" y="2380774"/>
            <a:ext cx="13225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id · name · batch_no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33747" y="2552224"/>
            <a:ext cx="15138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hazard_level · quantity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33747" y="2723674"/>
            <a:ext cx="13621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expiry_date · status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686300" y="3714750"/>
            <a:ext cx="2800350" cy="1123950"/>
          </a:xfrm>
          <a:prstGeom prst="roundRect">
            <a:avLst>
              <a:gd name="adj" fmla="val 8475"/>
            </a:avLst>
          </a:prstGeom>
          <a:solidFill>
            <a:srgbClr val="1B4742"/>
          </a:solidFill>
          <a:ln w="9525">
            <a:solidFill>
              <a:schemeClr val="accent6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832223" y="3815239"/>
            <a:ext cx="7255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Request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33747" y="4095274"/>
            <a:ext cx="9993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id · chemical_id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33747" y="4266724"/>
            <a:ext cx="12104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applicant · amount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33747" y="4438174"/>
            <a:ext cx="13951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status · approved_at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38200" y="2038350"/>
            <a:ext cx="2571750" cy="9525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84123" y="2138839"/>
            <a:ext cx="42257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User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85647" y="2418874"/>
            <a:ext cx="11049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id · display_name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5647" y="2590324"/>
            <a:ext cx="11708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role · department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38200" y="3924300"/>
            <a:ext cx="2571750" cy="9525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4123" y="4024789"/>
            <a:ext cx="14380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ApprovalRecord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5647" y="4304824"/>
            <a:ext cx="12170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request_id · stage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5647" y="4476274"/>
            <a:ext cx="12566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decision · approver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858250" y="2038350"/>
            <a:ext cx="2571750" cy="9525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004173" y="2138839"/>
            <a:ext cx="11351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UsageRecord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005697" y="2418874"/>
            <a:ext cx="17909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request_id · issued_amount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05697" y="2590324"/>
            <a:ext cx="20415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actual_used · returned_amount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858250" y="3924300"/>
            <a:ext cx="2571750" cy="9525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004173" y="4024789"/>
            <a:ext cx="832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AuditLog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005697" y="4304824"/>
            <a:ext cx="153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operator_name · action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05697" y="4476274"/>
            <a:ext cx="16853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target_type · created_at</a:t>
            </a:r>
          </a:p>
        </p:txBody>
      </p:sp>
      <p:sp>
        <p:nvSpPr>
          <p:cNvPr id="58" name="Line 58"/>
          <p:cNvSpPr/>
          <p:nvPr/>
        </p:nvSpPr>
        <p:spPr>
          <a:xfrm>
            <a:off x="3409950" y="2514600"/>
            <a:ext cx="1276350" cy="9525"/>
          </a:xfrm>
          <a:custGeom>
            <a:avLst/>
            <a:gdLst/>
            <a:ahLst/>
            <a:cxnLst/>
            <a:rect l="l" t="t" r="r" b="b"/>
            <a:pathLst>
              <a:path w="1276350" h="952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920644" y="2295049"/>
            <a:ext cx="254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1:N</a:t>
            </a:r>
          </a:p>
        </p:txBody>
      </p:sp>
      <p:sp>
        <p:nvSpPr>
          <p:cNvPr id="60" name="Line 60"/>
          <p:cNvSpPr/>
          <p:nvPr/>
        </p:nvSpPr>
        <p:spPr>
          <a:xfrm>
            <a:off x="3409950" y="4400550"/>
            <a:ext cx="1276350" cy="9525"/>
          </a:xfrm>
          <a:custGeom>
            <a:avLst/>
            <a:gdLst/>
            <a:ahLst/>
            <a:cxnLst/>
            <a:rect l="l" t="t" r="r" b="b"/>
            <a:pathLst>
              <a:path w="1276350" h="952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3920644" y="4180999"/>
            <a:ext cx="254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1:N</a:t>
            </a:r>
          </a:p>
        </p:txBody>
      </p:sp>
      <p:sp>
        <p:nvSpPr>
          <p:cNvPr id="62" name="Line 62"/>
          <p:cNvSpPr/>
          <p:nvPr/>
        </p:nvSpPr>
        <p:spPr>
          <a:xfrm>
            <a:off x="7486650" y="2514600"/>
            <a:ext cx="1371600" cy="9525"/>
          </a:xfrm>
          <a:custGeom>
            <a:avLst/>
            <a:gdLst/>
            <a:ahLst/>
            <a:cxnLst/>
            <a:rect l="l" t="t" r="r" b="b"/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051533" y="2295049"/>
            <a:ext cx="2418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1:1</a:t>
            </a:r>
          </a:p>
        </p:txBody>
      </p:sp>
      <p:sp>
        <p:nvSpPr>
          <p:cNvPr id="64" name="Line 64"/>
          <p:cNvSpPr/>
          <p:nvPr/>
        </p:nvSpPr>
        <p:spPr>
          <a:xfrm>
            <a:off x="7486650" y="4400550"/>
            <a:ext cx="1371600" cy="9525"/>
          </a:xfrm>
          <a:custGeom>
            <a:avLst/>
            <a:gdLst/>
            <a:ahLst/>
            <a:cxnLst/>
            <a:rect l="l" t="t" r="r" b="b"/>
            <a:pathLst>
              <a:path w="1371600" h="952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044969" y="4180999"/>
            <a:ext cx="254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1:N</a:t>
            </a:r>
          </a:p>
        </p:txBody>
      </p:sp>
      <p:sp>
        <p:nvSpPr>
          <p:cNvPr id="66" name="Line 66"/>
          <p:cNvSpPr/>
          <p:nvPr/>
        </p:nvSpPr>
        <p:spPr>
          <a:xfrm>
            <a:off x="6096000" y="3124200"/>
            <a:ext cx="9525" cy="590550"/>
          </a:xfrm>
          <a:custGeom>
            <a:avLst/>
            <a:gdLst/>
            <a:ahLst/>
            <a:cxnLst/>
            <a:rect l="l" t="t" r="r" b="b"/>
            <a:pathLst>
              <a:path w="952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376797" y="3342799"/>
            <a:ext cx="254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3"/>
                </a:solidFill>
                <a:latin typeface="Cascadia Mono"/>
                <a:ea typeface="Cascadia Mono"/>
                <a:cs typeface="Cascadia Mono"/>
              </a:rPr>
              <a:t>1:N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03885" y="5441156"/>
            <a:ext cx="70984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约束：batch_no 唯一 · quantity ≥ 0 · 外键完整 · Request 1:1 UsageRecord · User 1:N AuditLog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07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09 / MODELING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689152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状态转换图：主链清晰，异常可回退、可冻结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36666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状态机把“谁能做什么”变成可验证的迁移规则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32" name="Line 32"/>
          <p:cNvSpPr/>
          <p:nvPr/>
        </p:nvSpPr>
        <p:spPr>
          <a:xfrm>
            <a:off x="819150" y="3009900"/>
            <a:ext cx="10496550" cy="9525"/>
          </a:xfrm>
          <a:custGeom>
            <a:avLst/>
            <a:gdLst/>
            <a:ahLst/>
            <a:cxnLst/>
            <a:rect l="l" t="t" r="r" b="b"/>
            <a:pathLst>
              <a:path w="10496550" h="9525">
                <a:moveTo>
                  <a:pt x="0" y="0"/>
                </a:moveTo>
                <a:lnTo>
                  <a:pt x="10496550" y="0"/>
                </a:lnTo>
              </a:path>
            </a:pathLst>
          </a:custGeom>
          <a:noFill/>
          <a:ln w="38100">
            <a:solidFill>
              <a:schemeClr val="accent6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068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45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待采购</a:t>
            </a:r>
          </a:p>
        </p:txBody>
      </p:sp>
      <p:sp>
        <p:nvSpPr>
          <p:cNvPr id="36" name="Line 36"/>
          <p:cNvSpPr/>
          <p:nvPr/>
        </p:nvSpPr>
        <p:spPr>
          <a:xfrm>
            <a:off x="109537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37" name="Ellipse 37"/>
          <p:cNvSpPr/>
          <p:nvPr/>
        </p:nvSpPr>
        <p:spPr>
          <a:xfrm>
            <a:off x="154305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66410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3070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采购中</a:t>
            </a:r>
          </a:p>
        </p:txBody>
      </p:sp>
      <p:sp>
        <p:nvSpPr>
          <p:cNvPr id="40" name="Line 40"/>
          <p:cNvSpPr/>
          <p:nvPr/>
        </p:nvSpPr>
        <p:spPr>
          <a:xfrm>
            <a:off x="195262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1" name="Ellipse 41"/>
          <p:cNvSpPr/>
          <p:nvPr/>
        </p:nvSpPr>
        <p:spPr>
          <a:xfrm>
            <a:off x="240030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5213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8795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待验收</a:t>
            </a:r>
          </a:p>
        </p:txBody>
      </p:sp>
      <p:sp>
        <p:nvSpPr>
          <p:cNvPr id="44" name="Line 44"/>
          <p:cNvSpPr/>
          <p:nvPr/>
        </p:nvSpPr>
        <p:spPr>
          <a:xfrm>
            <a:off x="280987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5" name="Ellipse 45"/>
          <p:cNvSpPr/>
          <p:nvPr/>
        </p:nvSpPr>
        <p:spPr>
          <a:xfrm>
            <a:off x="325755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37860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24520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已入库</a:t>
            </a:r>
          </a:p>
        </p:txBody>
      </p:sp>
      <p:sp>
        <p:nvSpPr>
          <p:cNvPr id="48" name="Line 48"/>
          <p:cNvSpPr/>
          <p:nvPr/>
        </p:nvSpPr>
        <p:spPr>
          <a:xfrm>
            <a:off x="366712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9" name="Ellipse 49"/>
          <p:cNvSpPr/>
          <p:nvPr/>
        </p:nvSpPr>
        <p:spPr>
          <a:xfrm>
            <a:off x="411480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2358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0245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可领用</a:t>
            </a:r>
          </a:p>
        </p:txBody>
      </p:sp>
      <p:sp>
        <p:nvSpPr>
          <p:cNvPr id="52" name="Line 52"/>
          <p:cNvSpPr/>
          <p:nvPr/>
        </p:nvSpPr>
        <p:spPr>
          <a:xfrm>
            <a:off x="452437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53" name="Ellipse 53"/>
          <p:cNvSpPr/>
          <p:nvPr/>
        </p:nvSpPr>
        <p:spPr>
          <a:xfrm>
            <a:off x="497205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9310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7778" y="3304699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申请待审批</a:t>
            </a:r>
          </a:p>
        </p:txBody>
      </p:sp>
      <p:sp>
        <p:nvSpPr>
          <p:cNvPr id="56" name="Line 56"/>
          <p:cNvSpPr/>
          <p:nvPr/>
        </p:nvSpPr>
        <p:spPr>
          <a:xfrm>
            <a:off x="538162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57" name="Ellipse 57"/>
          <p:cNvSpPr/>
          <p:nvPr/>
        </p:nvSpPr>
        <p:spPr>
          <a:xfrm>
            <a:off x="58293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59503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85028" y="3304699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教师已审批</a:t>
            </a:r>
          </a:p>
        </p:txBody>
      </p:sp>
      <p:sp>
        <p:nvSpPr>
          <p:cNvPr id="60" name="Line 60"/>
          <p:cNvSpPr/>
          <p:nvPr/>
        </p:nvSpPr>
        <p:spPr>
          <a:xfrm>
            <a:off x="623887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1" name="Ellipse 61"/>
          <p:cNvSpPr/>
          <p:nvPr/>
        </p:nvSpPr>
        <p:spPr>
          <a:xfrm>
            <a:off x="668655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80760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476314" y="3304699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管理员已复核</a:t>
            </a:r>
          </a:p>
        </p:txBody>
      </p:sp>
      <p:sp>
        <p:nvSpPr>
          <p:cNvPr id="64" name="Line 64"/>
          <p:cNvSpPr/>
          <p:nvPr/>
        </p:nvSpPr>
        <p:spPr>
          <a:xfrm>
            <a:off x="709612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5" name="Ellipse 65"/>
          <p:cNvSpPr/>
          <p:nvPr/>
        </p:nvSpPr>
        <p:spPr>
          <a:xfrm>
            <a:off x="754380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6648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3145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已发放</a:t>
            </a:r>
          </a:p>
        </p:txBody>
      </p:sp>
      <p:sp>
        <p:nvSpPr>
          <p:cNvPr id="68" name="Line 68"/>
          <p:cNvSpPr/>
          <p:nvPr/>
        </p:nvSpPr>
        <p:spPr>
          <a:xfrm>
            <a:off x="795337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9" name="Ellipse 69"/>
          <p:cNvSpPr/>
          <p:nvPr/>
        </p:nvSpPr>
        <p:spPr>
          <a:xfrm>
            <a:off x="840105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52210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8870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使用中</a:t>
            </a:r>
          </a:p>
        </p:txBody>
      </p:sp>
      <p:sp>
        <p:nvSpPr>
          <p:cNvPr id="72" name="Line 72"/>
          <p:cNvSpPr/>
          <p:nvPr/>
        </p:nvSpPr>
        <p:spPr>
          <a:xfrm>
            <a:off x="881062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73" name="Ellipse 73"/>
          <p:cNvSpPr/>
          <p:nvPr/>
        </p:nvSpPr>
        <p:spPr>
          <a:xfrm>
            <a:off x="925830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3793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24595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已归还</a:t>
            </a:r>
          </a:p>
        </p:txBody>
      </p:sp>
      <p:sp>
        <p:nvSpPr>
          <p:cNvPr id="76" name="Line 76"/>
          <p:cNvSpPr/>
          <p:nvPr/>
        </p:nvSpPr>
        <p:spPr>
          <a:xfrm>
            <a:off x="966787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77" name="Ellipse 77"/>
          <p:cNvSpPr/>
          <p:nvPr/>
        </p:nvSpPr>
        <p:spPr>
          <a:xfrm>
            <a:off x="1011555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023660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10320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待处置</a:t>
            </a:r>
          </a:p>
        </p:txBody>
      </p:sp>
      <p:sp>
        <p:nvSpPr>
          <p:cNvPr id="80" name="Line 80"/>
          <p:cNvSpPr/>
          <p:nvPr/>
        </p:nvSpPr>
        <p:spPr>
          <a:xfrm>
            <a:off x="10525125" y="3009900"/>
            <a:ext cx="41910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81" name="Ellipse 81"/>
          <p:cNvSpPr/>
          <p:nvPr/>
        </p:nvSpPr>
        <p:spPr>
          <a:xfrm>
            <a:off x="10972800" y="2819400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1093850" y="2977991"/>
            <a:ext cx="138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960456" y="330469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已处置</a:t>
            </a:r>
          </a:p>
        </p:txBody>
      </p:sp>
      <p:sp>
        <p:nvSpPr>
          <p:cNvPr id="84" name="Rectangle 84"/>
          <p:cNvSpPr/>
          <p:nvPr/>
        </p:nvSpPr>
        <p:spPr>
          <a:xfrm>
            <a:off x="819150" y="4095750"/>
            <a:ext cx="10477500" cy="876300"/>
          </a:xfrm>
          <a:prstGeom prst="roundRect">
            <a:avLst>
              <a:gd name="adj" fmla="val 1304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041654" y="427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rPr>
              <a:t>异常分支</a:t>
            </a:r>
          </a:p>
        </p:txBody>
      </p:sp>
      <p:sp>
        <p:nvSpPr>
          <p:cNvPr id="86" name="Rectangle 86"/>
          <p:cNvSpPr/>
          <p:nvPr/>
        </p:nvSpPr>
        <p:spPr>
          <a:xfrm>
            <a:off x="2247900" y="4229100"/>
            <a:ext cx="87630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2483206" y="431434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已过期</a:t>
            </a:r>
          </a:p>
        </p:txBody>
      </p:sp>
      <p:sp>
        <p:nvSpPr>
          <p:cNvPr id="88" name="Rectangle 88"/>
          <p:cNvSpPr/>
          <p:nvPr/>
        </p:nvSpPr>
        <p:spPr>
          <a:xfrm>
            <a:off x="3295650" y="4229100"/>
            <a:ext cx="87630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3596919" y="4314349"/>
            <a:ext cx="2737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冻结</a:t>
            </a:r>
          </a:p>
        </p:txBody>
      </p:sp>
      <p:sp>
        <p:nvSpPr>
          <p:cNvPr id="90" name="Rectangle 90"/>
          <p:cNvSpPr/>
          <p:nvPr/>
        </p:nvSpPr>
        <p:spPr>
          <a:xfrm>
            <a:off x="4343400" y="4229100"/>
            <a:ext cx="102870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4588942" y="43143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库存不足</a:t>
            </a:r>
          </a:p>
        </p:txBody>
      </p:sp>
      <p:sp>
        <p:nvSpPr>
          <p:cNvPr id="92" name="Rectangle 92"/>
          <p:cNvSpPr/>
          <p:nvPr/>
        </p:nvSpPr>
        <p:spPr>
          <a:xfrm>
            <a:off x="5581650" y="422910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98172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5827192" y="43143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审批驳回</a:t>
            </a:r>
          </a:p>
        </p:txBody>
      </p:sp>
      <p:sp>
        <p:nvSpPr>
          <p:cNvPr id="94" name="Rectangle 94"/>
          <p:cNvSpPr/>
          <p:nvPr/>
        </p:nvSpPr>
        <p:spPr>
          <a:xfrm>
            <a:off x="6819900" y="4229100"/>
            <a:ext cx="1257300" cy="266700"/>
          </a:xfrm>
          <a:prstGeom prst="roundRect">
            <a:avLst>
              <a:gd name="adj" fmla="val 50000"/>
            </a:avLst>
          </a:prstGeom>
          <a:solidFill>
            <a:srgbClr val="E98172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7113778" y="4314349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归还不一致</a:t>
            </a:r>
          </a:p>
        </p:txBody>
      </p:sp>
      <p:sp>
        <p:nvSpPr>
          <p:cNvPr id="96" name="Rectangle 96"/>
          <p:cNvSpPr/>
          <p:nvPr/>
        </p:nvSpPr>
        <p:spPr>
          <a:xfrm>
            <a:off x="8286750" y="4229100"/>
            <a:ext cx="876300" cy="266700"/>
          </a:xfrm>
          <a:prstGeom prst="roundRect">
            <a:avLst>
              <a:gd name="adj" fmla="val 50000"/>
            </a:avLst>
          </a:prstGeom>
          <a:solidFill>
            <a:srgbClr val="E98172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8456092" y="43143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泄漏上报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13435" y="5345906"/>
            <a:ext cx="68957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触发事件：到货 · 验收通过 · 审批 · 发放 · 实验开始 · 归还登记 · 处置完成 · 有效期到期 · 发现泄漏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7450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10 / DEMO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551840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一次演示跑通全链路：从采购到处置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40613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MVP 的完成度用一条可操作、可审计的责任链证明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32" name="Line 32"/>
          <p:cNvSpPr/>
          <p:nvPr/>
        </p:nvSpPr>
        <p:spPr>
          <a:xfrm>
            <a:off x="971550" y="2857500"/>
            <a:ext cx="10248900" cy="9525"/>
          </a:xfrm>
          <a:custGeom>
            <a:avLst/>
            <a:gdLst/>
            <a:ahLst/>
            <a:cxnLst/>
            <a:rect l="l" t="t" r="r" b="b"/>
            <a:pathLst>
              <a:path w="10248900" h="9525">
                <a:moveTo>
                  <a:pt x="0" y="0"/>
                </a:moveTo>
                <a:lnTo>
                  <a:pt x="10248900" y="0"/>
                </a:lnTo>
              </a:path>
            </a:pathLst>
          </a:custGeom>
          <a:noFill/>
          <a:ln w="38100">
            <a:solidFill>
              <a:schemeClr val="accent6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76200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1483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200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7756" y="347614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37" name="Line 37"/>
          <p:cNvSpPr/>
          <p:nvPr/>
        </p:nvSpPr>
        <p:spPr>
          <a:xfrm>
            <a:off x="125730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38" name="Ellipse 38"/>
          <p:cNvSpPr/>
          <p:nvPr/>
        </p:nvSpPr>
        <p:spPr>
          <a:xfrm>
            <a:off x="219075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34358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3075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建档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216506" y="347614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42" name="Line 42"/>
          <p:cNvSpPr/>
          <p:nvPr/>
        </p:nvSpPr>
        <p:spPr>
          <a:xfrm>
            <a:off x="268605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3" name="Ellipse 43"/>
          <p:cNvSpPr/>
          <p:nvPr/>
        </p:nvSpPr>
        <p:spPr>
          <a:xfrm>
            <a:off x="361950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77233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5950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申请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711219" y="3476149"/>
            <a:ext cx="2737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47" name="Line 47"/>
          <p:cNvSpPr/>
          <p:nvPr/>
        </p:nvSpPr>
        <p:spPr>
          <a:xfrm>
            <a:off x="411480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48" name="Ellipse 48"/>
          <p:cNvSpPr/>
          <p:nvPr/>
        </p:nvSpPr>
        <p:spPr>
          <a:xfrm>
            <a:off x="504825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20108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08825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39969" y="3476149"/>
            <a:ext cx="2737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52" name="Line 52"/>
          <p:cNvSpPr/>
          <p:nvPr/>
        </p:nvSpPr>
        <p:spPr>
          <a:xfrm>
            <a:off x="554355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53" name="Ellipse 53"/>
          <p:cNvSpPr/>
          <p:nvPr/>
        </p:nvSpPr>
        <p:spPr>
          <a:xfrm>
            <a:off x="647700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2983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1700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02756" y="347614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57" name="Line 57"/>
          <p:cNvSpPr/>
          <p:nvPr/>
        </p:nvSpPr>
        <p:spPr>
          <a:xfrm>
            <a:off x="697230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58" name="Ellipse 58"/>
          <p:cNvSpPr/>
          <p:nvPr/>
        </p:nvSpPr>
        <p:spPr>
          <a:xfrm>
            <a:off x="7905750" y="26289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05858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4575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发放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931506" y="3476149"/>
            <a:ext cx="405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62" name="Line 62"/>
          <p:cNvSpPr/>
          <p:nvPr/>
        </p:nvSpPr>
        <p:spPr>
          <a:xfrm>
            <a:off x="840105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3" name="Ellipse 63"/>
          <p:cNvSpPr/>
          <p:nvPr/>
        </p:nvSpPr>
        <p:spPr>
          <a:xfrm>
            <a:off x="933450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48733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37450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归还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426219" y="3476149"/>
            <a:ext cx="2737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67" name="Line 67"/>
          <p:cNvSpPr/>
          <p:nvPr/>
        </p:nvSpPr>
        <p:spPr>
          <a:xfrm>
            <a:off x="9829800" y="2857500"/>
            <a:ext cx="895350" cy="1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68" name="Ellipse 68"/>
          <p:cNvSpPr/>
          <p:nvPr/>
        </p:nvSpPr>
        <p:spPr>
          <a:xfrm>
            <a:off x="10763250" y="26289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0916089" y="2817495"/>
            <a:ext cx="1515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2422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803255" y="3188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处置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657078" y="3476149"/>
            <a:ext cx="6695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安全负责人</a:t>
            </a:r>
          </a:p>
        </p:txBody>
      </p:sp>
      <p:sp>
        <p:nvSpPr>
          <p:cNvPr id="72" name="Rectangle 72"/>
          <p:cNvSpPr/>
          <p:nvPr/>
        </p:nvSpPr>
        <p:spPr>
          <a:xfrm>
            <a:off x="609600" y="4305300"/>
            <a:ext cx="10972800" cy="1047750"/>
          </a:xfrm>
          <a:prstGeom prst="roundRect">
            <a:avLst>
              <a:gd name="adj" fmla="val 1090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70204" y="44996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每一步产生一条记录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69442" y="4826318"/>
            <a:ext cx="76303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采购单 → 批次档案 → 领用申请 → 审批记录 → 库存事务 → 使用归还 → 预警 / 危废 → audit_logs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70966" y="5106352"/>
            <a:ext cx="7085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课堂操作顺序：采购入库 → 新建申请 → 教师审批 → 管理员复核 → 办理发放 → 查看使用记录 → 风险扫描 → 登记处置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990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11 / ROADMAP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734122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风险治理与下一阶段：把“可运行”变成“可运营”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52093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当前 MVP 已覆盖关键闭环，下一步优先补身份、通知和移动采集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32" name="Ellipse 32"/>
          <p:cNvSpPr/>
          <p:nvPr/>
        </p:nvSpPr>
        <p:spPr>
          <a:xfrm>
            <a:off x="1371600" y="2457450"/>
            <a:ext cx="1752600" cy="1752600"/>
          </a:xfrm>
          <a:prstGeom prst="ellipse">
            <a:avLst/>
          </a:prstGeom>
          <a:solidFill>
            <a:srgbClr val="1B4742"/>
          </a:solidFill>
          <a:ln w="28575">
            <a:solidFill>
              <a:schemeClr val="accent2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1695450" y="2781300"/>
            <a:ext cx="1104900" cy="1104900"/>
          </a:xfrm>
          <a:prstGeom prst="ellipse">
            <a:avLst/>
          </a:prstGeom>
          <a:solidFill>
            <a:schemeClr val="lt1"/>
          </a:solidFill>
          <a:ln w="19050">
            <a:solidFill>
              <a:schemeClr val="accent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2059305" y="31118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扫描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82323" y="3393281"/>
            <a:ext cx="9311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→ 处理 → 留痕</a:t>
            </a:r>
          </a:p>
        </p:txBody>
      </p:sp>
      <p:sp>
        <p:nvSpPr>
          <p:cNvPr id="36" name="Line 36"/>
          <p:cNvSpPr/>
          <p:nvPr/>
        </p:nvSpPr>
        <p:spPr>
          <a:xfrm>
            <a:off x="1428750" y="2476500"/>
            <a:ext cx="819150" cy="857250"/>
          </a:xfrm>
          <a:custGeom>
            <a:avLst/>
            <a:gdLst/>
            <a:ahLst/>
            <a:cxnLst/>
            <a:rect l="l" t="t" r="r" b="b"/>
            <a:pathLst>
              <a:path w="819150" h="857250">
                <a:moveTo>
                  <a:pt x="819150" y="8572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352550" y="24003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84698" y="2648902"/>
            <a:ext cx="8881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库存 / 有效期</a:t>
            </a:r>
          </a:p>
        </p:txBody>
      </p:sp>
      <p:sp>
        <p:nvSpPr>
          <p:cNvPr id="39" name="Line 39"/>
          <p:cNvSpPr/>
          <p:nvPr/>
        </p:nvSpPr>
        <p:spPr>
          <a:xfrm>
            <a:off x="2247900" y="3333750"/>
            <a:ext cx="552450" cy="704850"/>
          </a:xfrm>
          <a:custGeom>
            <a:avLst/>
            <a:gdLst/>
            <a:ahLst/>
            <a:cxnLst/>
            <a:rect l="l" t="t" r="r" b="b"/>
            <a:pathLst>
              <a:path w="552450" h="704850">
                <a:moveTo>
                  <a:pt x="0" y="0"/>
                </a:moveTo>
                <a:lnTo>
                  <a:pt x="552450" y="70485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40" name="Ellipse 40"/>
          <p:cNvSpPr/>
          <p:nvPr/>
        </p:nvSpPr>
        <p:spPr>
          <a:xfrm>
            <a:off x="2724150" y="39624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512314" y="42110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异常上报</a:t>
            </a:r>
          </a:p>
        </p:txBody>
      </p:sp>
      <p:sp>
        <p:nvSpPr>
          <p:cNvPr id="42" name="Line 42"/>
          <p:cNvSpPr/>
          <p:nvPr/>
        </p:nvSpPr>
        <p:spPr>
          <a:xfrm>
            <a:off x="2247900" y="3333750"/>
            <a:ext cx="2152650" cy="704850"/>
          </a:xfrm>
          <a:custGeom>
            <a:avLst/>
            <a:gdLst/>
            <a:ahLst/>
            <a:cxnLst/>
            <a:rect l="l" t="t" r="r" b="b"/>
            <a:pathLst>
              <a:path w="2152650" h="704850">
                <a:moveTo>
                  <a:pt x="0" y="0"/>
                </a:moveTo>
                <a:lnTo>
                  <a:pt x="2152650" y="70485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4324350" y="39624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112514" y="42110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45" name="Line 45"/>
          <p:cNvSpPr/>
          <p:nvPr/>
        </p:nvSpPr>
        <p:spPr>
          <a:xfrm>
            <a:off x="2247900" y="2476500"/>
            <a:ext cx="2800350" cy="857250"/>
          </a:xfrm>
          <a:custGeom>
            <a:avLst/>
            <a:gdLst/>
            <a:ahLst/>
            <a:cxnLst/>
            <a:rect l="l" t="t" r="r" b="b"/>
            <a:pathLst>
              <a:path w="2800350" h="857250">
                <a:moveTo>
                  <a:pt x="0" y="857250"/>
                </a:moveTo>
                <a:lnTo>
                  <a:pt x="280035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4972050" y="24003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760214" y="2648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统计报表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09600" y="1847850"/>
            <a:ext cx="3333750" cy="1200150"/>
          </a:xfrm>
          <a:prstGeom prst="roundRect">
            <a:avLst>
              <a:gd name="adj" fmla="val 9524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" y="1847850"/>
            <a:ext cx="3333750" cy="571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13816" y="20964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768" y="2374582"/>
            <a:ext cx="9908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MVP 闭环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3816" y="270605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库存不足 · 过期 · 存储异常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3816" y="2896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危废处置 · 审计报表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057650" y="1847850"/>
            <a:ext cx="3333750" cy="1200150"/>
          </a:xfrm>
          <a:prstGeom prst="roundRect">
            <a:avLst>
              <a:gd name="adj" fmla="val 9524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4057650" y="1847850"/>
            <a:ext cx="333375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261866" y="209645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58818" y="2374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优先补齐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61866" y="2706052"/>
            <a:ext cx="15744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JWT 登录 · 细粒度 RBAC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261866" y="2896552"/>
            <a:ext cx="14453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二维码扫码 · 消息通知</a:t>
            </a:r>
          </a:p>
        </p:txBody>
      </p:sp>
      <p:sp>
        <p:nvSpPr>
          <p:cNvPr id="60" name="Rectangle 60"/>
          <p:cNvSpPr/>
          <p:nvPr/>
        </p:nvSpPr>
        <p:spPr>
          <a:xfrm>
            <a:off x="7505700" y="1847850"/>
            <a:ext cx="3333750" cy="1200150"/>
          </a:xfrm>
          <a:prstGeom prst="roundRect">
            <a:avLst>
              <a:gd name="adj" fmla="val 9524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7505700" y="1847850"/>
            <a:ext cx="3333750" cy="571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7709916" y="20964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706868" y="237458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规模化治理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709916" y="2706052"/>
            <a:ext cx="11626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移动端 · 电子签名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09916" y="2896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批次追踪 · 校级看板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03504" y="5585460"/>
            <a:ext cx="47975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建议运营指标：闭环时长 · 异常关闭率 · 过期批次率 · 审计完整率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1447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96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991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829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129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81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3581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434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586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18000"/>
                </a:schemeClr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4647" y="351949"/>
            <a:ext cx="107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12 / DELIVERY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646" y="620078"/>
            <a:ext cx="311543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组员分工与汇报节奏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2742" y="1054418"/>
            <a:ext cx="54658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Microsoft YaHei"/>
                <a:ea typeface="Microsoft YaHei"/>
                <a:cs typeface="Microsoft YaHei"/>
              </a:rPr>
              <a:t>名字可在课前替换；分工围绕文档、实现、建模与现场表达形成闭环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142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29" name="Line 29"/>
          <p:cNvSpPr/>
          <p:nvPr/>
        </p:nvSpPr>
        <p:spPr>
          <a:xfrm>
            <a:off x="609600" y="6324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4838" y="6494145"/>
            <a:ext cx="187899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5"/>
                </a:solidFill>
                <a:latin typeface="Cascadia Mono"/>
                <a:ea typeface="Microsoft YaHei"/>
                <a:cs typeface="Cascadia Mono"/>
              </a:rPr>
              <a:t>CHEMTRACK / 软件工程课程设计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1403" y="6477952"/>
            <a:ext cx="176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chemeClr val="accent1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1809750"/>
            <a:ext cx="5810250" cy="3352800"/>
          </a:xfrm>
          <a:prstGeom prst="roundRect">
            <a:avLst>
              <a:gd name="adj" fmla="val 3409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69823" y="20340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组员分工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76300" y="2438400"/>
            <a:ext cx="876300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15364" y="2523649"/>
            <a:ext cx="3981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13204" y="2518410"/>
            <a:ext cx="2179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可行性研究 · 需求规格 · 讲稿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76300" y="3028950"/>
            <a:ext cx="876300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15364" y="3114199"/>
            <a:ext cx="3981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成员 B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13204" y="3108960"/>
            <a:ext cx="23547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Vue 前端 · 演示数据 · 交互走查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76300" y="3619500"/>
            <a:ext cx="876300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15364" y="3704749"/>
            <a:ext cx="3981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13204" y="3699510"/>
            <a:ext cx="24708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Spring Boot API · 事务 · 数据库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76300" y="4210050"/>
            <a:ext cx="876300" cy="266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115364" y="4295299"/>
            <a:ext cx="3981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成员 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13204" y="4290060"/>
            <a:ext cx="27560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DFD / ER / 状态图 · PPT · 现场汇报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858000" y="1809750"/>
            <a:ext cx="4724400" cy="3352800"/>
          </a:xfrm>
          <a:prstGeom prst="roundRect">
            <a:avLst>
              <a:gd name="adj" fmla="val 3409"/>
            </a:avLst>
          </a:prstGeom>
          <a:solidFill>
            <a:srgbClr val="1B474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118223" y="20340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汇报节奏</a:t>
            </a:r>
          </a:p>
        </p:txBody>
      </p:sp>
      <p:sp>
        <p:nvSpPr>
          <p:cNvPr id="48" name="Line 48"/>
          <p:cNvSpPr/>
          <p:nvPr/>
        </p:nvSpPr>
        <p:spPr>
          <a:xfrm>
            <a:off x="7429500" y="2667000"/>
            <a:ext cx="9525" cy="1962150"/>
          </a:xfrm>
          <a:custGeom>
            <a:avLst/>
            <a:gdLst/>
            <a:ahLst/>
            <a:cxnLst/>
            <a:rect l="l" t="t" r="r" b="b"/>
            <a:pathLst>
              <a:path w="9525" h="1962150">
                <a:moveTo>
                  <a:pt x="0" y="0"/>
                </a:moveTo>
                <a:lnTo>
                  <a:pt x="0" y="196215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</p:sp>
      <p:sp>
        <p:nvSpPr>
          <p:cNvPr id="49" name="Ellipse 49"/>
          <p:cNvSpPr/>
          <p:nvPr/>
        </p:nvSpPr>
        <p:spPr>
          <a:xfrm>
            <a:off x="7334250" y="26289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728585" y="2659856"/>
            <a:ext cx="364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9/12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680704" y="26517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素材冻结</a:t>
            </a:r>
          </a:p>
        </p:txBody>
      </p:sp>
      <p:sp>
        <p:nvSpPr>
          <p:cNvPr id="52" name="Ellipse 52"/>
          <p:cNvSpPr/>
          <p:nvPr/>
        </p:nvSpPr>
        <p:spPr>
          <a:xfrm>
            <a:off x="7334250" y="32766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728585" y="3307556"/>
            <a:ext cx="364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9/13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680704" y="3299460"/>
            <a:ext cx="1223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模型与 PPT 初版</a:t>
            </a:r>
          </a:p>
        </p:txBody>
      </p:sp>
      <p:sp>
        <p:nvSpPr>
          <p:cNvPr id="55" name="Ellipse 55"/>
          <p:cNvSpPr/>
          <p:nvPr/>
        </p:nvSpPr>
        <p:spPr>
          <a:xfrm>
            <a:off x="7334250" y="3924300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728585" y="3955256"/>
            <a:ext cx="364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9/15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80704" y="3947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联调与彩排</a:t>
            </a:r>
          </a:p>
        </p:txBody>
      </p:sp>
      <p:sp>
        <p:nvSpPr>
          <p:cNvPr id="58" name="Ellipse 58"/>
          <p:cNvSpPr/>
          <p:nvPr/>
        </p:nvSpPr>
        <p:spPr>
          <a:xfrm>
            <a:off x="7334250" y="4572000"/>
            <a:ext cx="190500" cy="190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728585" y="4602956"/>
            <a:ext cx="364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2"/>
                </a:solidFill>
                <a:latin typeface="Cascadia Mono"/>
                <a:ea typeface="Cascadia Mono"/>
                <a:cs typeface="Cascadia Mono"/>
              </a:rPr>
              <a:t>9/16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680704" y="45948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分组汇报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09600" y="5600700"/>
            <a:ext cx="10972800" cy="419100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2875625" y="5721668"/>
            <a:ext cx="64407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E2422"/>
                </a:solidFill>
                <a:latin typeface="Microsoft YaHei"/>
                <a:ea typeface="Microsoft YaHei"/>
                <a:cs typeface="Microsoft YaHei"/>
              </a:rPr>
              <a:t>ChemTrack 用“状态 + 责任 + 审计”把危化品安全管理变成可验证的软件系统。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hemtrack_design">
  <a:themeElements>
    <a:clrScheme name="chemtrack_design">
      <a:dk1>
        <a:srgbClr val="F5F7F4"/>
      </a:dk1>
      <a:lt1>
        <a:srgbClr val="0E2422"/>
      </a:lt1>
      <a:dk2>
        <a:srgbClr val="F5F7F4"/>
      </a:dk2>
      <a:lt2>
        <a:srgbClr val="163C38"/>
      </a:lt2>
      <a:accent1>
        <a:srgbClr val="BFE7D8"/>
      </a:accent1>
      <a:accent2>
        <a:srgbClr val="57C7B0"/>
      </a:accent2>
      <a:accent3>
        <a:srgbClr val="F2B866"/>
      </a:accent3>
      <a:accent4>
        <a:srgbClr val="BFE7D8"/>
      </a:accent4>
      <a:accent5>
        <a:srgbClr val="A8C1BB"/>
      </a:accent5>
      <a:accent6>
        <a:srgbClr val="2A5650"/>
      </a:accent6>
      <a:hlink>
        <a:srgbClr val="57C7B0"/>
      </a:hlink>
      <a:folHlink>
        <a:srgbClr val="F2B866"/>
      </a:folHlink>
    </a:clrScheme>
    <a:fontScheme name="chemtrack_design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emtrack_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2026-09-12T14:12:32Z</dcterms:created>
  <dcterms:modified xsi:type="dcterms:W3CDTF">2026-09-12T14:12:32Z</dcterms:modified>
  <cp:category/>
  <cp:contentStatus/>
</cp:coreProperties>
</file>