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ffy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0352" y="566928"/>
            <a:ext cx="1143000" cy="30175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630936"/>
            <a:ext cx="978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C5C57"/>
                </a:solidFill>
                <a:latin typeface="Microsoft YaHei"/>
              </a:rPr>
              <a:t>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5486400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22F31"/>
                </a:solidFill>
                <a:latin typeface="Microsoft YaHei"/>
              </a:rPr>
              <a:t>ChemTrack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57150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5C57"/>
                </a:solidFill>
                <a:latin typeface="Microsoft YaHei"/>
              </a:rPr>
              <a:t>把危化品管理变成一条可追溯责任链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7B77"/>
                </a:solidFill>
                <a:latin typeface="Microsoft YaHei"/>
              </a:rPr>
              <a:t>可行性研究与需求规格说明书汇报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5577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顾峰鸣：Web 版     张誉诚：Release 桌面端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10912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采购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6192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40864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0864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入库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26664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31335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31335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领用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17136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21807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21807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使用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7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79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79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归还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79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02751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1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处置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88551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93224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93224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53912"/>
            <a:ext cx="3657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2026.09  ·  课程设计答辩版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153912"/>
            <a:ext cx="2971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WEB  ×  DESKTOP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01 / 问题与价值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责任链断裂，比功能不足更危险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危化品风险来自跨角色、跨状态的信息断裂；系统目标是把每一批次的证据链连接起来。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26F62"/>
                </a:solidFill>
                <a:latin typeface="Microsoft YaHei"/>
              </a:rPr>
              <a:t>现状断点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6974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2" y="268833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信息分散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94436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账本、表格、口头记录各自独立，库存和有效期无法联动。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4747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747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" y="346557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审批脱节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72160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申请、教师审批、管理员复核缺少统一的状态与证据。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2519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2519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2" y="424281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责任难追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49884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使用、归还、处置和异常分散，出问题时难以还原链路。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92024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1762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5C57"/>
                </a:solidFill>
                <a:latin typeface="Microsoft YaHei"/>
              </a:rPr>
              <a:t>ChemTrack 的回答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6974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6974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268833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一套台账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4436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批次、CAS、有效期、存储要求和二维码统一建档。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4747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4747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346557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分级审批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2160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高风险试剂必须教师审批 + 管理员复核。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2519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42519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424281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可追溯闭环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9884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从采购到处置持续留痕，风险中心主动提示和收敛。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22F31"/>
                </a:solidFill>
                <a:latin typeface="Microsoft YaHei"/>
              </a:rPr>
              <a:t>每一批危化品都能回答：从哪里来、谁批准、谁使用、剩多少、如何处置。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02 / 可行性研究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经济、技术、操作、社会与法律可行性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MVP 已跑通，当前重点是把可运行原型转成可部署、可治理、可审计的校园实验室系统。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" y="2057400"/>
            <a:ext cx="1993392" cy="146304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7A13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经济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7A13B"/>
                </a:solidFill>
                <a:latin typeface="Microsoft YaHei"/>
              </a:rPr>
              <a:t>低成本复用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已有前后端与桌面端成果，部署与软件采购成本可控。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2" y="2057400"/>
            <a:ext cx="1993392" cy="146304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54096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E90C4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E90C4"/>
                </a:solidFill>
                <a:latin typeface="Microsoft YaHei"/>
              </a:rPr>
              <a:t>路线成熟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Java 17 + Spring Boot 3.4 + Vue 3 + Vite + MySQL 8 已跑通。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54096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0" y="2057400"/>
            <a:ext cx="1993392" cy="146304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58384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C5C57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5C57"/>
                </a:solidFill>
                <a:latin typeface="Microsoft YaHei"/>
              </a:rPr>
              <a:t>角色贴合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学生、教师、管理员、安全负责人按业务路径分区操作。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8384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58384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16368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16368" y="2057400"/>
            <a:ext cx="1993392" cy="146304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62672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7D6FB8"/>
                </a:solidFill>
                <a:latin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社会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D6FB8"/>
                </a:solidFill>
                <a:latin typeface="Microsoft YaHei"/>
              </a:rPr>
              <a:t>降低遗漏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把安全责任从个人记忆转成流程证据，管理更透明。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62672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0656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20656" y="2057400"/>
            <a:ext cx="1993392" cy="146304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26F62"/>
                </a:solidFill>
                <a:latin typeface="Microsoft Ya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法律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制度复核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覆盖安全能力，最终制度口径与法律适用由学校审核。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66960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596128"/>
            <a:ext cx="10972800" cy="47548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705856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总判定  /  方案可行，下一阶段重点转向认证、备份、安全和合规治理。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03 / 系统边界与接口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双端交付，统一一套业务责任链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Web 版面向浏览器操作；Release 桌面端用 WPF + WebView2 封装，二者通过 REST API 连接同一套业务数据。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194560" cy="126187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85800" y="2148840"/>
            <a:ext cx="2194560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3816" y="229514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Web 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87752"/>
            <a:ext cx="1938528" cy="731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Vue 3 + Vite
总览、档案、审批、预警、审计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2194560" cy="1261872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85800" y="3886200"/>
            <a:ext cx="2194560" cy="0"/>
          </a:xfrm>
          <a:prstGeom prst="line">
            <a:avLst/>
          </a:prstGeom>
          <a:ln w="29209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816" y="403250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Release 桌面端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325112"/>
            <a:ext cx="1938528" cy="731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.NET 8 WPF + WebView2
启动后端、健康检查、回收进程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9718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971800"/>
            <a:ext cx="2331719" cy="0"/>
          </a:xfrm>
          <a:prstGeom prst="line">
            <a:avLst/>
          </a:prstGeom>
          <a:ln w="29209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91455" y="3118104"/>
            <a:ext cx="2075687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5" y="3410712"/>
            <a:ext cx="2075687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健康检查
业务状态流转
事务与审计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97180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971800"/>
            <a:ext cx="2377440" cy="0"/>
          </a:xfrm>
          <a:prstGeom prst="line">
            <a:avLst/>
          </a:prstGeom>
          <a:ln w="29209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77656" y="3118104"/>
            <a:ext cx="21214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MySQL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410712"/>
            <a:ext cx="2121408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users · chemicals
requests · usages
audit_logs · alerts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2779776"/>
            <a:ext cx="1737360" cy="804672"/>
          </a:xfrm>
          <a:prstGeom prst="line">
            <a:avLst/>
          </a:prstGeom>
          <a:ln w="2540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26080" y="3776472"/>
            <a:ext cx="1737360" cy="740664"/>
          </a:xfrm>
          <a:prstGeom prst="line">
            <a:avLst/>
          </a:prstGeom>
          <a:ln w="2540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5160" y="3685032"/>
            <a:ext cx="1554480" cy="0"/>
          </a:xfrm>
          <a:prstGeom prst="line">
            <a:avLst/>
          </a:prstGeom>
          <a:ln w="2540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31920" y="5074920"/>
            <a:ext cx="4343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C5C57"/>
                </a:solidFill>
                <a:latin typeface="Microsoft YaHei"/>
              </a:rPr>
              <a:t>统一状态 / 统一约束 / 统一留痕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32704"/>
            <a:ext cx="1092708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769864"/>
            <a:ext cx="10515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角色边界：学生提交与归还  ·  教师审批高风险申请  ·  管理员复核、发放、入库  ·  安全负责人处理异常与废弃物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04 / 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从采购到处置：每个状态都有下一位责任人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正常链持续记录批次、审批、库存、使用与处置；异常路径负责阻断、预警和闭环处理。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9844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采购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1576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3113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3113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入库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2044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4845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845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领用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5040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6577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6577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使用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6772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5508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8309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309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归还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8504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7240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0041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041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041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预警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0236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8972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1773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1773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处置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73505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3505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3505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审计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06908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4297680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正常链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4645152"/>
            <a:ext cx="4800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待采购 → 采购中 → 待验收 → 已入库 → 可领用 → 分级审批 → 已发放 → 使用中 → 已归还 → 待处置 → 已处置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4069080"/>
            <a:ext cx="5285232" cy="1234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64808" y="4297680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26F62"/>
                </a:solidFill>
                <a:latin typeface="Microsoft YaHei"/>
              </a:rPr>
              <a:t>异常分支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645152"/>
            <a:ext cx="4617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库存不足 / 已过期 / 审批驳回 / 归还不一致 / 泄漏 / 存储异常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919472"/>
            <a:ext cx="4617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→ 阻断正常领用，生成预警或异常事件，进入处理与审计闭环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05 / 需求规格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功能需求：围绕危化品全生命周期形成闭环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每个核心动作都有角色边界、状态变化、数据对象和审计记录。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109728" cy="1225296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FR-01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批次档案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CAS、有效期、存储要求、二维码和位置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07992" y="2057400"/>
            <a:ext cx="109728" cy="12252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E90C4"/>
                </a:solidFill>
                <a:latin typeface="Microsoft YaHei"/>
              </a:rPr>
              <a:t>FR-02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采购入库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申请 → 审批 → 采购中 → 验收 → 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3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0183" y="2057400"/>
            <a:ext cx="109728" cy="12252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FR-03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领用审批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普通试剂单级审批，高风险双重审批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630168"/>
            <a:ext cx="109728" cy="1225296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D6FB8"/>
                </a:solidFill>
                <a:latin typeface="Microsoft YaHei"/>
              </a:rPr>
              <a:t>FR-04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出库与使用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办理发放时事务扣减库存，建立使用记录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07992" y="3630168"/>
            <a:ext cx="109728" cy="1225296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45736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26F62"/>
                </a:solidFill>
                <a:latin typeface="Microsoft YaHei"/>
              </a:rPr>
              <a:t>FR-05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归还登记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实际使用量、归还量、异常说明与库存回补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0183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30183" y="3630168"/>
            <a:ext cx="109728" cy="1225296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67928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77796"/>
                </a:solidFill>
                <a:latin typeface="Microsoft YaHei"/>
              </a:rPr>
              <a:t>FR-06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风险与审计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预警、异常、废弃物和汇总报表全程留痕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504688"/>
            <a:ext cx="10826496" cy="47548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641848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验收口径：角色可执行  ·  状态可追踪  ·  库存可校验  ·  关键动作可审计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06 / 需求规格说明书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非功能需求：性能、可靠性、可用性、出错处理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安全系统不仅要完成操作，还要在边界条件下保持可预测、可恢复、可解释。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E90C4"/>
                </a:solidFill>
                <a:latin typeface="Microsoft YaHei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课堂演示规模下列表与查询即时反馈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接口响应与边界数据测试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5C57"/>
                </a:solidFill>
                <a:latin typeface="Microsoft YaHei"/>
              </a:rPr>
              <a:t>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出库、归还使用事务，库存不能小于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异常回滚与日志核对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A13B"/>
                </a:solidFill>
                <a:latin typeface="Microsoft YaHei"/>
              </a:rPr>
              <a:t>可用性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后端未启动时进入演示数据模式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断后端与恢复场景演示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26F62"/>
                </a:solidFill>
                <a:latin typeface="Microsoft YaHei"/>
              </a:rPr>
              <a:t>出错处理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越权、过期、库存不足时阻断提交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错误提示与阻断规则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10835640" cy="14173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224528"/>
            <a:ext cx="2560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可靠性与可用性证据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590288"/>
            <a:ext cx="101955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事务保障：出库、归还、审批状态一致；健康检查：/api/health 明确服务状态；演示回退：后端未启动时可进入演示数据模式；审计事实：关键动作不可删除。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07 / 需求规格说明书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接口需求、约束、逆向需求与将来可能提出的要求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把系统必须连接什么、必须遵守什么、绝不能做什么、未来如何扩展一次说清。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547872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3547872" cy="109728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14630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E90C4"/>
                </a:solidFill>
                <a:latin typeface="Microsoft YaHei"/>
              </a:rPr>
              <a:t>接口需求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33472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22F31"/>
                </a:solidFill>
                <a:latin typeface="Microsoft YaHei"/>
              </a:rPr>
              <a:t>前端 / 桌面端 → REST API →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834640" cy="1920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77B77"/>
                </a:solidFill>
                <a:latin typeface="Microsoft YaHei"/>
              </a:rPr>
              <a:t>读接口
GET /health · /dashboard · /chemicals
GET /requests · /usages · /alerts
GET /incidents · /disposals · /audit
写接口
POST /requests · /procurements
PATCH /approve · /reject · /issue · /return
POST /alerts/refresh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965960"/>
            <a:ext cx="3456432" cy="3520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965960"/>
            <a:ext cx="3456432" cy="109728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26771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26F62"/>
                </a:solidFill>
                <a:latin typeface="Microsoft YaHei"/>
              </a:rPr>
              <a:t>约束 + 逆向需求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51760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业务约束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26080"/>
            <a:ext cx="2761488" cy="877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22F31"/>
                </a:solidFill>
                <a:latin typeface="Microsoft YaHei"/>
              </a:rPr>
              <a:t>高风险试剂必须教师审批 + 管理员复核
库存不能小于 0
实际使用量 + 归还量 ≤ 发放量
普通用户不能修改历史审计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041648"/>
            <a:ext cx="11887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系统绝不能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4315968"/>
            <a:ext cx="2761488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22F31"/>
                </a:solidFill>
                <a:latin typeface="Microsoft YaHei"/>
              </a:rPr>
              <a:t>绕过审批直接出库
删除关键审计事实
让过期批次进入正常领用
把演示数据当真实台账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965960"/>
            <a:ext cx="3547872" cy="352044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8" y="1965960"/>
            <a:ext cx="3547872" cy="109728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2267712"/>
            <a:ext cx="2743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A13B"/>
                </a:solidFill>
                <a:latin typeface="Microsoft YaHei"/>
              </a:rPr>
              <a:t>将来可能提出的要求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788920"/>
            <a:ext cx="278892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统一认证与 JWT 登录
细粒度角色权限与通知中心
多实验室 / 多校区部署
二维码、移动端、电子签名
报表导出与自动备份
法规规则可配置、可审计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846320"/>
            <a:ext cx="20574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864607"/>
            <a:ext cx="2057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先满足边界，再扩展能力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08 / 需求分析建模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数据流图（DFD）：外部实体、处理过程、数据存储与数据流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以“领用申请 → 分级审批 → 发放扣减 → 使用归还 → 预警审计”为主线，展示数据如何穿过系统。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1691640" cy="786384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057400"/>
            <a:ext cx="169164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1545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496312"/>
            <a:ext cx="1472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领用申请 / 归还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18688"/>
            <a:ext cx="1691640" cy="786384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218688"/>
            <a:ext cx="169164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545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指导教师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657600"/>
            <a:ext cx="1472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高风险审批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9976"/>
            <a:ext cx="1691640" cy="786384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379976"/>
            <a:ext cx="169164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453128"/>
            <a:ext cx="1545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管理员 / 安全负责人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818888"/>
            <a:ext cx="1472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入库 / 复核 / 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938528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2788920" y="1938528"/>
            <a:ext cx="2048256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16936" y="2084832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P1 档案与入库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936" y="2377440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批次、库存、有效期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246120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2788920" y="3246120"/>
            <a:ext cx="2048256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16936" y="3392424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P2 领用与审批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6936" y="3685031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申请、教师审批、管理员复核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4553712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2788920" y="4553712"/>
            <a:ext cx="2048256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16936" y="4700016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P3 使用与归还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6936" y="4992624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发放扣减、实际用量、回补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3246120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532120" y="3246120"/>
            <a:ext cx="2048255" cy="0"/>
          </a:xfrm>
          <a:prstGeom prst="line">
            <a:avLst/>
          </a:prstGeom>
          <a:ln w="29209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0136" y="3392424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P4 风险与处置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0136" y="3685031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预警、异常、危废流程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4553712"/>
            <a:ext cx="2048256" cy="9601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532120" y="4553712"/>
            <a:ext cx="2048255" cy="0"/>
          </a:xfrm>
          <a:prstGeom prst="line">
            <a:avLst/>
          </a:prstGeom>
          <a:ln w="29209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0136" y="4700016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P5 审计与报表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0136" y="4992624"/>
            <a:ext cx="1792224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关键动作、统计摘要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920240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21040" y="1920240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1993392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D1 用户 / 角色库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2359152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users · roles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2816352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21040" y="2816352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94192" y="2889504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D2 危化品 / 批次库存库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7" y="3255264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chemicals · batches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3712463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040" y="3712463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94192" y="3785615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D3 申请 / 审批 / 使用库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7" y="4151375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requests · approvals · usages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4608576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321040" y="4608576"/>
            <a:ext cx="283464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94192" y="4681728"/>
            <a:ext cx="26883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D4 预警 / 处置 / 审计库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7" y="5047488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alerts · disposals · audit_logs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58568" y="2450592"/>
            <a:ext cx="530352" cy="1188720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286000" y="2761488"/>
            <a:ext cx="56692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86000" y="2793492"/>
            <a:ext cx="56692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申请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58568" y="3611880"/>
            <a:ext cx="530352" cy="91440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212848" y="3401568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12848" y="3433572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审批意见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258568" y="4773168"/>
            <a:ext cx="530352" cy="210312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231136" y="4572000"/>
            <a:ext cx="694944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31136" y="4604004"/>
            <a:ext cx="694944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操作指令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837176" y="2423160"/>
            <a:ext cx="3483864" cy="722376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623560" y="2542032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23560" y="2574036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入库 / 库存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837176" y="3730752"/>
            <a:ext cx="3483864" cy="310896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596128" y="3730752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96128" y="3762756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申请 / 审批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4837176" y="4041648"/>
            <a:ext cx="3483864" cy="987552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532120" y="4736592"/>
            <a:ext cx="82296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32120" y="4768596"/>
            <a:ext cx="82296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使用记录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837176" y="3730752"/>
            <a:ext cx="694944" cy="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919472" y="3456432"/>
            <a:ext cx="786384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19472" y="3488436"/>
            <a:ext cx="786384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异常条件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80375" y="3730752"/>
            <a:ext cx="740665" cy="1207008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7479792" y="4169663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79792" y="4201668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预警 / 处置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7580375" y="4937760"/>
            <a:ext cx="740665" cy="9144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516368" y="5166360"/>
            <a:ext cx="859536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16368" y="5198364"/>
            <a:ext cx="859536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审计结果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8" y="5797296"/>
            <a:ext cx="1078992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读写数据流：前端 / 桌面端提交操作，核心处理校验状态与库存，数据存储保留业务事实。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09 / 需求分析建模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实体-联系图（ER）：申请单连接责任、库存、使用与处置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实体、主键 / 外键和基数关系来自 ChemTrack 的业务表设计；申请单是审批责任的中心。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011680" cy="1389888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011680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993392"/>
            <a:ext cx="18653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User /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69464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name ·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9776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1:N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90088"/>
            <a:ext cx="17922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1:N AuditLog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176" y="1920240"/>
            <a:ext cx="226771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94176" y="1920240"/>
            <a:ext cx="2267712" cy="310896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1993392"/>
            <a:ext cx="21214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Chemical / 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359152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chemical_id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569464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CAS · batch_no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779776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expiry · 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2990088"/>
            <a:ext cx="2048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1:N Request / Alert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920240"/>
            <a:ext cx="2212848" cy="1389888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1920240"/>
            <a:ext cx="2212848" cy="310896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34072" y="1993392"/>
            <a:ext cx="206654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359152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request_id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569464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chemical_id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779776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amount ·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990088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applicant · supervisor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4206240"/>
            <a:ext cx="21031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8992" y="4206240"/>
            <a:ext cx="2103120" cy="3108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52144" y="4279392"/>
            <a:ext cx="1956815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ApprovalRecord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4645152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approval_id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4855464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request_id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5065776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stage · approver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276088"/>
            <a:ext cx="1883663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decision ·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87952" y="4206240"/>
            <a:ext cx="2048256" cy="1389888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87952" y="4206240"/>
            <a:ext cx="2048256" cy="310896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61104" y="4279392"/>
            <a:ext cx="190195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UsageRecord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645152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usage_id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855464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request_id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065776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issued · actual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276088"/>
            <a:ext cx="18288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returned · abnormal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4206240"/>
            <a:ext cx="202996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452360" y="4206240"/>
            <a:ext cx="2029968" cy="310896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25512" y="4279392"/>
            <a:ext cx="18836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Disposal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4645152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disposal_id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088" y="4855464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chemical_id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5065776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waste · 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088" y="5276088"/>
            <a:ext cx="181051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status · company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3063240"/>
            <a:ext cx="1481328" cy="1389888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104120" y="3063240"/>
            <a:ext cx="1481328" cy="3108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77272" y="3136392"/>
            <a:ext cx="13350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Alert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3848" y="3502152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PK alert_id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13848" y="3712464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FK chemical_id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3922776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level · 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13848" y="4133088"/>
            <a:ext cx="12618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77B77"/>
                </a:solidFill>
                <a:latin typeface="Microsoft YaHei"/>
              </a:rPr>
              <a:t>created_at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651760" y="2542032"/>
            <a:ext cx="4709160" cy="0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526280" y="2322576"/>
            <a:ext cx="91440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26280" y="2354580"/>
            <a:ext cx="91440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1:N 申请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961888" y="2542032"/>
            <a:ext cx="1399032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108192" y="2322576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08192" y="2354580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1:N 批次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5212080" y="3310128"/>
            <a:ext cx="3246120" cy="896112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400800" y="3493008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0" y="3525012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1:1 使用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2103120" y="3310128"/>
            <a:ext cx="2724912" cy="896112"/>
          </a:xfrm>
          <a:prstGeom prst="line">
            <a:avLst/>
          </a:prstGeom>
          <a:ln w="2032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834640" y="3511296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34640" y="3543300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4E90C4"/>
                </a:solidFill>
                <a:latin typeface="Microsoft YaHei"/>
              </a:rPr>
              <a:t>1:N 审批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828032" y="3310128"/>
            <a:ext cx="384048" cy="896112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4791456" y="3621024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91456" y="3653028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1:1 发放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828032" y="3310128"/>
            <a:ext cx="2624328" cy="896112"/>
          </a:xfrm>
          <a:prstGeom prst="line">
            <a:avLst/>
          </a:prstGeom>
          <a:ln w="20320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565392" y="3657600"/>
            <a:ext cx="960120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65392" y="3689604"/>
            <a:ext cx="960120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77796"/>
                </a:solidFill>
                <a:latin typeface="Microsoft YaHei"/>
              </a:rPr>
              <a:t>0..N 处置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573768" y="2560320"/>
            <a:ext cx="530352" cy="841248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326880" y="2816352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326880" y="2848356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1:N 预警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5907024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77B77"/>
                </a:solidFill>
                <a:latin typeface="Microsoft YaHei"/>
              </a:rPr>
              <a:t>对应数据表：users · chemicals · procurements · requests · approval_records · usage_records · incidents · disposals · alerts · audit_logs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10 / 需求分析建模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状态转换图：状态、触发事件与异常分支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状态决定下一步权限、库存行为和审计动作；每次转换都有明确触发事件。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408176" cy="91440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待采购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3744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23744" y="1965960"/>
            <a:ext cx="1408176" cy="91440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1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采购中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66543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16735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16735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采购申请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7408" y="1965960"/>
            <a:ext cx="1408176" cy="91440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待验收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0208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00400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采购完成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91072" y="1965960"/>
            <a:ext cx="1408176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已入库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33872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到货验收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74736" y="1965960"/>
            <a:ext cx="1408176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可领用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7536" y="2276856"/>
            <a:ext cx="384047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67727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67727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入库登记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196596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058400" y="1965960"/>
            <a:ext cx="1408176" cy="91440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22408" y="221284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待审批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01200" y="2276856"/>
            <a:ext cx="384048" cy="0"/>
          </a:xfrm>
          <a:prstGeom prst="line">
            <a:avLst/>
          </a:prstGeom>
          <a:ln w="2032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51392" y="192938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51392" y="196138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C5C57"/>
                </a:solidFill>
                <a:latin typeface="Microsoft YaHei"/>
              </a:rPr>
              <a:t>提交申请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2971800"/>
            <a:ext cx="1408176" cy="91440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已复核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23744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23744" y="2971800"/>
            <a:ext cx="1408176" cy="91440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87751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已发放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066543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316735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16735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审批通过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07408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407408" y="2971800"/>
            <a:ext cx="1408176" cy="91440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71416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使用中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950208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200400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0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管理员复核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2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91072" y="2971800"/>
            <a:ext cx="1408176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55080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已归还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33872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084064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84064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办理发放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74736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74736" y="2971800"/>
            <a:ext cx="1408176" cy="91440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38744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待处置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717536" y="3282696"/>
            <a:ext cx="384047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967727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67727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实验开始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58400" y="2971800"/>
            <a:ext cx="1408176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058400" y="2971800"/>
            <a:ext cx="1408176" cy="91440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22408" y="321868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22F31"/>
                </a:solidFill>
                <a:latin typeface="Microsoft YaHei"/>
              </a:rPr>
              <a:t>已处置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601200" y="3282696"/>
            <a:ext cx="384048" cy="0"/>
          </a:xfrm>
          <a:prstGeom prst="line">
            <a:avLst/>
          </a:prstGeom>
          <a:ln w="2032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851392" y="2935224"/>
            <a:ext cx="713232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851392" y="2967228"/>
            <a:ext cx="713232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7D6FB8"/>
                </a:solidFill>
                <a:latin typeface="Microsoft YaHei"/>
              </a:rPr>
              <a:t>归还登记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640080" y="2587752"/>
            <a:ext cx="4160520" cy="694944"/>
          </a:xfrm>
          <a:prstGeom prst="line">
            <a:avLst/>
          </a:prstGeom>
          <a:ln w="2032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809744" y="2816352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09744" y="2848356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7A13B"/>
                </a:solidFill>
                <a:latin typeface="Microsoft YaHei"/>
              </a:rPr>
              <a:t>进入审批链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232" y="4462272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1832" y="4681728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6F62"/>
                </a:solidFill>
                <a:latin typeface="Microsoft YaHei"/>
              </a:rPr>
              <a:t>异常状态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38528" y="4681728"/>
            <a:ext cx="5120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已过期 / 冻结 · 库存不足 · 审批驳回 · 归还不一致 · 泄漏 / 存储异常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8352" y="4681728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阻断领用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092440" y="4773168"/>
            <a:ext cx="777240" cy="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8156448" y="4462272"/>
            <a:ext cx="74980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56448" y="4494276"/>
            <a:ext cx="74980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生成预警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646920" y="4773168"/>
            <a:ext cx="1417320" cy="0"/>
          </a:xfrm>
          <a:prstGeom prst="line">
            <a:avLst/>
          </a:prstGeom>
          <a:ln w="2032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720072" y="4462272"/>
            <a:ext cx="841248" cy="219456"/>
          </a:xfrm>
          <a:prstGeom prst="roundRect">
            <a:avLst>
              <a:gd name="adj" fmla="val 8000"/>
            </a:avLst>
          </a:prstGeom>
          <a:solidFill>
            <a:srgbClr val="F7FAF8"/>
          </a:solidFill>
          <a:ln w="10160"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20072" y="4494276"/>
            <a:ext cx="841248" cy="1280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26F62"/>
                </a:solidFill>
                <a:latin typeface="Microsoft YaHei"/>
              </a:rPr>
              <a:t>上报 / 审计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11 / 实现与演示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运行总览：风险、库存、审批和生命周期在同一屏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以下为 ChemTrack 前端实际运行界面截图；当前项目支持后端在线与演示数据模式两种展示路径。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758952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emtrac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47672"/>
            <a:ext cx="7443216" cy="3538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614416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真实运行界面  /  运行总览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9339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549640" y="1993392"/>
            <a:ext cx="1408176" cy="0"/>
          </a:xfrm>
          <a:prstGeom prst="line">
            <a:avLst/>
          </a:prstGeom>
          <a:ln w="3175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214884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批次档案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4086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8892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已建档可追溯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99339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0104120" y="1993392"/>
            <a:ext cx="1408176" cy="0"/>
          </a:xfrm>
          <a:prstGeom prst="line">
            <a:avLst/>
          </a:prstGeom>
          <a:ln w="3175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80" y="214884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库存预警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34086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78892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低于安全线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27355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8549640" y="3273552"/>
            <a:ext cx="1408176" cy="0"/>
          </a:xfrm>
          <a:prstGeom prst="line">
            <a:avLst/>
          </a:prstGeom>
          <a:ln w="3175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0" y="342900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待审批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2102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6908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高风险需复核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327355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10104120" y="3273552"/>
            <a:ext cx="1408176" cy="0"/>
          </a:xfrm>
          <a:prstGeom prst="line">
            <a:avLst/>
          </a:prstGeom>
          <a:ln w="31750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41280" y="342900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有效预警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62102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06908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建议今日处理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663440"/>
            <a:ext cx="2962656" cy="109728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59952" y="4864608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5C57"/>
                </a:solidFill>
                <a:latin typeface="Microsoft YaHei"/>
              </a:rPr>
              <a:t>截图可见的证据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5175504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侧栏导航 · 风险雷达 · 最近申请
全生命周期步骤 · 角色切换 · 待办入口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11 / 实现与演示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界面证据：从“看见风险”到“留下记录”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把同一份运行界面拆成三个操作证据区，便于在答辩中对应需求和验收口径。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20240"/>
            <a:ext cx="3657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emtrack-over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59945"/>
            <a:ext cx="3529583" cy="1127796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4718304"/>
            <a:ext cx="3529583" cy="0"/>
          </a:xfrm>
          <a:prstGeom prst="line">
            <a:avLst/>
          </a:prstGeom>
          <a:ln w="1778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9145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总览指标  /  批次、库存、审批、预警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20240"/>
            <a:ext cx="3657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mtrack-overview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862283"/>
            <a:ext cx="3529583" cy="923121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4471416" y="4718304"/>
            <a:ext cx="3529584" cy="0"/>
          </a:xfrm>
          <a:prstGeom prst="line">
            <a:avLst/>
          </a:prstGeom>
          <a:ln w="1778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17136" y="479145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风险雷达 + 最近申请  /  待办聚合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920240"/>
            <a:ext cx="33832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emtrack-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761" y="1984248"/>
            <a:ext cx="763804" cy="267919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8257032" y="4718304"/>
            <a:ext cx="3255264" cy="0"/>
          </a:xfrm>
          <a:prstGeom prst="line">
            <a:avLst/>
          </a:prstGeom>
          <a:ln w="1778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02752" y="4791456"/>
            <a:ext cx="316382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生命周期导航  /  统一入口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083564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22976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页面 → REST API → 数据库表 → 审计记录：每一次操作都可以在链路上定位。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12 / 双端交付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Release 桌面端：把 Web 能力封装成可启动产品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桌面端不是另一套业务逻辑，而是 WPF 壳 + WebView2 + 后端进程管理，共享同一套接口和数据。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6629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240280"/>
            <a:ext cx="6080760" cy="2926080"/>
          </a:xfrm>
          <a:prstGeom prst="roundRect">
            <a:avLst>
              <a:gd name="adj" fmla="val 8000"/>
            </a:avLst>
          </a:prstGeom>
          <a:solidFill>
            <a:srgbClr val="ECF1E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2468880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ChemTrack 化危品管理平台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48716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B77"/>
                </a:solidFill>
                <a:latin typeface="Microsoft YaHei"/>
              </a:rPr>
              <a:t>WPF Window</a:t>
            </a:r>
          </a:p>
        </p:txBody>
      </p:sp>
      <p:pic>
        <p:nvPicPr>
          <p:cNvPr id="11" name="Picture 10" descr="chemtrack-over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907792"/>
            <a:ext cx="5650992" cy="19659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001000" y="2468880"/>
            <a:ext cx="0" cy="2606040"/>
          </a:xfrm>
          <a:prstGeom prst="line">
            <a:avLst/>
          </a:prstGeom>
          <a:ln w="1270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94192" y="21945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1945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218541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启动后端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44144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启动时检查 /api/health；未就绪则拉起 backend JAR。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32461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32461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323697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加载界面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349300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EnsureCoreWebView2Async 后导航到本地服务。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42976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42976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14232" y="428853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退出回收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454456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窗口关闭时回收后端进程，减少遗留服务。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10835640" cy="41148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5C57"/>
                </a:solidFill>
                <a:latin typeface="Microsoft YaHei"/>
              </a:rPr>
              <a:t>桌面端交付价值：降低课堂启动门槛，同时保留 Web 端持续迭代能力。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13 / 课堂演示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一条真实路径，证明需求可以落地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每一步都能在前端页面、REST API、数据库表和审计记录中定位。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38528"/>
            <a:ext cx="512064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4206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序号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1938528"/>
            <a:ext cx="1298448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2039112"/>
            <a:ext cx="1207007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38528"/>
            <a:ext cx="1389888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79" y="2039112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页面能力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1938528"/>
            <a:ext cx="2084831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7368" y="2039112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38528"/>
            <a:ext cx="1965960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039112"/>
            <a:ext cx="1874519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数据对象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938528"/>
            <a:ext cx="3200400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039112"/>
            <a:ext cx="3108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验收结果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31720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450591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2331720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8176" y="2450591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采购入库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331720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06624" y="2450591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新建批次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41648" y="2331720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96511" y="2450591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POST /procurements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31720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1344" y="2450591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procurements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331720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47304" y="2450591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状态推进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2770632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2889503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53312" y="2770632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08176" y="2889503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提交申请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770632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6624" y="2889503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领用审批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41648" y="2770632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6511" y="2889503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POST /requests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770632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81344" y="2889503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requests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2770632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47304" y="2889503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申请待审批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3209544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1" y="3328415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53312" y="3209544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08176" y="3328415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教师审批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209544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06624" y="3328415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分级审批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41648" y="3209544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96511" y="3328415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PATCH /approve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209544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328415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approval_records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209544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47304" y="3328415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教师已审批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3648456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1" y="3767328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53312" y="3648456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08176" y="3767328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管理员复核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3648456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06624" y="376732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高风险二次确认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41648" y="3648456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96511" y="3767328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PATCH /approve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648456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81344" y="3767328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approval_records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3648456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47304" y="3767328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可办理发放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" y="4087368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1" y="4206240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53312" y="4087368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408176" y="4206240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办理发放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51760" y="4087368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06624" y="4206240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出库扣减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41648" y="4087368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96511" y="4206240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PATCH /issue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4087368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81344" y="4206240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usage_records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4087368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47304" y="4206240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库存变化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9808" y="4526279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04671" y="4645151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53312" y="4526279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408176" y="4645151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使用归还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4526279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06624" y="4645151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实际量与回补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41648" y="4526279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096511" y="4645151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PATCH /return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4526279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181344" y="4645151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usage_records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4526279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147304" y="4645151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归还留痕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" y="4965192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4671" y="5084064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53312" y="4965192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408176" y="5084064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风险扫描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51760" y="4965192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06624" y="5084064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库存 / 有效期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41648" y="4965192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096511" y="5084064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POST /alerts/refresh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26480" y="4965192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181344" y="5084064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alerts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92440" y="4965192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147304" y="5084064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生成预警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8" y="5404104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04671" y="5522976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53312" y="5404104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408176" y="5522976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查看审计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51760" y="5404104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706624" y="5522976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证据汇总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041648" y="5404104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096511" y="5522976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GET /audit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5404104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81344" y="5522976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audit_logs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92440" y="5404104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47304" y="5522976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动作不可删除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275320" y="6016752"/>
            <a:ext cx="3246120" cy="32004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6099048"/>
            <a:ext cx="315468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状态推进 + 库存变化 + 留痕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566928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72237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FINAL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6751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22F31"/>
                </a:solidFill>
                <a:latin typeface="Microsoft YaHei"/>
              </a:rPr>
              <a:t>可行、可验收、可持续演进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011680"/>
            <a:ext cx="6766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B77"/>
                </a:solidFill>
                <a:latin typeface="Microsoft YaHei"/>
              </a:rPr>
              <a:t>ChemTrack 已具备课程设计所需的可运行 MVP，需求边界和演进路径清晰。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2907792"/>
            <a:ext cx="3063240" cy="118872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5C57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可行性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技术与操作已验证，经济可控，社会价值明确；法律方向需制度复核。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2907792"/>
            <a:ext cx="3063240" cy="118872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7A13B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功能、性能、可靠性、可用性、异常、接口、约束、逆向与未来要求均有落点。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45552" y="2907792"/>
            <a:ext cx="3063240" cy="118872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26F62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Vue + Spring Boot + MySQL 与 DFD / ER / 状态模型保持一致。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983480"/>
            <a:ext cx="10716768" cy="74980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193792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A13B"/>
                </a:solidFill>
                <a:latin typeface="Microsoft YaHei"/>
              </a:rPr>
              <a:t>答辩检查句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5138928"/>
            <a:ext cx="8732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每一个需求是否都有角色、状态、数据、接口和验收证据？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236208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ChemTrack  /  Web × Desktop Release  /  2026.09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172200"/>
            <a:ext cx="1645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22F31"/>
                </a:solidFill>
                <a:latin typeface="Microsoft YaHei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1476</Words>
  <Application>Microsoft Office PowerPoint</Application>
  <PresentationFormat>宽屏</PresentationFormat>
  <Paragraphs>418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峰鸣 顾</cp:lastModifiedBy>
  <cp:revision>2</cp:revision>
  <dcterms:created xsi:type="dcterms:W3CDTF">2013-01-27T09:14:16Z</dcterms:created>
  <dcterms:modified xsi:type="dcterms:W3CDTF">2026-09-16T15:15:49Z</dcterms:modified>
  <cp:category/>
</cp:coreProperties>
</file>