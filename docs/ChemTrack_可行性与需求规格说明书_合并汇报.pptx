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6" d="100"/>
          <a:sy n="106" d="100"/>
        </p:scale>
        <p:origin x="756" y="11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2026-09-16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2026-09-16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2026-09-16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2026-09-16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2026-09-16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2026-09-16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2026-09-16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2026-09-16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2026-09-16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2026-09-16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2026-09-16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2026-09-16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D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taffy-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252960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530352" y="566928"/>
            <a:ext cx="1143000" cy="301752"/>
          </a:xfrm>
          <a:prstGeom prst="roundRect">
            <a:avLst>
              <a:gd name="adj" fmla="val 8000"/>
            </a:avLst>
          </a:prstGeom>
          <a:solidFill>
            <a:srgbClr val="E0F1EC"/>
          </a:solidFill>
          <a:ln w="10160">
            <a:solidFill>
              <a:srgbClr val="E0F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12648" y="630936"/>
            <a:ext cx="978408" cy="13716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00" b="1" i="0">
                <a:solidFill>
                  <a:srgbClr val="1C5C57"/>
                </a:solidFill>
                <a:latin typeface="Microsoft YaHei"/>
              </a:rPr>
              <a:t>SOFTWARE ENGINEERING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280160"/>
            <a:ext cx="5486400" cy="67665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4200" b="1" i="0">
                <a:solidFill>
                  <a:srgbClr val="122F31"/>
                </a:solidFill>
                <a:latin typeface="Microsoft YaHei"/>
              </a:rPr>
              <a:t>ChemTrack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2121408"/>
            <a:ext cx="5715000" cy="43891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 i="0">
                <a:solidFill>
                  <a:srgbClr val="1C5C57"/>
                </a:solidFill>
                <a:latin typeface="Microsoft YaHei"/>
              </a:rPr>
              <a:t>把危化品管理变成一条可追溯责任链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788920"/>
            <a:ext cx="5029200" cy="29260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677B77"/>
                </a:solidFill>
                <a:latin typeface="Microsoft YaHei"/>
              </a:rPr>
              <a:t>可行性研究与需求规格说明书汇报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3246120"/>
            <a:ext cx="5577840" cy="2286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677B77"/>
                </a:solidFill>
                <a:latin typeface="Microsoft YaHei"/>
              </a:rPr>
              <a:t>顾峰鸣：Web 版     张誉诚：Release 桌面端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5010912"/>
            <a:ext cx="10789920" cy="69494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AE6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850392" y="5212080"/>
            <a:ext cx="658368" cy="256032"/>
          </a:xfrm>
          <a:prstGeom prst="roundRect">
            <a:avLst>
              <a:gd name="adj" fmla="val 8000"/>
            </a:avLst>
          </a:prstGeom>
          <a:solidFill>
            <a:srgbClr val="1C5C57"/>
          </a:solidFill>
          <a:ln w="10160">
            <a:solidFill>
              <a:srgbClr val="1C5C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50392" y="5244084"/>
            <a:ext cx="658368" cy="16459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  <a:latin typeface="Microsoft YaHei"/>
              </a:rPr>
              <a:t>采购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1536192" y="5340096"/>
            <a:ext cx="685800" cy="0"/>
          </a:xfrm>
          <a:prstGeom prst="line">
            <a:avLst/>
          </a:prstGeom>
          <a:ln w="15240">
            <a:solidFill>
              <a:srgbClr val="DAE6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2340864" y="5212080"/>
            <a:ext cx="658368" cy="256032"/>
          </a:xfrm>
          <a:prstGeom prst="roundRect">
            <a:avLst>
              <a:gd name="adj" fmla="val 8000"/>
            </a:avLst>
          </a:prstGeom>
          <a:solidFill>
            <a:srgbClr val="4E90C4"/>
          </a:solidFill>
          <a:ln w="10160">
            <a:solidFill>
              <a:srgbClr val="4E90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2340864" y="5244084"/>
            <a:ext cx="658368" cy="16459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  <a:latin typeface="Microsoft YaHei"/>
              </a:rPr>
              <a:t>入库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3026664" y="5340096"/>
            <a:ext cx="685800" cy="0"/>
          </a:xfrm>
          <a:prstGeom prst="line">
            <a:avLst/>
          </a:prstGeom>
          <a:ln w="15240">
            <a:solidFill>
              <a:srgbClr val="DAE6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3831335" y="5212080"/>
            <a:ext cx="658368" cy="256032"/>
          </a:xfrm>
          <a:prstGeom prst="roundRect">
            <a:avLst>
              <a:gd name="adj" fmla="val 8000"/>
            </a:avLst>
          </a:prstGeom>
          <a:solidFill>
            <a:srgbClr val="E7A13B"/>
          </a:solidFill>
          <a:ln w="10160">
            <a:solidFill>
              <a:srgbClr val="E7A1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831335" y="5244084"/>
            <a:ext cx="658368" cy="16459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  <a:latin typeface="Microsoft YaHei"/>
              </a:rPr>
              <a:t>领用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4517136" y="5340096"/>
            <a:ext cx="685800" cy="0"/>
          </a:xfrm>
          <a:prstGeom prst="line">
            <a:avLst/>
          </a:prstGeom>
          <a:ln w="15240">
            <a:solidFill>
              <a:srgbClr val="DAE6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5321807" y="5212080"/>
            <a:ext cx="658368" cy="256032"/>
          </a:xfrm>
          <a:prstGeom prst="roundRect">
            <a:avLst>
              <a:gd name="adj" fmla="val 8000"/>
            </a:avLst>
          </a:prstGeom>
          <a:solidFill>
            <a:srgbClr val="7D6FB8"/>
          </a:solidFill>
          <a:ln w="10160">
            <a:solidFill>
              <a:srgbClr val="7D6F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321807" y="5244084"/>
            <a:ext cx="658368" cy="16459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  <a:latin typeface="Microsoft YaHei"/>
              </a:rPr>
              <a:t>使用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6007607" y="5340096"/>
            <a:ext cx="685800" cy="0"/>
          </a:xfrm>
          <a:prstGeom prst="line">
            <a:avLst/>
          </a:prstGeom>
          <a:ln w="15240">
            <a:solidFill>
              <a:srgbClr val="DAE6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6812279" y="5212080"/>
            <a:ext cx="658368" cy="256032"/>
          </a:xfrm>
          <a:prstGeom prst="roundRect">
            <a:avLst>
              <a:gd name="adj" fmla="val 8000"/>
            </a:avLst>
          </a:prstGeom>
          <a:solidFill>
            <a:srgbClr val="E26F62"/>
          </a:solidFill>
          <a:ln w="10160">
            <a:solidFill>
              <a:srgbClr val="E26F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812279" y="5244084"/>
            <a:ext cx="658368" cy="16459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  <a:latin typeface="Microsoft YaHei"/>
              </a:rPr>
              <a:t>归还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7498079" y="5340096"/>
            <a:ext cx="685800" cy="0"/>
          </a:xfrm>
          <a:prstGeom prst="line">
            <a:avLst/>
          </a:prstGeom>
          <a:ln w="15240">
            <a:solidFill>
              <a:srgbClr val="DAE6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8302751" y="5212080"/>
            <a:ext cx="658368" cy="256032"/>
          </a:xfrm>
          <a:prstGeom prst="roundRect">
            <a:avLst>
              <a:gd name="adj" fmla="val 8000"/>
            </a:avLst>
          </a:prstGeom>
          <a:solidFill>
            <a:srgbClr val="D77796"/>
          </a:solidFill>
          <a:ln w="10160">
            <a:solidFill>
              <a:srgbClr val="D777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302751" y="5244084"/>
            <a:ext cx="658368" cy="16459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  <a:latin typeface="Microsoft YaHei"/>
              </a:rPr>
              <a:t>处置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8988551" y="5340096"/>
            <a:ext cx="685800" cy="0"/>
          </a:xfrm>
          <a:prstGeom prst="line">
            <a:avLst/>
          </a:prstGeom>
          <a:ln w="15240">
            <a:solidFill>
              <a:srgbClr val="DAE6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9793224" y="5212080"/>
            <a:ext cx="658368" cy="256032"/>
          </a:xfrm>
          <a:prstGeom prst="roundRect">
            <a:avLst>
              <a:gd name="adj" fmla="val 8000"/>
            </a:avLst>
          </a:prstGeom>
          <a:solidFill>
            <a:srgbClr val="1C5C57"/>
          </a:solidFill>
          <a:ln w="10160">
            <a:solidFill>
              <a:srgbClr val="1C5C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9793224" y="5244084"/>
            <a:ext cx="658368" cy="16459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  <a:latin typeface="Microsoft YaHei"/>
              </a:rPr>
              <a:t>审计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94360" y="6153912"/>
            <a:ext cx="3657600" cy="1828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677B77"/>
                </a:solidFill>
                <a:latin typeface="Microsoft YaHei"/>
              </a:rPr>
              <a:t>2026.09  ·  课程设计答辩版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503920" y="6153912"/>
            <a:ext cx="2971800" cy="1828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 i="0">
                <a:solidFill>
                  <a:srgbClr val="1C5C57"/>
                </a:solidFill>
                <a:latin typeface="Microsoft YaHei"/>
              </a:rPr>
              <a:t>WEB  ×  DESKTOP RELEASE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10896"/>
            <a:ext cx="4389120" cy="20116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 i="0">
                <a:solidFill>
                  <a:srgbClr val="1C5C57"/>
                </a:solidFill>
                <a:latin typeface="Microsoft YaHei"/>
              </a:rPr>
              <a:t>01 / 问题与价值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21792"/>
            <a:ext cx="10881360" cy="47548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 i="0">
                <a:solidFill>
                  <a:srgbClr val="122F31"/>
                </a:solidFill>
                <a:latin typeface="Microsoft YaHei"/>
              </a:rPr>
              <a:t>责任链断裂，比功能不足更危险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1161288"/>
            <a:ext cx="10241280" cy="25603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677B77"/>
                </a:solidFill>
                <a:latin typeface="Microsoft YaHei"/>
              </a:rPr>
              <a:t>危化品风险来自跨角色、跨状态的信息断裂；系统目标是把每一批次的证据链连接起来。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02920" y="1554480"/>
            <a:ext cx="11183112" cy="0"/>
          </a:xfrm>
          <a:prstGeom prst="line">
            <a:avLst/>
          </a:prstGeom>
          <a:ln w="11430">
            <a:solidFill>
              <a:srgbClr val="DAE6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0287000" y="6519672"/>
            <a:ext cx="1371600" cy="16459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 i="0">
                <a:solidFill>
                  <a:srgbClr val="677B77"/>
                </a:solidFill>
                <a:latin typeface="Microsoft YaHei"/>
              </a:rPr>
              <a:t>CHEMTRACK  /  02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920240"/>
            <a:ext cx="5257800" cy="3520440"/>
          </a:xfrm>
          <a:prstGeom prst="roundRect">
            <a:avLst>
              <a:gd name="adj" fmla="val 8000"/>
            </a:avLst>
          </a:prstGeom>
          <a:solidFill>
            <a:srgbClr val="FFEBE7"/>
          </a:solidFill>
          <a:ln w="10160">
            <a:solidFill>
              <a:srgbClr val="FFEB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68680" y="2176272"/>
            <a:ext cx="1920240" cy="25603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E26F62"/>
                </a:solidFill>
                <a:latin typeface="Microsoft YaHei"/>
              </a:rPr>
              <a:t>现状断点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96112" y="2697480"/>
            <a:ext cx="210312" cy="210312"/>
          </a:xfrm>
          <a:prstGeom prst="roundRect">
            <a:avLst>
              <a:gd name="adj" fmla="val 8000"/>
            </a:avLst>
          </a:prstGeom>
          <a:solidFill>
            <a:srgbClr val="E26F62"/>
          </a:solidFill>
          <a:ln w="10160">
            <a:solidFill>
              <a:srgbClr val="E26F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96112" y="2697480"/>
            <a:ext cx="210312" cy="21031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216152" y="2688336"/>
            <a:ext cx="4114800" cy="21945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22F31"/>
                </a:solidFill>
                <a:latin typeface="Microsoft YaHei"/>
              </a:rPr>
              <a:t>信息分散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16152" y="2944368"/>
            <a:ext cx="4114800" cy="40233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677B77"/>
                </a:solidFill>
                <a:latin typeface="Microsoft YaHei"/>
              </a:rPr>
              <a:t>账本、表格、口头记录各自独立，库存和有效期无法联动。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96112" y="3474720"/>
            <a:ext cx="210312" cy="210312"/>
          </a:xfrm>
          <a:prstGeom prst="roundRect">
            <a:avLst>
              <a:gd name="adj" fmla="val 8000"/>
            </a:avLst>
          </a:prstGeom>
          <a:solidFill>
            <a:srgbClr val="E26F62"/>
          </a:solidFill>
          <a:ln w="10160">
            <a:solidFill>
              <a:srgbClr val="E26F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96112" y="3474720"/>
            <a:ext cx="210312" cy="21031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216152" y="3465576"/>
            <a:ext cx="4114800" cy="21945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22F31"/>
                </a:solidFill>
                <a:latin typeface="Microsoft YaHei"/>
              </a:rPr>
              <a:t>审批脱节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16152" y="3721608"/>
            <a:ext cx="4114800" cy="40233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677B77"/>
                </a:solidFill>
                <a:latin typeface="Microsoft YaHei"/>
              </a:rPr>
              <a:t>申请、教师审批、管理员复核缺少统一的状态与证据。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96112" y="4251960"/>
            <a:ext cx="210312" cy="210312"/>
          </a:xfrm>
          <a:prstGeom prst="roundRect">
            <a:avLst>
              <a:gd name="adj" fmla="val 8000"/>
            </a:avLst>
          </a:prstGeom>
          <a:solidFill>
            <a:srgbClr val="E26F62"/>
          </a:solidFill>
          <a:ln w="10160">
            <a:solidFill>
              <a:srgbClr val="E26F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96112" y="4251960"/>
            <a:ext cx="210312" cy="21031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216152" y="4242816"/>
            <a:ext cx="4114800" cy="21945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22F31"/>
                </a:solidFill>
                <a:latin typeface="Microsoft YaHei"/>
              </a:rPr>
              <a:t>责任难追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16152" y="4498848"/>
            <a:ext cx="4114800" cy="40233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677B77"/>
                </a:solidFill>
                <a:latin typeface="Microsoft YaHei"/>
              </a:rPr>
              <a:t>使用、归还、处置和异常分散，出问题时难以还原链路。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27648" y="1920240"/>
            <a:ext cx="5257800" cy="3520440"/>
          </a:xfrm>
          <a:prstGeom prst="roundRect">
            <a:avLst>
              <a:gd name="adj" fmla="val 8000"/>
            </a:avLst>
          </a:prstGeom>
          <a:solidFill>
            <a:srgbClr val="E0F1EC"/>
          </a:solidFill>
          <a:ln w="10160">
            <a:solidFill>
              <a:srgbClr val="E0F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601968" y="2176272"/>
            <a:ext cx="2743200" cy="25603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1C5C57"/>
                </a:solidFill>
                <a:latin typeface="Microsoft YaHei"/>
              </a:rPr>
              <a:t>ChemTrack 的回答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629400" y="2697480"/>
            <a:ext cx="210312" cy="210312"/>
          </a:xfrm>
          <a:prstGeom prst="roundRect">
            <a:avLst>
              <a:gd name="adj" fmla="val 8000"/>
            </a:avLst>
          </a:prstGeom>
          <a:solidFill>
            <a:srgbClr val="1C5C57"/>
          </a:solidFill>
          <a:ln w="10160">
            <a:solidFill>
              <a:srgbClr val="1C5C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629400" y="2697480"/>
            <a:ext cx="210312" cy="21031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949440" y="2688336"/>
            <a:ext cx="4114800" cy="21945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22F31"/>
                </a:solidFill>
                <a:latin typeface="Microsoft YaHei"/>
              </a:rPr>
              <a:t>一套台账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949440" y="2944368"/>
            <a:ext cx="4114800" cy="40233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677B77"/>
                </a:solidFill>
                <a:latin typeface="Microsoft YaHei"/>
              </a:rPr>
              <a:t>批次、CAS、有效期、存储要求和二维码统一建档。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629400" y="3474720"/>
            <a:ext cx="210312" cy="210312"/>
          </a:xfrm>
          <a:prstGeom prst="roundRect">
            <a:avLst>
              <a:gd name="adj" fmla="val 8000"/>
            </a:avLst>
          </a:prstGeom>
          <a:solidFill>
            <a:srgbClr val="1C5C57"/>
          </a:solidFill>
          <a:ln w="10160">
            <a:solidFill>
              <a:srgbClr val="1C5C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629400" y="3474720"/>
            <a:ext cx="210312" cy="21031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949440" y="3465576"/>
            <a:ext cx="4114800" cy="21945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22F31"/>
                </a:solidFill>
                <a:latin typeface="Microsoft YaHei"/>
              </a:rPr>
              <a:t>分级审批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949440" y="3721608"/>
            <a:ext cx="4114800" cy="40233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677B77"/>
                </a:solidFill>
                <a:latin typeface="Microsoft YaHei"/>
              </a:rPr>
              <a:t>高风险试剂必须教师审批 + 管理员复核。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629400" y="4251960"/>
            <a:ext cx="210312" cy="210312"/>
          </a:xfrm>
          <a:prstGeom prst="roundRect">
            <a:avLst>
              <a:gd name="adj" fmla="val 8000"/>
            </a:avLst>
          </a:prstGeom>
          <a:solidFill>
            <a:srgbClr val="1C5C57"/>
          </a:solidFill>
          <a:ln w="10160">
            <a:solidFill>
              <a:srgbClr val="1C5C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629400" y="4251960"/>
            <a:ext cx="210312" cy="21031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949440" y="4242816"/>
            <a:ext cx="4114800" cy="21945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22F31"/>
                </a:solidFill>
                <a:latin typeface="Microsoft YaHei"/>
              </a:rPr>
              <a:t>可追溯闭环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949440" y="4498848"/>
            <a:ext cx="4114800" cy="40233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677B77"/>
                </a:solidFill>
                <a:latin typeface="Microsoft YaHei"/>
              </a:rPr>
              <a:t>从采购到处置持续留痕，风险中心主动提示和收敛。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14400" y="5806440"/>
            <a:ext cx="10241280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 i="0">
                <a:solidFill>
                  <a:srgbClr val="122F31"/>
                </a:solidFill>
                <a:latin typeface="Microsoft YaHei"/>
              </a:rPr>
              <a:t>每一批危化品都能回答：从哪里来、谁批准、谁使用、剩多少、如何处置。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02920" y="6519672"/>
            <a:ext cx="4572000" cy="16459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677B77"/>
                </a:solidFill>
                <a:latin typeface="Microsoft YaHei"/>
              </a:rPr>
              <a:t>顾峰鸣 Web 版  ·  张誉诚 Release 桌面端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292840" y="6519672"/>
            <a:ext cx="393192" cy="16459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 i="0">
                <a:solidFill>
                  <a:srgbClr val="677B77"/>
                </a:solidFill>
                <a:latin typeface="Microsoft YaHei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10896"/>
            <a:ext cx="4389120" cy="20116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 i="0">
                <a:solidFill>
                  <a:srgbClr val="1C5C57"/>
                </a:solidFill>
                <a:latin typeface="Microsoft YaHei"/>
              </a:rPr>
              <a:t>02 / 可行性研究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21792"/>
            <a:ext cx="10881360" cy="47548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 i="0">
                <a:solidFill>
                  <a:srgbClr val="122F31"/>
                </a:solidFill>
                <a:latin typeface="Microsoft YaHei"/>
              </a:rPr>
              <a:t>五维可行性：MVP 先落地，再扩展治理能力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1161288"/>
            <a:ext cx="10241280" cy="25603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677B77"/>
                </a:solidFill>
                <a:latin typeface="Microsoft YaHei"/>
              </a:rPr>
              <a:t>技术与操作已验证，经济可控；社会价值明确，法律适用保留学校制度复核边界。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02920" y="1554480"/>
            <a:ext cx="11183112" cy="0"/>
          </a:xfrm>
          <a:prstGeom prst="line">
            <a:avLst/>
          </a:prstGeom>
          <a:ln w="11430">
            <a:solidFill>
              <a:srgbClr val="DAE6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0287000" y="6519672"/>
            <a:ext cx="1371600" cy="16459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 i="0">
                <a:solidFill>
                  <a:srgbClr val="677B77"/>
                </a:solidFill>
                <a:latin typeface="Microsoft YaHei"/>
              </a:rPr>
              <a:t>CHEMTRACK  /  03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03504" y="2057400"/>
            <a:ext cx="1993392" cy="3246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AE6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03504" y="2057400"/>
            <a:ext cx="1993392" cy="146304"/>
          </a:xfrm>
          <a:prstGeom prst="rect">
            <a:avLst/>
          </a:prstGeom>
          <a:solidFill>
            <a:srgbClr val="E7A13B"/>
          </a:solidFill>
          <a:ln w="10160">
            <a:solidFill>
              <a:srgbClr val="E7A1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49808" y="2359152"/>
            <a:ext cx="420624" cy="34747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 i="0">
                <a:solidFill>
                  <a:srgbClr val="E7A13B"/>
                </a:solidFill>
                <a:latin typeface="Microsoft YaHei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825497"/>
            <a:ext cx="1600200" cy="21945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 dirty="0" err="1">
                <a:solidFill>
                  <a:srgbClr val="122F31"/>
                </a:solidFill>
                <a:latin typeface="Microsoft YaHei"/>
              </a:rPr>
              <a:t>经济</a:t>
            </a:r>
            <a:endParaRPr sz="1400" b="1" i="0" dirty="0">
              <a:solidFill>
                <a:srgbClr val="122F31"/>
              </a:solidFill>
              <a:latin typeface="Microsoft YaHei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749808" y="3172968"/>
            <a:ext cx="1600200" cy="20116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E7A13B"/>
                </a:solidFill>
                <a:latin typeface="Microsoft YaHei"/>
              </a:rPr>
              <a:t>低成本复用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3566160"/>
            <a:ext cx="1627632" cy="10972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677B77"/>
                </a:solidFill>
                <a:latin typeface="Microsoft YaHei"/>
              </a:rPr>
              <a:t>已有前后端与桌面端成果，部署与软件采购成本可控。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9808" y="4773168"/>
            <a:ext cx="640080" cy="256032"/>
          </a:xfrm>
          <a:prstGeom prst="roundRect">
            <a:avLst>
              <a:gd name="adj" fmla="val 8000"/>
            </a:avLst>
          </a:prstGeom>
          <a:solidFill>
            <a:srgbClr val="E0F1EC"/>
          </a:solidFill>
          <a:ln w="10160">
            <a:solidFill>
              <a:srgbClr val="E0F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49808" y="4791455"/>
            <a:ext cx="640080" cy="20116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 i="0">
                <a:solidFill>
                  <a:srgbClr val="1C5C57"/>
                </a:solidFill>
                <a:latin typeface="Microsoft YaHei"/>
              </a:rPr>
              <a:t>可验证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907792" y="2057400"/>
            <a:ext cx="1993392" cy="3246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AE6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2907792" y="2057400"/>
            <a:ext cx="1993392" cy="146304"/>
          </a:xfrm>
          <a:prstGeom prst="rect">
            <a:avLst/>
          </a:prstGeom>
          <a:solidFill>
            <a:srgbClr val="4E90C4"/>
          </a:solidFill>
          <a:ln w="10160">
            <a:solidFill>
              <a:srgbClr val="4E90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054096" y="2359152"/>
            <a:ext cx="420624" cy="34747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 i="0">
                <a:solidFill>
                  <a:srgbClr val="4E90C4"/>
                </a:solidFill>
                <a:latin typeface="Microsoft YaHei"/>
              </a:rPr>
              <a:t>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91840" y="2825497"/>
            <a:ext cx="1600200" cy="21945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 dirty="0" err="1">
                <a:solidFill>
                  <a:srgbClr val="122F31"/>
                </a:solidFill>
                <a:latin typeface="Microsoft YaHei"/>
              </a:rPr>
              <a:t>技术</a:t>
            </a:r>
            <a:endParaRPr sz="1400" b="1" i="0" dirty="0">
              <a:solidFill>
                <a:srgbClr val="122F31"/>
              </a:solidFill>
              <a:latin typeface="Microsoft YaHei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3054096" y="3172968"/>
            <a:ext cx="1600200" cy="20116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4E90C4"/>
                </a:solidFill>
                <a:latin typeface="Microsoft YaHei"/>
              </a:rPr>
              <a:t>路线成熟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054096" y="3566160"/>
            <a:ext cx="1627632" cy="10972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677B77"/>
                </a:solidFill>
                <a:latin typeface="Microsoft YaHei"/>
              </a:rPr>
              <a:t>Java 17 + Spring Boot 3.4 + Vue 3 + Vite + MySQL 8 已跑通。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054096" y="4773168"/>
            <a:ext cx="640080" cy="256032"/>
          </a:xfrm>
          <a:prstGeom prst="roundRect">
            <a:avLst>
              <a:gd name="adj" fmla="val 8000"/>
            </a:avLst>
          </a:prstGeom>
          <a:solidFill>
            <a:srgbClr val="E0F1EC"/>
          </a:solidFill>
          <a:ln w="10160">
            <a:solidFill>
              <a:srgbClr val="E0F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3054096" y="4791455"/>
            <a:ext cx="640080" cy="20116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 i="0">
                <a:solidFill>
                  <a:srgbClr val="1C5C57"/>
                </a:solidFill>
                <a:latin typeface="Microsoft YaHei"/>
              </a:rPr>
              <a:t>可验证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212080" y="2057400"/>
            <a:ext cx="1993392" cy="3246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AE6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5212080" y="2057400"/>
            <a:ext cx="1993392" cy="146304"/>
          </a:xfrm>
          <a:prstGeom prst="rect">
            <a:avLst/>
          </a:prstGeom>
          <a:solidFill>
            <a:srgbClr val="1C5C57"/>
          </a:solidFill>
          <a:ln w="10160">
            <a:solidFill>
              <a:srgbClr val="1C5C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358384" y="2359152"/>
            <a:ext cx="420624" cy="34747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 i="0">
                <a:solidFill>
                  <a:srgbClr val="1C5C57"/>
                </a:solidFill>
                <a:latin typeface="Microsoft YaHei"/>
              </a:rPr>
              <a:t>03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591330" y="2834640"/>
            <a:ext cx="1600200" cy="21945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122F31"/>
                </a:solidFill>
                <a:latin typeface="Microsoft YaHei"/>
              </a:rPr>
              <a:t>操作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58384" y="3172968"/>
            <a:ext cx="1600200" cy="20116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1C5C57"/>
                </a:solidFill>
                <a:latin typeface="Microsoft YaHei"/>
              </a:rPr>
              <a:t>角色贴合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358384" y="3566160"/>
            <a:ext cx="1627632" cy="10972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677B77"/>
                </a:solidFill>
                <a:latin typeface="Microsoft YaHei"/>
              </a:rPr>
              <a:t>学生、教师、管理员、安全负责人按业务路径分区操作。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358384" y="4773168"/>
            <a:ext cx="640080" cy="256032"/>
          </a:xfrm>
          <a:prstGeom prst="roundRect">
            <a:avLst>
              <a:gd name="adj" fmla="val 8000"/>
            </a:avLst>
          </a:prstGeom>
          <a:solidFill>
            <a:srgbClr val="E0F1EC"/>
          </a:solidFill>
          <a:ln w="10160">
            <a:solidFill>
              <a:srgbClr val="E0F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5358384" y="4791455"/>
            <a:ext cx="640080" cy="20116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 i="0">
                <a:solidFill>
                  <a:srgbClr val="1C5C57"/>
                </a:solidFill>
                <a:latin typeface="Microsoft YaHei"/>
              </a:rPr>
              <a:t>可验证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516368" y="2057400"/>
            <a:ext cx="1993392" cy="3246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AE6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7516368" y="2057400"/>
            <a:ext cx="1993392" cy="146304"/>
          </a:xfrm>
          <a:prstGeom prst="rect">
            <a:avLst/>
          </a:prstGeom>
          <a:solidFill>
            <a:srgbClr val="7D6FB8"/>
          </a:solidFill>
          <a:ln w="10160">
            <a:solidFill>
              <a:srgbClr val="7D6F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7662672" y="2359152"/>
            <a:ext cx="420624" cy="34747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 i="0">
                <a:solidFill>
                  <a:srgbClr val="7D6FB8"/>
                </a:solidFill>
                <a:latin typeface="Microsoft YaHei"/>
              </a:rPr>
              <a:t>04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872984" y="2834640"/>
            <a:ext cx="1600200" cy="21945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 dirty="0" err="1">
                <a:solidFill>
                  <a:srgbClr val="122F31"/>
                </a:solidFill>
                <a:latin typeface="Microsoft YaHei"/>
              </a:rPr>
              <a:t>社会</a:t>
            </a:r>
            <a:endParaRPr sz="1400" b="1" i="0" dirty="0">
              <a:solidFill>
                <a:srgbClr val="122F31"/>
              </a:solidFill>
              <a:latin typeface="Microsoft YaHei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7662672" y="3172968"/>
            <a:ext cx="1600200" cy="20116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7D6FB8"/>
                </a:solidFill>
                <a:latin typeface="Microsoft YaHei"/>
              </a:rPr>
              <a:t>降低遗漏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662672" y="3566160"/>
            <a:ext cx="1627632" cy="10972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677B77"/>
                </a:solidFill>
                <a:latin typeface="Microsoft YaHei"/>
              </a:rPr>
              <a:t>把安全责任从个人记忆转成流程证据，管理更透明。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662672" y="4773168"/>
            <a:ext cx="640080" cy="256032"/>
          </a:xfrm>
          <a:prstGeom prst="roundRect">
            <a:avLst>
              <a:gd name="adj" fmla="val 8000"/>
            </a:avLst>
          </a:prstGeom>
          <a:solidFill>
            <a:srgbClr val="E0F1EC"/>
          </a:solidFill>
          <a:ln w="10160">
            <a:solidFill>
              <a:srgbClr val="E0F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7662672" y="4791455"/>
            <a:ext cx="640080" cy="20116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 i="0">
                <a:solidFill>
                  <a:srgbClr val="1C5C57"/>
                </a:solidFill>
                <a:latin typeface="Microsoft YaHei"/>
              </a:rPr>
              <a:t>可验证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9820656" y="2057400"/>
            <a:ext cx="1993392" cy="3246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AE6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9820656" y="2057400"/>
            <a:ext cx="1993392" cy="146304"/>
          </a:xfrm>
          <a:prstGeom prst="rect">
            <a:avLst/>
          </a:prstGeom>
          <a:solidFill>
            <a:srgbClr val="E26F62"/>
          </a:solidFill>
          <a:ln w="10160">
            <a:solidFill>
              <a:srgbClr val="E26F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9966960" y="2359152"/>
            <a:ext cx="420624" cy="34747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 i="0">
                <a:solidFill>
                  <a:srgbClr val="E26F62"/>
                </a:solidFill>
                <a:latin typeface="Microsoft YaHei"/>
              </a:rPr>
              <a:t>05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177272" y="2825497"/>
            <a:ext cx="1600200" cy="21945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122F31"/>
                </a:solidFill>
                <a:latin typeface="Microsoft YaHei"/>
              </a:rPr>
              <a:t>法律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966960" y="3172968"/>
            <a:ext cx="1600200" cy="20116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E26F62"/>
                </a:solidFill>
                <a:latin typeface="Microsoft YaHei"/>
              </a:rPr>
              <a:t>制度复核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966960" y="3566160"/>
            <a:ext cx="1627632" cy="10972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677B77"/>
                </a:solidFill>
                <a:latin typeface="Microsoft YaHei"/>
              </a:rPr>
              <a:t>覆盖安全能力，最终制度口径与法律适用由学校审核。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9966960" y="4773168"/>
            <a:ext cx="640080" cy="256032"/>
          </a:xfrm>
          <a:prstGeom prst="roundRect">
            <a:avLst>
              <a:gd name="adj" fmla="val 8000"/>
            </a:avLst>
          </a:prstGeom>
          <a:solidFill>
            <a:srgbClr val="E0F1EC"/>
          </a:solidFill>
          <a:ln w="10160">
            <a:solidFill>
              <a:srgbClr val="E0F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9966960" y="4791455"/>
            <a:ext cx="640080" cy="20116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 i="0">
                <a:solidFill>
                  <a:srgbClr val="1C5C57"/>
                </a:solidFill>
                <a:latin typeface="Microsoft YaHei"/>
              </a:rPr>
              <a:t>可验证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603504" y="5596128"/>
            <a:ext cx="10972800" cy="475488"/>
          </a:xfrm>
          <a:prstGeom prst="roundRect">
            <a:avLst>
              <a:gd name="adj" fmla="val 8000"/>
            </a:avLst>
          </a:prstGeom>
          <a:solidFill>
            <a:srgbClr val="122F31"/>
          </a:solidFill>
          <a:ln w="10160">
            <a:solidFill>
              <a:srgbClr val="122F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822960" y="5705856"/>
            <a:ext cx="10515600" cy="1828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Microsoft YaHei"/>
              </a:rPr>
              <a:t>总判定  /  方案可行，下一阶段重点转向认证、备份、安全和合规治理。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02920" y="6519672"/>
            <a:ext cx="4572000" cy="16459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677B77"/>
                </a:solidFill>
                <a:latin typeface="Microsoft YaHei"/>
              </a:rPr>
              <a:t>顾峰鸣 Web 版  ·  张誉诚 Release 桌面端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1292840" y="6519672"/>
            <a:ext cx="393192" cy="16459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 i="0">
                <a:solidFill>
                  <a:srgbClr val="677B77"/>
                </a:solidFill>
                <a:latin typeface="Microsoft YaHei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10896"/>
            <a:ext cx="4389120" cy="20116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 i="0">
                <a:solidFill>
                  <a:srgbClr val="1C5C57"/>
                </a:solidFill>
                <a:latin typeface="Microsoft YaHei"/>
              </a:rPr>
              <a:t>03 / 系统边界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21792"/>
            <a:ext cx="10881360" cy="47548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 i="0">
                <a:solidFill>
                  <a:srgbClr val="122F31"/>
                </a:solidFill>
                <a:latin typeface="Microsoft YaHei"/>
              </a:rPr>
              <a:t>双端交付，统一一套业务责任链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1161288"/>
            <a:ext cx="10241280" cy="25603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677B77"/>
                </a:solidFill>
                <a:latin typeface="Microsoft YaHei"/>
              </a:rPr>
              <a:t>Web 版面向浏览器操作；Release 桌面端用 WPF + WebView2 封装，启动后端并在退出时回收进程。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02920" y="1554480"/>
            <a:ext cx="11183112" cy="0"/>
          </a:xfrm>
          <a:prstGeom prst="line">
            <a:avLst/>
          </a:prstGeom>
          <a:ln w="11430">
            <a:solidFill>
              <a:srgbClr val="DAE6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0287000" y="6519672"/>
            <a:ext cx="1371600" cy="16459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 i="0">
                <a:solidFill>
                  <a:srgbClr val="677B77"/>
                </a:solidFill>
                <a:latin typeface="Microsoft YaHei"/>
              </a:rPr>
              <a:t>CHEMTRACK  /  04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2148840"/>
            <a:ext cx="2194560" cy="1261872"/>
          </a:xfrm>
          <a:prstGeom prst="roundRect">
            <a:avLst>
              <a:gd name="adj" fmla="val 8000"/>
            </a:avLst>
          </a:prstGeom>
          <a:solidFill>
            <a:srgbClr val="E0F1EC"/>
          </a:solidFill>
          <a:ln w="10160">
            <a:solidFill>
              <a:srgbClr val="DAE6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8" name="Connector 7"/>
          <p:cNvCxnSpPr/>
          <p:nvPr/>
        </p:nvCxnSpPr>
        <p:spPr>
          <a:xfrm>
            <a:off x="685800" y="2148840"/>
            <a:ext cx="2194560" cy="0"/>
          </a:xfrm>
          <a:prstGeom prst="line">
            <a:avLst/>
          </a:prstGeom>
          <a:ln w="29209">
            <a:solidFill>
              <a:srgbClr val="1C5C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813816" y="2295144"/>
            <a:ext cx="1938528" cy="21031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122F31"/>
                </a:solidFill>
                <a:latin typeface="Microsoft YaHei"/>
              </a:rPr>
              <a:t>Web 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3816" y="2587752"/>
            <a:ext cx="1938528" cy="73151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677B77"/>
                </a:solidFill>
                <a:latin typeface="Microsoft YaHei"/>
              </a:rPr>
              <a:t>Vue 3 + Vite
总览、档案、审批、预警、审计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3886200"/>
            <a:ext cx="2194560" cy="1261872"/>
          </a:xfrm>
          <a:prstGeom prst="roundRect">
            <a:avLst>
              <a:gd name="adj" fmla="val 8000"/>
            </a:avLst>
          </a:prstGeom>
          <a:solidFill>
            <a:srgbClr val="FFF4D8"/>
          </a:solidFill>
          <a:ln w="10160">
            <a:solidFill>
              <a:srgbClr val="DAE6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2" name="Connector 11"/>
          <p:cNvCxnSpPr/>
          <p:nvPr/>
        </p:nvCxnSpPr>
        <p:spPr>
          <a:xfrm>
            <a:off x="685800" y="3886200"/>
            <a:ext cx="2194560" cy="0"/>
          </a:xfrm>
          <a:prstGeom prst="line">
            <a:avLst/>
          </a:prstGeom>
          <a:ln w="29209">
            <a:solidFill>
              <a:srgbClr val="E7A1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813816" y="4032504"/>
            <a:ext cx="1938528" cy="21031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122F31"/>
                </a:solidFill>
                <a:latin typeface="Microsoft YaHei"/>
              </a:rPr>
              <a:t>Release 桌面端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3816" y="4325112"/>
            <a:ext cx="1938528" cy="73151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677B77"/>
                </a:solidFill>
                <a:latin typeface="Microsoft YaHei"/>
              </a:rPr>
              <a:t>.NET 8 WPF + WebView2
启动后端、健康检查、回收进程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663440" y="2971800"/>
            <a:ext cx="2331720" cy="1417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AE6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6" name="Connector 15"/>
          <p:cNvCxnSpPr/>
          <p:nvPr/>
        </p:nvCxnSpPr>
        <p:spPr>
          <a:xfrm>
            <a:off x="4663440" y="2971800"/>
            <a:ext cx="2331719" cy="0"/>
          </a:xfrm>
          <a:prstGeom prst="line">
            <a:avLst/>
          </a:prstGeom>
          <a:ln w="29209">
            <a:solidFill>
              <a:srgbClr val="4E90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4791455" y="3118104"/>
            <a:ext cx="2075687" cy="21031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122F31"/>
                </a:solidFill>
                <a:latin typeface="Microsoft YaHei"/>
              </a:rPr>
              <a:t>REST API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91455" y="3410712"/>
            <a:ext cx="2075687" cy="88696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677B77"/>
                </a:solidFill>
                <a:latin typeface="Microsoft YaHei"/>
              </a:rPr>
              <a:t>健康检查
业务状态流转
事务与审计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549640" y="2971800"/>
            <a:ext cx="2377440" cy="1417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AE6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20" name="Connector 19"/>
          <p:cNvCxnSpPr/>
          <p:nvPr/>
        </p:nvCxnSpPr>
        <p:spPr>
          <a:xfrm>
            <a:off x="8549640" y="2971800"/>
            <a:ext cx="2377440" cy="0"/>
          </a:xfrm>
          <a:prstGeom prst="line">
            <a:avLst/>
          </a:prstGeom>
          <a:ln w="29209">
            <a:solidFill>
              <a:srgbClr val="7D6F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8677656" y="3118104"/>
            <a:ext cx="2121408" cy="21031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122F31"/>
                </a:solidFill>
                <a:latin typeface="Microsoft YaHei"/>
              </a:rPr>
              <a:t>MySQL 8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77656" y="3410712"/>
            <a:ext cx="2121408" cy="88696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677B77"/>
                </a:solidFill>
                <a:latin typeface="Microsoft YaHei"/>
              </a:rPr>
              <a:t>users · chemicals
requests · usages
audit_logs · alerts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2926080" y="2779776"/>
            <a:ext cx="1737360" cy="804672"/>
          </a:xfrm>
          <a:prstGeom prst="line">
            <a:avLst/>
          </a:prstGeom>
          <a:ln w="25400">
            <a:solidFill>
              <a:srgbClr val="1C5C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V="1">
            <a:off x="2926080" y="3776472"/>
            <a:ext cx="1737360" cy="740664"/>
          </a:xfrm>
          <a:prstGeom prst="line">
            <a:avLst/>
          </a:prstGeom>
          <a:ln w="25400">
            <a:solidFill>
              <a:srgbClr val="E7A1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6995160" y="3685032"/>
            <a:ext cx="1554480" cy="0"/>
          </a:xfrm>
          <a:prstGeom prst="line">
            <a:avLst/>
          </a:prstGeom>
          <a:ln w="25400">
            <a:solidFill>
              <a:srgbClr val="4E90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3931920" y="5074920"/>
            <a:ext cx="4343400" cy="25603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1C5C57"/>
                </a:solidFill>
                <a:latin typeface="Microsoft YaHei"/>
              </a:rPr>
              <a:t>统一状态 / 统一约束 / 统一留痕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31520" y="5632704"/>
            <a:ext cx="10927080" cy="4846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AE6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932688" y="5769864"/>
            <a:ext cx="10515600" cy="16459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677B77"/>
                </a:solidFill>
                <a:latin typeface="Microsoft YaHei"/>
              </a:rPr>
              <a:t>角色边界：学生提交与归还  ·  教师审批高风险申请  ·  管理员复核、发放、入库  ·  安全负责人处理异常与废弃物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2920" y="6519672"/>
            <a:ext cx="4572000" cy="16459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677B77"/>
                </a:solidFill>
                <a:latin typeface="Microsoft YaHei"/>
              </a:rPr>
              <a:t>顾峰鸣 Web 版  ·  张誉诚 Release 桌面端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292840" y="6519672"/>
            <a:ext cx="393192" cy="16459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 i="0">
                <a:solidFill>
                  <a:srgbClr val="677B77"/>
                </a:solidFill>
                <a:latin typeface="Microsoft YaHei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10896"/>
            <a:ext cx="4389120" cy="20116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 i="0">
                <a:solidFill>
                  <a:srgbClr val="1C5C57"/>
                </a:solidFill>
                <a:latin typeface="Microsoft YaHei"/>
              </a:rPr>
              <a:t>04 / 业务闭环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21792"/>
            <a:ext cx="10881360" cy="47548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 i="0">
                <a:solidFill>
                  <a:srgbClr val="122F31"/>
                </a:solidFill>
                <a:latin typeface="Microsoft YaHei"/>
              </a:rPr>
              <a:t>从采购到处置：每个状态都有下一位责任人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1161288"/>
            <a:ext cx="10241280" cy="25603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677B77"/>
                </a:solidFill>
                <a:latin typeface="Microsoft YaHei"/>
              </a:rPr>
              <a:t>正常链持续记录批次、审批、库存、使用与处置；异常路径负责阻断、预警和闭环处理。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02920" y="1554480"/>
            <a:ext cx="11183112" cy="0"/>
          </a:xfrm>
          <a:prstGeom prst="line">
            <a:avLst/>
          </a:prstGeom>
          <a:ln w="11430">
            <a:solidFill>
              <a:srgbClr val="DAE6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0287000" y="6519672"/>
            <a:ext cx="1371600" cy="16459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 i="0">
                <a:solidFill>
                  <a:srgbClr val="677B77"/>
                </a:solidFill>
                <a:latin typeface="Microsoft YaHei"/>
              </a:rPr>
              <a:t>CHEMTRACK  /  05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298448" y="2907792"/>
            <a:ext cx="777240" cy="0"/>
          </a:xfrm>
          <a:prstGeom prst="line">
            <a:avLst/>
          </a:prstGeom>
          <a:ln w="19050">
            <a:solidFill>
              <a:srgbClr val="DAE6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685800" y="2359152"/>
            <a:ext cx="1207008" cy="10972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AE6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813816" y="2542032"/>
            <a:ext cx="402336" cy="274320"/>
          </a:xfrm>
          <a:prstGeom prst="roundRect">
            <a:avLst>
              <a:gd name="adj" fmla="val 8000"/>
            </a:avLst>
          </a:prstGeom>
          <a:solidFill>
            <a:srgbClr val="1C5C57"/>
          </a:solidFill>
          <a:ln w="10160">
            <a:solidFill>
              <a:srgbClr val="1C5C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13816" y="2596896"/>
            <a:ext cx="402336" cy="13716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 i="0">
                <a:solidFill>
                  <a:srgbClr val="FFFFFF"/>
                </a:solidFill>
                <a:latin typeface="Microsoft YaHei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3816" y="2962656"/>
            <a:ext cx="960120" cy="21031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22F31"/>
                </a:solidFill>
                <a:latin typeface="Microsoft YaHei"/>
              </a:rPr>
              <a:t>采购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715768" y="2907792"/>
            <a:ext cx="777240" cy="0"/>
          </a:xfrm>
          <a:prstGeom prst="line">
            <a:avLst/>
          </a:prstGeom>
          <a:ln w="19050">
            <a:solidFill>
              <a:srgbClr val="DAE6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2103120" y="2359152"/>
            <a:ext cx="1207008" cy="10972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AE6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2231136" y="2542032"/>
            <a:ext cx="402336" cy="274320"/>
          </a:xfrm>
          <a:prstGeom prst="roundRect">
            <a:avLst>
              <a:gd name="adj" fmla="val 8000"/>
            </a:avLst>
          </a:prstGeom>
          <a:solidFill>
            <a:srgbClr val="4E90C4"/>
          </a:solidFill>
          <a:ln w="10160">
            <a:solidFill>
              <a:srgbClr val="4E90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2231136" y="2596896"/>
            <a:ext cx="402336" cy="13716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 i="0">
                <a:solidFill>
                  <a:srgbClr val="FFFFFF"/>
                </a:solidFill>
                <a:latin typeface="Microsoft YaHei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31136" y="2962656"/>
            <a:ext cx="960120" cy="21031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22F31"/>
                </a:solidFill>
                <a:latin typeface="Microsoft YaHei"/>
              </a:rPr>
              <a:t>入库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133088" y="2907792"/>
            <a:ext cx="777240" cy="0"/>
          </a:xfrm>
          <a:prstGeom prst="line">
            <a:avLst/>
          </a:prstGeom>
          <a:ln w="19050">
            <a:solidFill>
              <a:srgbClr val="DAE6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3520440" y="2359152"/>
            <a:ext cx="1207008" cy="10972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AE6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3648456" y="2542032"/>
            <a:ext cx="402336" cy="274320"/>
          </a:xfrm>
          <a:prstGeom prst="roundRect">
            <a:avLst>
              <a:gd name="adj" fmla="val 8000"/>
            </a:avLst>
          </a:prstGeom>
          <a:solidFill>
            <a:srgbClr val="E7A13B"/>
          </a:solidFill>
          <a:ln w="10160">
            <a:solidFill>
              <a:srgbClr val="E7A1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3648456" y="2596896"/>
            <a:ext cx="402336" cy="13716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 i="0">
                <a:solidFill>
                  <a:srgbClr val="FFFFFF"/>
                </a:solidFill>
                <a:latin typeface="Microsoft YaHei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48456" y="2962656"/>
            <a:ext cx="960120" cy="21031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22F31"/>
                </a:solidFill>
                <a:latin typeface="Microsoft YaHei"/>
              </a:rPr>
              <a:t>领用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5550408" y="2907792"/>
            <a:ext cx="777240" cy="0"/>
          </a:xfrm>
          <a:prstGeom prst="line">
            <a:avLst/>
          </a:prstGeom>
          <a:ln w="19050">
            <a:solidFill>
              <a:srgbClr val="DAE6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4937760" y="2359152"/>
            <a:ext cx="1207008" cy="10972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AE6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5065776" y="2542032"/>
            <a:ext cx="402336" cy="274320"/>
          </a:xfrm>
          <a:prstGeom prst="roundRect">
            <a:avLst>
              <a:gd name="adj" fmla="val 8000"/>
            </a:avLst>
          </a:prstGeom>
          <a:solidFill>
            <a:srgbClr val="7D6FB8"/>
          </a:solidFill>
          <a:ln w="10160">
            <a:solidFill>
              <a:srgbClr val="7D6F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065776" y="2596896"/>
            <a:ext cx="402336" cy="13716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 i="0">
                <a:solidFill>
                  <a:srgbClr val="FFFFFF"/>
                </a:solidFill>
                <a:latin typeface="Microsoft YaHei"/>
              </a:rPr>
              <a:t>04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65776" y="2962656"/>
            <a:ext cx="960120" cy="21031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22F31"/>
                </a:solidFill>
                <a:latin typeface="Microsoft YaHei"/>
              </a:rPr>
              <a:t>使用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6967728" y="2907792"/>
            <a:ext cx="777240" cy="0"/>
          </a:xfrm>
          <a:prstGeom prst="line">
            <a:avLst/>
          </a:prstGeom>
          <a:ln w="19050">
            <a:solidFill>
              <a:srgbClr val="DAE6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6355080" y="2359152"/>
            <a:ext cx="1207008" cy="10972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AE6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ounded Rectangle 28"/>
          <p:cNvSpPr/>
          <p:nvPr/>
        </p:nvSpPr>
        <p:spPr>
          <a:xfrm>
            <a:off x="6483096" y="2542032"/>
            <a:ext cx="402336" cy="274320"/>
          </a:xfrm>
          <a:prstGeom prst="roundRect">
            <a:avLst>
              <a:gd name="adj" fmla="val 8000"/>
            </a:avLst>
          </a:prstGeom>
          <a:solidFill>
            <a:srgbClr val="E26F62"/>
          </a:solidFill>
          <a:ln w="10160">
            <a:solidFill>
              <a:srgbClr val="E26F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483096" y="2596896"/>
            <a:ext cx="402336" cy="13716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 i="0">
                <a:solidFill>
                  <a:srgbClr val="FFFFFF"/>
                </a:solidFill>
                <a:latin typeface="Microsoft YaHei"/>
              </a:rPr>
              <a:t>05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83096" y="2962656"/>
            <a:ext cx="960120" cy="21031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22F31"/>
                </a:solidFill>
                <a:latin typeface="Microsoft YaHei"/>
              </a:rPr>
              <a:t>归还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8385048" y="2907792"/>
            <a:ext cx="777240" cy="0"/>
          </a:xfrm>
          <a:prstGeom prst="line">
            <a:avLst/>
          </a:prstGeom>
          <a:ln w="19050">
            <a:solidFill>
              <a:srgbClr val="DAE6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7772400" y="2359152"/>
            <a:ext cx="1207008" cy="10972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AE6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ounded Rectangle 33"/>
          <p:cNvSpPr/>
          <p:nvPr/>
        </p:nvSpPr>
        <p:spPr>
          <a:xfrm>
            <a:off x="7900416" y="2542032"/>
            <a:ext cx="402336" cy="274320"/>
          </a:xfrm>
          <a:prstGeom prst="roundRect">
            <a:avLst>
              <a:gd name="adj" fmla="val 8000"/>
            </a:avLst>
          </a:prstGeom>
          <a:solidFill>
            <a:srgbClr val="D77796"/>
          </a:solidFill>
          <a:ln w="10160">
            <a:solidFill>
              <a:srgbClr val="D777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7900416" y="2596896"/>
            <a:ext cx="402336" cy="13716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 i="0">
                <a:solidFill>
                  <a:srgbClr val="FFFFFF"/>
                </a:solidFill>
                <a:latin typeface="Microsoft YaHei"/>
              </a:rPr>
              <a:t>06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900416" y="2962656"/>
            <a:ext cx="960120" cy="21031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22F31"/>
                </a:solidFill>
                <a:latin typeface="Microsoft YaHei"/>
              </a:rPr>
              <a:t>预警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9802368" y="2907792"/>
            <a:ext cx="777240" cy="0"/>
          </a:xfrm>
          <a:prstGeom prst="line">
            <a:avLst/>
          </a:prstGeom>
          <a:ln w="19050">
            <a:solidFill>
              <a:srgbClr val="DAE6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ounded Rectangle 37"/>
          <p:cNvSpPr/>
          <p:nvPr/>
        </p:nvSpPr>
        <p:spPr>
          <a:xfrm>
            <a:off x="9189720" y="2359152"/>
            <a:ext cx="1207008" cy="10972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AE6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ounded Rectangle 38"/>
          <p:cNvSpPr/>
          <p:nvPr/>
        </p:nvSpPr>
        <p:spPr>
          <a:xfrm>
            <a:off x="9317736" y="2542032"/>
            <a:ext cx="402336" cy="274320"/>
          </a:xfrm>
          <a:prstGeom prst="roundRect">
            <a:avLst>
              <a:gd name="adj" fmla="val 8000"/>
            </a:avLst>
          </a:prstGeom>
          <a:solidFill>
            <a:srgbClr val="1C5C57"/>
          </a:solidFill>
          <a:ln w="10160">
            <a:solidFill>
              <a:srgbClr val="1C5C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9317736" y="2596896"/>
            <a:ext cx="402336" cy="13716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 i="0">
                <a:solidFill>
                  <a:srgbClr val="FFFFFF"/>
                </a:solidFill>
                <a:latin typeface="Microsoft YaHei"/>
              </a:rPr>
              <a:t>07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317736" y="2962656"/>
            <a:ext cx="960120" cy="21031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22F31"/>
                </a:solidFill>
                <a:latin typeface="Microsoft YaHei"/>
              </a:rPr>
              <a:t>处置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10607040" y="2359152"/>
            <a:ext cx="1207008" cy="10972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AE6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ounded Rectangle 42"/>
          <p:cNvSpPr/>
          <p:nvPr/>
        </p:nvSpPr>
        <p:spPr>
          <a:xfrm>
            <a:off x="10735056" y="2542032"/>
            <a:ext cx="402336" cy="274320"/>
          </a:xfrm>
          <a:prstGeom prst="roundRect">
            <a:avLst>
              <a:gd name="adj" fmla="val 8000"/>
            </a:avLst>
          </a:prstGeom>
          <a:solidFill>
            <a:srgbClr val="122F31"/>
          </a:solidFill>
          <a:ln w="10160">
            <a:solidFill>
              <a:srgbClr val="122F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10735056" y="2596896"/>
            <a:ext cx="402336" cy="13716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 i="0">
                <a:solidFill>
                  <a:srgbClr val="FFFFFF"/>
                </a:solidFill>
                <a:latin typeface="Microsoft YaHei"/>
              </a:rPr>
              <a:t>08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735056" y="2962656"/>
            <a:ext cx="960120" cy="21031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22F31"/>
                </a:solidFill>
                <a:latin typeface="Microsoft YaHei"/>
              </a:rPr>
              <a:t>审计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713232" y="4069080"/>
            <a:ext cx="5349240" cy="1234440"/>
          </a:xfrm>
          <a:prstGeom prst="roundRect">
            <a:avLst>
              <a:gd name="adj" fmla="val 8000"/>
            </a:avLst>
          </a:prstGeom>
          <a:solidFill>
            <a:srgbClr val="E0F1EC"/>
          </a:solidFill>
          <a:ln w="10160">
            <a:solidFill>
              <a:srgbClr val="E0F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941832" y="4297680"/>
            <a:ext cx="914400" cy="20116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C5C57"/>
                </a:solidFill>
                <a:latin typeface="Microsoft YaHei"/>
              </a:rPr>
              <a:t>正常链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41832" y="4645152"/>
            <a:ext cx="4800600" cy="4114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122F31"/>
                </a:solidFill>
                <a:latin typeface="Microsoft YaHei"/>
              </a:rPr>
              <a:t>待采购 → 采购中 → 待验收 → 已入库 → 可领用 → 分级审批 → 已发放 → 使用中 → 已归还 → 待处置 → 已处置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6236208" y="4069080"/>
            <a:ext cx="5285232" cy="1234440"/>
          </a:xfrm>
          <a:prstGeom prst="roundRect">
            <a:avLst>
              <a:gd name="adj" fmla="val 8000"/>
            </a:avLst>
          </a:prstGeom>
          <a:solidFill>
            <a:srgbClr val="FFEBE7"/>
          </a:solidFill>
          <a:ln w="10160">
            <a:solidFill>
              <a:srgbClr val="FFEB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6464808" y="4297680"/>
            <a:ext cx="1005840" cy="20116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E26F62"/>
                </a:solidFill>
                <a:latin typeface="Microsoft YaHei"/>
              </a:rPr>
              <a:t>异常分支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464808" y="4645152"/>
            <a:ext cx="4617720" cy="20116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122F31"/>
                </a:solidFill>
                <a:latin typeface="Microsoft YaHei"/>
              </a:rPr>
              <a:t>库存不足 / 已过期 / 审批驳回 / 归还不一致 / 泄漏 / 存储异常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464808" y="4919472"/>
            <a:ext cx="4617720" cy="20116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677B77"/>
                </a:solidFill>
                <a:latin typeface="Microsoft YaHei"/>
              </a:rPr>
              <a:t>→ 阻断正常领用，生成预警或异常事件，进入处理与审计闭环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02920" y="6519672"/>
            <a:ext cx="4572000" cy="16459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677B77"/>
                </a:solidFill>
                <a:latin typeface="Microsoft YaHei"/>
              </a:rPr>
              <a:t>顾峰鸣 Web 版  ·  张誉诚 Release 桌面端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1292840" y="6519672"/>
            <a:ext cx="393192" cy="16459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 i="0">
                <a:solidFill>
                  <a:srgbClr val="677B77"/>
                </a:solidFill>
                <a:latin typeface="Microsoft YaHei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10896"/>
            <a:ext cx="4389120" cy="20116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 i="0">
                <a:solidFill>
                  <a:srgbClr val="1C5C57"/>
                </a:solidFill>
                <a:latin typeface="Microsoft YaHei"/>
              </a:rPr>
              <a:t>05 / 需求规格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21792"/>
            <a:ext cx="10881360" cy="47548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 i="0">
                <a:solidFill>
                  <a:srgbClr val="122F31"/>
                </a:solidFill>
                <a:latin typeface="Microsoft YaHei"/>
              </a:rPr>
              <a:t>功能需求：围绕危化品全生命周期形成闭环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1161288"/>
            <a:ext cx="10241280" cy="25603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677B77"/>
                </a:solidFill>
                <a:latin typeface="Microsoft YaHei"/>
              </a:rPr>
              <a:t>每个核心动作都有角色边界、状态变化、数据对象和审计记录。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02920" y="1554480"/>
            <a:ext cx="11183112" cy="0"/>
          </a:xfrm>
          <a:prstGeom prst="line">
            <a:avLst/>
          </a:prstGeom>
          <a:ln w="11430">
            <a:solidFill>
              <a:srgbClr val="DAE6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0287000" y="6519672"/>
            <a:ext cx="1371600" cy="16459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 i="0">
                <a:solidFill>
                  <a:srgbClr val="677B77"/>
                </a:solidFill>
                <a:latin typeface="Microsoft YaHei"/>
              </a:rPr>
              <a:t>CHEMTRACK  /  06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2057400"/>
            <a:ext cx="3383280" cy="122529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AE6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85800" y="2057400"/>
            <a:ext cx="109728" cy="1225296"/>
          </a:xfrm>
          <a:prstGeom prst="rect">
            <a:avLst/>
          </a:prstGeom>
          <a:solidFill>
            <a:srgbClr val="1C5C57"/>
          </a:solidFill>
          <a:ln w="10160">
            <a:solidFill>
              <a:srgbClr val="1C5C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23544" y="2231136"/>
            <a:ext cx="685800" cy="1828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 i="0">
                <a:solidFill>
                  <a:srgbClr val="1C5C57"/>
                </a:solidFill>
                <a:latin typeface="Microsoft YaHei"/>
              </a:rPr>
              <a:t>FR-01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3544" y="2487168"/>
            <a:ext cx="2651760" cy="2286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122F31"/>
                </a:solidFill>
                <a:latin typeface="Microsoft YaHei"/>
              </a:rPr>
              <a:t>批次档案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544" y="2807208"/>
            <a:ext cx="2834640" cy="28346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677B77"/>
                </a:solidFill>
                <a:latin typeface="Microsoft YaHei"/>
              </a:rPr>
              <a:t>CAS、有效期、存储要求、二维码和位置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07992" y="2057400"/>
            <a:ext cx="3383280" cy="122529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AE6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507992" y="2057400"/>
            <a:ext cx="109728" cy="1225296"/>
          </a:xfrm>
          <a:prstGeom prst="rect">
            <a:avLst/>
          </a:prstGeom>
          <a:solidFill>
            <a:srgbClr val="4E90C4"/>
          </a:solidFill>
          <a:ln w="10160">
            <a:solidFill>
              <a:srgbClr val="4E90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745736" y="2231136"/>
            <a:ext cx="685800" cy="1828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 i="0">
                <a:solidFill>
                  <a:srgbClr val="4E90C4"/>
                </a:solidFill>
                <a:latin typeface="Microsoft YaHei"/>
              </a:rPr>
              <a:t>FR-02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45736" y="2487168"/>
            <a:ext cx="2651760" cy="2286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122F31"/>
                </a:solidFill>
                <a:latin typeface="Microsoft YaHei"/>
              </a:rPr>
              <a:t>采购入库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45736" y="2807208"/>
            <a:ext cx="2834640" cy="28346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677B77"/>
                </a:solidFill>
                <a:latin typeface="Microsoft YaHei"/>
              </a:rPr>
              <a:t>申请 → 审批 → 采购中 → 验收 → 入库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330183" y="2057400"/>
            <a:ext cx="3383280" cy="122529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AE6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8330183" y="2057400"/>
            <a:ext cx="109728" cy="1225296"/>
          </a:xfrm>
          <a:prstGeom prst="rect">
            <a:avLst/>
          </a:prstGeom>
          <a:solidFill>
            <a:srgbClr val="E7A13B"/>
          </a:solidFill>
          <a:ln w="10160">
            <a:solidFill>
              <a:srgbClr val="E7A1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567928" y="2231136"/>
            <a:ext cx="685800" cy="1828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 i="0">
                <a:solidFill>
                  <a:srgbClr val="E7A13B"/>
                </a:solidFill>
                <a:latin typeface="Microsoft YaHei"/>
              </a:rPr>
              <a:t>FR-03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67928" y="2487168"/>
            <a:ext cx="2651760" cy="2286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122F31"/>
                </a:solidFill>
                <a:latin typeface="Microsoft YaHei"/>
              </a:rPr>
              <a:t>领用审批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67928" y="2807208"/>
            <a:ext cx="2834640" cy="28346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677B77"/>
                </a:solidFill>
                <a:latin typeface="Microsoft YaHei"/>
              </a:rPr>
              <a:t>普通试剂单级审批，高风险双重审批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3630168"/>
            <a:ext cx="3383280" cy="122529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AE6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685800" y="3630168"/>
            <a:ext cx="109728" cy="1225296"/>
          </a:xfrm>
          <a:prstGeom prst="rect">
            <a:avLst/>
          </a:prstGeom>
          <a:solidFill>
            <a:srgbClr val="7D6FB8"/>
          </a:solidFill>
          <a:ln w="10160">
            <a:solidFill>
              <a:srgbClr val="7D6F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23544" y="3803904"/>
            <a:ext cx="685800" cy="1828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 i="0">
                <a:solidFill>
                  <a:srgbClr val="7D6FB8"/>
                </a:solidFill>
                <a:latin typeface="Microsoft YaHei"/>
              </a:rPr>
              <a:t>FR-04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3544" y="4059935"/>
            <a:ext cx="2651760" cy="2286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122F31"/>
                </a:solidFill>
                <a:latin typeface="Microsoft YaHei"/>
              </a:rPr>
              <a:t>出库与使用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23544" y="4379976"/>
            <a:ext cx="2834640" cy="28346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677B77"/>
                </a:solidFill>
                <a:latin typeface="Microsoft YaHei"/>
              </a:rPr>
              <a:t>办理发放时事务扣减库存，建立使用记录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507992" y="3630168"/>
            <a:ext cx="3383280" cy="122529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AE6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4507992" y="3630168"/>
            <a:ext cx="109728" cy="1225296"/>
          </a:xfrm>
          <a:prstGeom prst="rect">
            <a:avLst/>
          </a:prstGeom>
          <a:solidFill>
            <a:srgbClr val="E26F62"/>
          </a:solidFill>
          <a:ln w="10160">
            <a:solidFill>
              <a:srgbClr val="E26F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4745736" y="3803904"/>
            <a:ext cx="685800" cy="1828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 i="0">
                <a:solidFill>
                  <a:srgbClr val="E26F62"/>
                </a:solidFill>
                <a:latin typeface="Microsoft YaHei"/>
              </a:rPr>
              <a:t>FR-05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745736" y="4059935"/>
            <a:ext cx="2651760" cy="2286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122F31"/>
                </a:solidFill>
                <a:latin typeface="Microsoft YaHei"/>
              </a:rPr>
              <a:t>归还登记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745736" y="4379976"/>
            <a:ext cx="2834640" cy="28346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677B77"/>
                </a:solidFill>
                <a:latin typeface="Microsoft YaHei"/>
              </a:rPr>
              <a:t>实际使用量、归还量、异常说明与库存回补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330183" y="3630168"/>
            <a:ext cx="3383280" cy="122529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AE6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8330183" y="3630168"/>
            <a:ext cx="109728" cy="1225296"/>
          </a:xfrm>
          <a:prstGeom prst="rect">
            <a:avLst/>
          </a:prstGeom>
          <a:solidFill>
            <a:srgbClr val="D77796"/>
          </a:solidFill>
          <a:ln w="10160">
            <a:solidFill>
              <a:srgbClr val="D777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8567928" y="3803904"/>
            <a:ext cx="685800" cy="1828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 i="0">
                <a:solidFill>
                  <a:srgbClr val="D77796"/>
                </a:solidFill>
                <a:latin typeface="Microsoft YaHei"/>
              </a:rPr>
              <a:t>FR-06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567928" y="4059935"/>
            <a:ext cx="2651760" cy="2286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122F31"/>
                </a:solidFill>
                <a:latin typeface="Microsoft YaHei"/>
              </a:rPr>
              <a:t>风险与审计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567928" y="4379976"/>
            <a:ext cx="2834640" cy="28346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677B77"/>
                </a:solidFill>
                <a:latin typeface="Microsoft YaHei"/>
              </a:rPr>
              <a:t>预警、异常、废弃物和汇总报表全程留痕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85800" y="5504688"/>
            <a:ext cx="10826496" cy="475488"/>
          </a:xfrm>
          <a:prstGeom prst="roundRect">
            <a:avLst>
              <a:gd name="adj" fmla="val 8000"/>
            </a:avLst>
          </a:prstGeom>
          <a:solidFill>
            <a:srgbClr val="122F31"/>
          </a:solidFill>
          <a:ln w="10160">
            <a:solidFill>
              <a:srgbClr val="122F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868680" y="5641848"/>
            <a:ext cx="10424160" cy="16459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Microsoft YaHei"/>
              </a:rPr>
              <a:t>验收口径：角色可执行  ·  状态可追踪  ·  库存可校验  ·  关键动作可审计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02920" y="6519672"/>
            <a:ext cx="4572000" cy="16459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677B77"/>
                </a:solidFill>
                <a:latin typeface="Microsoft YaHei"/>
              </a:rPr>
              <a:t>顾峰鸣 Web 版  ·  张誉诚 Release 桌面端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292840" y="6519672"/>
            <a:ext cx="393192" cy="16459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 i="0">
                <a:solidFill>
                  <a:srgbClr val="677B77"/>
                </a:solidFill>
                <a:latin typeface="Microsoft YaHei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10896"/>
            <a:ext cx="4389120" cy="20116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 i="0">
                <a:solidFill>
                  <a:srgbClr val="1C5C57"/>
                </a:solidFill>
                <a:latin typeface="Microsoft YaHei"/>
              </a:rPr>
              <a:t>06 / 质量与边界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21792"/>
            <a:ext cx="10881360" cy="47548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 i="0">
                <a:solidFill>
                  <a:srgbClr val="122F31"/>
                </a:solidFill>
                <a:latin typeface="Microsoft YaHei"/>
              </a:rPr>
              <a:t>把“能运行”变成“可依赖”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1161288"/>
            <a:ext cx="10241280" cy="25603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677B77"/>
                </a:solidFill>
                <a:latin typeface="Microsoft YaHei"/>
              </a:rPr>
              <a:t>性能、可靠性、可用性和出错处理共同决定安全系统的可信度；系统边界先于扩展路线。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02920" y="1554480"/>
            <a:ext cx="11183112" cy="0"/>
          </a:xfrm>
          <a:prstGeom prst="line">
            <a:avLst/>
          </a:prstGeom>
          <a:ln w="11430">
            <a:solidFill>
              <a:srgbClr val="DAE6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0287000" y="6519672"/>
            <a:ext cx="1371600" cy="16459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 i="0">
                <a:solidFill>
                  <a:srgbClr val="677B77"/>
                </a:solidFill>
                <a:latin typeface="Microsoft YaHei"/>
              </a:rPr>
              <a:t>CHEMTRACK  /  07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2011680"/>
            <a:ext cx="2487168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AE6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50392" y="2212848"/>
            <a:ext cx="1188720" cy="20116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4E90C4"/>
                </a:solidFill>
                <a:latin typeface="Microsoft YaHei"/>
              </a:rPr>
              <a:t>性能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" y="2560320"/>
            <a:ext cx="2103120" cy="49377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122F31"/>
                </a:solidFill>
                <a:latin typeface="Microsoft YaHei"/>
              </a:rPr>
              <a:t>课堂演示规模下列表与查询即时反馈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392" y="3236976"/>
            <a:ext cx="2103120" cy="2286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677B77"/>
                </a:solidFill>
                <a:latin typeface="Microsoft YaHei"/>
              </a:rPr>
              <a:t>验证  /  接口响应与边界数据测试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502152" y="2011680"/>
            <a:ext cx="2487168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AE6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666744" y="2212848"/>
            <a:ext cx="1188720" cy="20116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1C5C57"/>
                </a:solidFill>
                <a:latin typeface="Microsoft YaHei"/>
              </a:rPr>
              <a:t>可靠性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66744" y="2560320"/>
            <a:ext cx="2103120" cy="49377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122F31"/>
                </a:solidFill>
                <a:latin typeface="Microsoft YaHei"/>
              </a:rPr>
              <a:t>出库、归还使用事务，库存不能小于 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66744" y="3236976"/>
            <a:ext cx="2103120" cy="2286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677B77"/>
                </a:solidFill>
                <a:latin typeface="Microsoft YaHei"/>
              </a:rPr>
              <a:t>验证  /  异常回滚与日志核对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18504" y="2011680"/>
            <a:ext cx="2487168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AE6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83096" y="2212848"/>
            <a:ext cx="1188720" cy="20116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E7A13B"/>
                </a:solidFill>
                <a:latin typeface="Microsoft YaHei"/>
              </a:rPr>
              <a:t>可用性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83096" y="2560320"/>
            <a:ext cx="2103120" cy="49377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122F31"/>
                </a:solidFill>
                <a:latin typeface="Microsoft YaHei"/>
              </a:rPr>
              <a:t>后端未启动时进入演示数据模式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83096" y="3236976"/>
            <a:ext cx="2103120" cy="2286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677B77"/>
                </a:solidFill>
                <a:latin typeface="Microsoft YaHei"/>
              </a:rPr>
              <a:t>验证  /  断后端与恢复场景演示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134856" y="2011680"/>
            <a:ext cx="2487168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AE6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299448" y="2212848"/>
            <a:ext cx="1188720" cy="20116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E26F62"/>
                </a:solidFill>
                <a:latin typeface="Microsoft YaHei"/>
              </a:rPr>
              <a:t>出错处理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99448" y="2560320"/>
            <a:ext cx="2103120" cy="49377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122F31"/>
                </a:solidFill>
                <a:latin typeface="Microsoft YaHei"/>
              </a:rPr>
              <a:t>越权、过期、库存不足时阻断提交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99448" y="3236976"/>
            <a:ext cx="2103120" cy="2286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677B77"/>
                </a:solidFill>
                <a:latin typeface="Microsoft YaHei"/>
              </a:rPr>
              <a:t>验证  /  错误提示与阻断规则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85800" y="3977639"/>
            <a:ext cx="5230368" cy="1417320"/>
          </a:xfrm>
          <a:prstGeom prst="roundRect">
            <a:avLst>
              <a:gd name="adj" fmla="val 8000"/>
            </a:avLst>
          </a:prstGeom>
          <a:solidFill>
            <a:srgbClr val="FFEBE7"/>
          </a:solidFill>
          <a:ln w="10160">
            <a:solidFill>
              <a:srgbClr val="FFEB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32688" y="4224528"/>
            <a:ext cx="2743200" cy="20116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E26F62"/>
                </a:solidFill>
                <a:latin typeface="Microsoft YaHei"/>
              </a:rPr>
              <a:t>逆向需求：系统绝不能做什么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2688" y="4590288"/>
            <a:ext cx="4297680" cy="56692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122F31"/>
                </a:solidFill>
                <a:latin typeface="Microsoft YaHei"/>
              </a:rPr>
              <a:t>不能绕过审批直接出库
不能出现负库存
不能删除关键审计事实
不能把演示数据当真实台账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181344" y="3977639"/>
            <a:ext cx="5340096" cy="1417320"/>
          </a:xfrm>
          <a:prstGeom prst="roundRect">
            <a:avLst>
              <a:gd name="adj" fmla="val 8000"/>
            </a:avLst>
          </a:prstGeom>
          <a:solidFill>
            <a:srgbClr val="E0F1EC"/>
          </a:solidFill>
          <a:ln w="10160">
            <a:solidFill>
              <a:srgbClr val="E0F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428232" y="4224528"/>
            <a:ext cx="2743200" cy="20116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C5C57"/>
                </a:solidFill>
                <a:latin typeface="Microsoft YaHei"/>
              </a:rPr>
              <a:t>下一阶段：扩展治理能力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28232" y="4590288"/>
            <a:ext cx="4434840" cy="56692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122F31"/>
                </a:solidFill>
                <a:latin typeface="Microsoft YaHei"/>
              </a:rPr>
              <a:t>JWT 登录与细粒度权限
通知中心、移动端、报表增强
批次与处置记录进一步细化
法规规则可配置、可审计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2920" y="6519672"/>
            <a:ext cx="4572000" cy="16459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677B77"/>
                </a:solidFill>
                <a:latin typeface="Microsoft YaHei"/>
              </a:rPr>
              <a:t>顾峰鸣 Web 版  ·  张誉诚 Release 桌面端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292840" y="6519672"/>
            <a:ext cx="393192" cy="16459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 i="0">
                <a:solidFill>
                  <a:srgbClr val="677B77"/>
                </a:solidFill>
                <a:latin typeface="Microsoft YaHei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10896"/>
            <a:ext cx="4389120" cy="20116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 i="0">
                <a:solidFill>
                  <a:srgbClr val="1C5C57"/>
                </a:solidFill>
                <a:latin typeface="Microsoft YaHei"/>
              </a:rPr>
              <a:t>07 / 建模证据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21792"/>
            <a:ext cx="10881360" cy="47548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 i="0">
                <a:solidFill>
                  <a:srgbClr val="122F31"/>
                </a:solidFill>
                <a:latin typeface="Microsoft YaHei"/>
              </a:rPr>
              <a:t>DFD：角色、处理、数据存储形成可追踪链路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1161288"/>
            <a:ext cx="10241280" cy="25603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677B77"/>
                </a:solidFill>
                <a:latin typeface="Microsoft YaHei"/>
              </a:rPr>
              <a:t>需求中的每个业务动作，都能在处理过程和数据存储中找到位置。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02920" y="1554480"/>
            <a:ext cx="11183112" cy="0"/>
          </a:xfrm>
          <a:prstGeom prst="line">
            <a:avLst/>
          </a:prstGeom>
          <a:ln w="11430">
            <a:solidFill>
              <a:srgbClr val="DAE6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0287000" y="6519672"/>
            <a:ext cx="1371600" cy="16459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 i="0">
                <a:solidFill>
                  <a:srgbClr val="677B77"/>
                </a:solidFill>
                <a:latin typeface="Microsoft YaHei"/>
              </a:rPr>
              <a:t>CHEMTRACK  /  08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2240280"/>
            <a:ext cx="1874519" cy="2148840"/>
          </a:xfrm>
          <a:prstGeom prst="roundRect">
            <a:avLst>
              <a:gd name="adj" fmla="val 8000"/>
            </a:avLst>
          </a:prstGeom>
          <a:solidFill>
            <a:srgbClr val="FFF4D8"/>
          </a:solidFill>
          <a:ln w="10160">
            <a:solidFill>
              <a:srgbClr val="DAE6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8" name="Connector 7"/>
          <p:cNvCxnSpPr/>
          <p:nvPr/>
        </p:nvCxnSpPr>
        <p:spPr>
          <a:xfrm>
            <a:off x="658368" y="2240280"/>
            <a:ext cx="1874519" cy="0"/>
          </a:xfrm>
          <a:prstGeom prst="line">
            <a:avLst/>
          </a:prstGeom>
          <a:ln w="29209">
            <a:solidFill>
              <a:srgbClr val="E7A1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786384" y="2386584"/>
            <a:ext cx="1618487" cy="21031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122F31"/>
                </a:solidFill>
                <a:latin typeface="Microsoft YaHei"/>
              </a:rPr>
              <a:t>外部实体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6384" y="2679192"/>
            <a:ext cx="1618487" cy="161848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677B77"/>
                </a:solidFill>
                <a:latin typeface="Microsoft YaHei"/>
              </a:rPr>
              <a:t>学生
指导教师
实验室管理员
学院安全负责人
校园统一认证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182112" y="2240280"/>
            <a:ext cx="2834640" cy="2148840"/>
          </a:xfrm>
          <a:prstGeom prst="roundRect">
            <a:avLst>
              <a:gd name="adj" fmla="val 8000"/>
            </a:avLst>
          </a:prstGeom>
          <a:solidFill>
            <a:srgbClr val="E0F1EC"/>
          </a:solidFill>
          <a:ln w="10160">
            <a:solidFill>
              <a:srgbClr val="DAE6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2" name="Connector 11"/>
          <p:cNvCxnSpPr/>
          <p:nvPr/>
        </p:nvCxnSpPr>
        <p:spPr>
          <a:xfrm>
            <a:off x="3182112" y="2240280"/>
            <a:ext cx="2834640" cy="0"/>
          </a:xfrm>
          <a:prstGeom prst="line">
            <a:avLst/>
          </a:prstGeom>
          <a:ln w="29209">
            <a:solidFill>
              <a:srgbClr val="1C5C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3310128" y="2386584"/>
            <a:ext cx="2578608" cy="21031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122F31"/>
                </a:solidFill>
                <a:latin typeface="Microsoft YaHei"/>
              </a:rPr>
              <a:t>ChemTrack 核心处理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10128" y="2679192"/>
            <a:ext cx="2578608" cy="161848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677B77"/>
                </a:solidFill>
                <a:latin typeface="Microsoft YaHei"/>
              </a:rPr>
              <a:t>P1 用户与角色
P2 档案与批次库存
P3 采购、验收与入库
P4 领用申请与分级审批
P5 出库、使用与归还
P6 预警 / P7 处置 / P8 审计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675120" y="2240280"/>
            <a:ext cx="2011680" cy="2148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AE6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6" name="Connector 15"/>
          <p:cNvCxnSpPr/>
          <p:nvPr/>
        </p:nvCxnSpPr>
        <p:spPr>
          <a:xfrm>
            <a:off x="6675120" y="2240280"/>
            <a:ext cx="2011680" cy="0"/>
          </a:xfrm>
          <a:prstGeom prst="line">
            <a:avLst/>
          </a:prstGeom>
          <a:ln w="29209">
            <a:solidFill>
              <a:srgbClr val="4E90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6803136" y="2386584"/>
            <a:ext cx="1755648" cy="21031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122F31"/>
                </a:solidFill>
                <a:latin typeface="Microsoft YaHei"/>
              </a:rPr>
              <a:t>数据存储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03136" y="2679192"/>
            <a:ext cx="1755648" cy="161848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677B77"/>
                </a:solidFill>
                <a:latin typeface="Microsoft YaHei"/>
              </a:rPr>
              <a:t>D1 用户库
D2 危化品档案库
D3 批次库存库
D4 领用记录库
D5 审批记录库
D6 审计日志库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345168" y="2240280"/>
            <a:ext cx="2194560" cy="2148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AE6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20" name="Connector 19"/>
          <p:cNvCxnSpPr/>
          <p:nvPr/>
        </p:nvCxnSpPr>
        <p:spPr>
          <a:xfrm>
            <a:off x="9345168" y="2240280"/>
            <a:ext cx="2194560" cy="0"/>
          </a:xfrm>
          <a:prstGeom prst="line">
            <a:avLst/>
          </a:prstGeom>
          <a:ln w="29209">
            <a:solidFill>
              <a:srgbClr val="7D6F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9473184" y="2386584"/>
            <a:ext cx="1938528" cy="21031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122F31"/>
                </a:solidFill>
                <a:latin typeface="Microsoft YaHei"/>
              </a:rPr>
              <a:t>关键数据流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473184" y="2679192"/>
            <a:ext cx="1938528" cy="161848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677B77"/>
                </a:solidFill>
                <a:latin typeface="Microsoft YaHei"/>
              </a:rPr>
              <a:t>申请
审批结果
入库信息
库存查询
异常上报
预警通知
统计报表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2542032" y="3310128"/>
            <a:ext cx="640080" cy="0"/>
          </a:xfrm>
          <a:prstGeom prst="line">
            <a:avLst/>
          </a:prstGeom>
          <a:ln w="25400">
            <a:solidFill>
              <a:srgbClr val="E7A1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6016752" y="3310128"/>
            <a:ext cx="658368" cy="0"/>
          </a:xfrm>
          <a:prstGeom prst="line">
            <a:avLst/>
          </a:prstGeom>
          <a:ln w="25400">
            <a:solidFill>
              <a:srgbClr val="1C5C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8686800" y="3310128"/>
            <a:ext cx="658368" cy="0"/>
          </a:xfrm>
          <a:prstGeom prst="line">
            <a:avLst/>
          </a:prstGeom>
          <a:ln w="25400">
            <a:solidFill>
              <a:srgbClr val="4E90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914400" y="5166360"/>
            <a:ext cx="10424160" cy="31089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 i="0">
                <a:solidFill>
                  <a:srgbClr val="122F31"/>
                </a:solidFill>
                <a:latin typeface="Microsoft YaHei"/>
              </a:rPr>
              <a:t>一个动作同时留下：页面反馈 + API 结果 + 数据变化 + 审计证据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" y="6519672"/>
            <a:ext cx="4572000" cy="16459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677B77"/>
                </a:solidFill>
                <a:latin typeface="Microsoft YaHei"/>
              </a:rPr>
              <a:t>顾峰鸣 Web 版  ·  张誉诚 Release 桌面端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292840" y="6519672"/>
            <a:ext cx="393192" cy="16459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 i="0">
                <a:solidFill>
                  <a:srgbClr val="677B77"/>
                </a:solidFill>
                <a:latin typeface="Microsoft YaHei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10896"/>
            <a:ext cx="4389120" cy="20116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 i="0">
                <a:solidFill>
                  <a:srgbClr val="1C5C57"/>
                </a:solidFill>
                <a:latin typeface="Microsoft YaHei"/>
              </a:rPr>
              <a:t>08 / 建模证据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21792"/>
            <a:ext cx="10881360" cy="47548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 i="0">
                <a:solidFill>
                  <a:srgbClr val="122F31"/>
                </a:solidFill>
                <a:latin typeface="Microsoft YaHei"/>
              </a:rPr>
              <a:t>ER：关键实体围绕申请单和化学品连接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1161288"/>
            <a:ext cx="10241280" cy="25603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677B77"/>
                </a:solidFill>
                <a:latin typeface="Microsoft YaHei"/>
              </a:rPr>
              <a:t>数据模型把审批责任、使用事实、库存对象和处置证据绑定在一起，并与 schema.sql 对应。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02920" y="1554480"/>
            <a:ext cx="11183112" cy="0"/>
          </a:xfrm>
          <a:prstGeom prst="line">
            <a:avLst/>
          </a:prstGeom>
          <a:ln w="11430">
            <a:solidFill>
              <a:srgbClr val="DAE6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0287000" y="6519672"/>
            <a:ext cx="1371600" cy="16459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 i="0">
                <a:solidFill>
                  <a:srgbClr val="677B77"/>
                </a:solidFill>
                <a:latin typeface="Microsoft YaHei"/>
              </a:rPr>
              <a:t>CHEMTRACK  /  09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94944" y="2148840"/>
            <a:ext cx="1993392" cy="960120"/>
          </a:xfrm>
          <a:prstGeom prst="roundRect">
            <a:avLst>
              <a:gd name="adj" fmla="val 8000"/>
            </a:avLst>
          </a:prstGeom>
          <a:solidFill>
            <a:srgbClr val="FFF4D8"/>
          </a:solidFill>
          <a:ln w="10160">
            <a:solidFill>
              <a:srgbClr val="DAE6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8" name="Connector 7"/>
          <p:cNvCxnSpPr/>
          <p:nvPr/>
        </p:nvCxnSpPr>
        <p:spPr>
          <a:xfrm>
            <a:off x="694944" y="2148840"/>
            <a:ext cx="1993392" cy="0"/>
          </a:xfrm>
          <a:prstGeom prst="line">
            <a:avLst/>
          </a:prstGeom>
          <a:ln w="29209">
            <a:solidFill>
              <a:srgbClr val="E7A1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822960" y="2295144"/>
            <a:ext cx="1737360" cy="21031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122F31"/>
                </a:solidFill>
                <a:latin typeface="Microsoft YaHei"/>
              </a:rPr>
              <a:t>User / Role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587752"/>
            <a:ext cx="1737360" cy="42976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677B77"/>
                </a:solidFill>
                <a:latin typeface="Microsoft YaHei"/>
              </a:rPr>
              <a:t>1:N Request · 1:N AuditLog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840480" y="1965960"/>
            <a:ext cx="2148840" cy="1188720"/>
          </a:xfrm>
          <a:prstGeom prst="roundRect">
            <a:avLst>
              <a:gd name="adj" fmla="val 8000"/>
            </a:avLst>
          </a:prstGeom>
          <a:solidFill>
            <a:srgbClr val="E0F1EC"/>
          </a:solidFill>
          <a:ln w="10160">
            <a:solidFill>
              <a:srgbClr val="DAE6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2" name="Connector 11"/>
          <p:cNvCxnSpPr/>
          <p:nvPr/>
        </p:nvCxnSpPr>
        <p:spPr>
          <a:xfrm>
            <a:off x="3840480" y="1965960"/>
            <a:ext cx="2148840" cy="0"/>
          </a:xfrm>
          <a:prstGeom prst="line">
            <a:avLst/>
          </a:prstGeom>
          <a:ln w="29209">
            <a:solidFill>
              <a:srgbClr val="1C5C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3968496" y="2112264"/>
            <a:ext cx="1892808" cy="21031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122F31"/>
                </a:solidFill>
                <a:latin typeface="Microsoft YaHei"/>
              </a:rPr>
              <a:t>Request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968496" y="2404872"/>
            <a:ext cx="1892808" cy="65836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677B77"/>
                </a:solidFill>
                <a:latin typeface="Microsoft YaHei"/>
              </a:rPr>
              <a:t>status · amount · applicant
审批责任的中心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60920" y="2148840"/>
            <a:ext cx="2057400" cy="960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AE6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6" name="Connector 15"/>
          <p:cNvCxnSpPr/>
          <p:nvPr/>
        </p:nvCxnSpPr>
        <p:spPr>
          <a:xfrm>
            <a:off x="7360920" y="2148840"/>
            <a:ext cx="2057400" cy="0"/>
          </a:xfrm>
          <a:prstGeom prst="line">
            <a:avLst/>
          </a:prstGeom>
          <a:ln w="29209">
            <a:solidFill>
              <a:srgbClr val="4E90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7488936" y="2295144"/>
            <a:ext cx="1801368" cy="21031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122F31"/>
                </a:solidFill>
                <a:latin typeface="Microsoft YaHei"/>
              </a:rPr>
              <a:t>ApprovalRecord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88936" y="2587752"/>
            <a:ext cx="1801368" cy="42976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677B77"/>
                </a:solidFill>
                <a:latin typeface="Microsoft YaHei"/>
              </a:rPr>
              <a:t>1:N 多阶段决策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94944" y="4160520"/>
            <a:ext cx="1993392" cy="960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AE6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20" name="Connector 19"/>
          <p:cNvCxnSpPr/>
          <p:nvPr/>
        </p:nvCxnSpPr>
        <p:spPr>
          <a:xfrm>
            <a:off x="694944" y="4160520"/>
            <a:ext cx="1993392" cy="0"/>
          </a:xfrm>
          <a:prstGeom prst="line">
            <a:avLst/>
          </a:prstGeom>
          <a:ln w="29209">
            <a:solidFill>
              <a:srgbClr val="7D6F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822960" y="4306824"/>
            <a:ext cx="1737360" cy="21031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122F31"/>
                </a:solidFill>
                <a:latin typeface="Microsoft YaHei"/>
              </a:rPr>
              <a:t>Chemical / Batch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" y="4599431"/>
            <a:ext cx="1737360" cy="42976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677B77"/>
                </a:solidFill>
                <a:latin typeface="Microsoft YaHei"/>
              </a:rPr>
              <a:t>1:N Request · Usage · Alert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840480" y="4160520"/>
            <a:ext cx="2148840" cy="960120"/>
          </a:xfrm>
          <a:prstGeom prst="roundRect">
            <a:avLst>
              <a:gd name="adj" fmla="val 8000"/>
            </a:avLst>
          </a:prstGeom>
          <a:solidFill>
            <a:srgbClr val="FFEBE7"/>
          </a:solidFill>
          <a:ln w="10160">
            <a:solidFill>
              <a:srgbClr val="DAE6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24" name="Connector 23"/>
          <p:cNvCxnSpPr/>
          <p:nvPr/>
        </p:nvCxnSpPr>
        <p:spPr>
          <a:xfrm>
            <a:off x="3840480" y="4160520"/>
            <a:ext cx="2148840" cy="0"/>
          </a:xfrm>
          <a:prstGeom prst="line">
            <a:avLst/>
          </a:prstGeom>
          <a:ln w="29209">
            <a:solidFill>
              <a:srgbClr val="E26F6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3968496" y="4306824"/>
            <a:ext cx="1892808" cy="21031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122F31"/>
                </a:solidFill>
                <a:latin typeface="Microsoft YaHei"/>
              </a:rPr>
              <a:t>UsageRecord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968496" y="4599431"/>
            <a:ext cx="1892808" cy="42976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677B77"/>
                </a:solidFill>
                <a:latin typeface="Microsoft YaHei"/>
              </a:rPr>
              <a:t>1:1 使用事实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360920" y="4160520"/>
            <a:ext cx="2057400" cy="960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AE6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28" name="Connector 27"/>
          <p:cNvCxnSpPr/>
          <p:nvPr/>
        </p:nvCxnSpPr>
        <p:spPr>
          <a:xfrm>
            <a:off x="7360920" y="4160520"/>
            <a:ext cx="2057400" cy="0"/>
          </a:xfrm>
          <a:prstGeom prst="line">
            <a:avLst/>
          </a:prstGeom>
          <a:ln w="29209">
            <a:solidFill>
              <a:srgbClr val="D777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7488936" y="4306824"/>
            <a:ext cx="1801368" cy="21031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122F31"/>
                </a:solidFill>
                <a:latin typeface="Microsoft YaHei"/>
              </a:rPr>
              <a:t>Disposal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88936" y="4599431"/>
            <a:ext cx="1801368" cy="42976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677B77"/>
                </a:solidFill>
                <a:latin typeface="Microsoft YaHei"/>
              </a:rPr>
              <a:t>1:0..N 处置证据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857232" y="3063240"/>
            <a:ext cx="1645920" cy="960120"/>
          </a:xfrm>
          <a:prstGeom prst="roundRect">
            <a:avLst>
              <a:gd name="adj" fmla="val 8000"/>
            </a:avLst>
          </a:prstGeom>
          <a:solidFill>
            <a:srgbClr val="FFF4D8"/>
          </a:solidFill>
          <a:ln w="10160">
            <a:solidFill>
              <a:srgbClr val="DAE6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32" name="Connector 31"/>
          <p:cNvCxnSpPr/>
          <p:nvPr/>
        </p:nvCxnSpPr>
        <p:spPr>
          <a:xfrm>
            <a:off x="9857232" y="3063240"/>
            <a:ext cx="1645920" cy="0"/>
          </a:xfrm>
          <a:prstGeom prst="line">
            <a:avLst/>
          </a:prstGeom>
          <a:ln w="29209">
            <a:solidFill>
              <a:srgbClr val="E7A1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9985248" y="3209544"/>
            <a:ext cx="1389888" cy="21031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122F31"/>
                </a:solidFill>
                <a:latin typeface="Microsoft YaHei"/>
              </a:rPr>
              <a:t>Alert / Incident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985248" y="3502152"/>
            <a:ext cx="1389888" cy="42976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677B77"/>
                </a:solidFill>
                <a:latin typeface="Microsoft YaHei"/>
              </a:rPr>
              <a:t>风险与异常</a:t>
            </a:r>
          </a:p>
        </p:txBody>
      </p:sp>
      <p:cxnSp>
        <p:nvCxnSpPr>
          <p:cNvPr id="35" name="Connector 34"/>
          <p:cNvCxnSpPr/>
          <p:nvPr/>
        </p:nvCxnSpPr>
        <p:spPr>
          <a:xfrm flipV="1">
            <a:off x="2688336" y="2542032"/>
            <a:ext cx="1152144" cy="82296"/>
          </a:xfrm>
          <a:prstGeom prst="line">
            <a:avLst/>
          </a:prstGeom>
          <a:ln w="21590">
            <a:solidFill>
              <a:srgbClr val="E7A1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5989320" y="2542032"/>
            <a:ext cx="1371600" cy="82296"/>
          </a:xfrm>
          <a:prstGeom prst="line">
            <a:avLst/>
          </a:prstGeom>
          <a:ln w="21590">
            <a:solidFill>
              <a:srgbClr val="4E90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4910328" y="3154680"/>
            <a:ext cx="0" cy="1005840"/>
          </a:xfrm>
          <a:prstGeom prst="line">
            <a:avLst/>
          </a:prstGeom>
          <a:ln w="21590">
            <a:solidFill>
              <a:srgbClr val="1C5C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2688336" y="4645152"/>
            <a:ext cx="1152144" cy="0"/>
          </a:xfrm>
          <a:prstGeom prst="line">
            <a:avLst/>
          </a:prstGeom>
          <a:ln w="21590">
            <a:solidFill>
              <a:srgbClr val="7D6F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5989320" y="4645152"/>
            <a:ext cx="1371600" cy="0"/>
          </a:xfrm>
          <a:prstGeom prst="line">
            <a:avLst/>
          </a:prstGeom>
          <a:ln w="21590">
            <a:solidFill>
              <a:srgbClr val="E26F6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 flipV="1">
            <a:off x="9418320" y="4023360"/>
            <a:ext cx="868680" cy="621792"/>
          </a:xfrm>
          <a:prstGeom prst="line">
            <a:avLst/>
          </a:prstGeom>
          <a:ln w="21590">
            <a:solidFill>
              <a:srgbClr val="D777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731520" y="5760720"/>
            <a:ext cx="10789920" cy="20116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677B77"/>
                </a:solidFill>
                <a:latin typeface="Microsoft YaHei"/>
              </a:rPr>
              <a:t>users · chemicals · procurements · requests · approval_records · usage_records · incidents · disposals · alerts · audit_logs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02920" y="6519672"/>
            <a:ext cx="4572000" cy="16459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677B77"/>
                </a:solidFill>
                <a:latin typeface="Microsoft YaHei"/>
              </a:rPr>
              <a:t>顾峰鸣 Web 版  ·  张誉诚 Release 桌面端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1292840" y="6519672"/>
            <a:ext cx="393192" cy="16459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 i="0">
                <a:solidFill>
                  <a:srgbClr val="677B77"/>
                </a:solidFill>
                <a:latin typeface="Microsoft YaHei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10896"/>
            <a:ext cx="4389120" cy="20116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 i="0">
                <a:solidFill>
                  <a:srgbClr val="1C5C57"/>
                </a:solidFill>
                <a:latin typeface="Microsoft YaHei"/>
              </a:rPr>
              <a:t>09 / 建模证据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21792"/>
            <a:ext cx="10881360" cy="47548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 i="0">
                <a:solidFill>
                  <a:srgbClr val="122F31"/>
                </a:solidFill>
                <a:latin typeface="Microsoft YaHei"/>
              </a:rPr>
              <a:t>状态图：正常链与异常分支并存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1161288"/>
            <a:ext cx="10241280" cy="25603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677B77"/>
                </a:solidFill>
                <a:latin typeface="Microsoft YaHei"/>
              </a:rPr>
              <a:t>状态决定下一步权限、库存行为和审计动作；异常不会静默发生。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02920" y="1554480"/>
            <a:ext cx="11183112" cy="0"/>
          </a:xfrm>
          <a:prstGeom prst="line">
            <a:avLst/>
          </a:prstGeom>
          <a:ln w="11430">
            <a:solidFill>
              <a:srgbClr val="DAE6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0287000" y="6519672"/>
            <a:ext cx="1371600" cy="16459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 i="0">
                <a:solidFill>
                  <a:srgbClr val="677B77"/>
                </a:solidFill>
                <a:latin typeface="Microsoft YaHei"/>
              </a:rPr>
              <a:t>CHEMTRACK  /  10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" y="2148840"/>
            <a:ext cx="1353312" cy="6583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AE6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13232" y="2148840"/>
            <a:ext cx="1353312" cy="91440"/>
          </a:xfrm>
          <a:prstGeom prst="rect">
            <a:avLst/>
          </a:prstGeom>
          <a:solidFill>
            <a:srgbClr val="E7A13B"/>
          </a:solidFill>
          <a:ln w="10160">
            <a:solidFill>
              <a:srgbClr val="E7A1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04672" y="2395728"/>
            <a:ext cx="1170432" cy="16459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122F31"/>
                </a:solidFill>
                <a:latin typeface="Microsoft YaHei"/>
              </a:rPr>
              <a:t>待采购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167128" y="2478024"/>
            <a:ext cx="338328" cy="0"/>
          </a:xfrm>
          <a:prstGeom prst="line">
            <a:avLst/>
          </a:prstGeom>
          <a:ln w="20320">
            <a:solidFill>
              <a:srgbClr val="DAE6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2578608" y="2148840"/>
            <a:ext cx="1353312" cy="6583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AE6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2578608" y="2148840"/>
            <a:ext cx="1353312" cy="91440"/>
          </a:xfrm>
          <a:prstGeom prst="rect">
            <a:avLst/>
          </a:prstGeom>
          <a:solidFill>
            <a:srgbClr val="4E90C4"/>
          </a:solidFill>
          <a:ln w="10160">
            <a:solidFill>
              <a:srgbClr val="4E90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2670048" y="2395728"/>
            <a:ext cx="1170432" cy="16459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122F31"/>
                </a:solidFill>
                <a:latin typeface="Microsoft YaHei"/>
              </a:rPr>
              <a:t>采购中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4032504" y="2478024"/>
            <a:ext cx="338328" cy="0"/>
          </a:xfrm>
          <a:prstGeom prst="line">
            <a:avLst/>
          </a:prstGeom>
          <a:ln w="20320">
            <a:solidFill>
              <a:srgbClr val="DAE6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4443984" y="2148840"/>
            <a:ext cx="1353312" cy="6583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AE6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4443984" y="2148840"/>
            <a:ext cx="1353312" cy="91440"/>
          </a:xfrm>
          <a:prstGeom prst="rect">
            <a:avLst/>
          </a:prstGeom>
          <a:solidFill>
            <a:srgbClr val="4E90C4"/>
          </a:solidFill>
          <a:ln w="10160">
            <a:solidFill>
              <a:srgbClr val="4E90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535424" y="2395728"/>
            <a:ext cx="1170432" cy="16459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122F31"/>
                </a:solidFill>
                <a:latin typeface="Microsoft YaHei"/>
              </a:rPr>
              <a:t>待验收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5897880" y="2478024"/>
            <a:ext cx="338328" cy="0"/>
          </a:xfrm>
          <a:prstGeom prst="line">
            <a:avLst/>
          </a:prstGeom>
          <a:ln w="20320">
            <a:solidFill>
              <a:srgbClr val="DAE6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6309360" y="2148840"/>
            <a:ext cx="1353312" cy="6583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AE6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309360" y="2148840"/>
            <a:ext cx="1353312" cy="91440"/>
          </a:xfrm>
          <a:prstGeom prst="rect">
            <a:avLst/>
          </a:prstGeom>
          <a:solidFill>
            <a:srgbClr val="1C5C57"/>
          </a:solidFill>
          <a:ln w="10160">
            <a:solidFill>
              <a:srgbClr val="1C5C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400800" y="2395728"/>
            <a:ext cx="1170432" cy="16459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122F31"/>
                </a:solidFill>
                <a:latin typeface="Microsoft YaHei"/>
              </a:rPr>
              <a:t>已入库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7763256" y="2478024"/>
            <a:ext cx="338327" cy="0"/>
          </a:xfrm>
          <a:prstGeom prst="line">
            <a:avLst/>
          </a:prstGeom>
          <a:ln w="20320">
            <a:solidFill>
              <a:srgbClr val="DAE6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8174736" y="2148840"/>
            <a:ext cx="1353312" cy="6583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AE6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8174736" y="2148840"/>
            <a:ext cx="1353312" cy="91440"/>
          </a:xfrm>
          <a:prstGeom prst="rect">
            <a:avLst/>
          </a:prstGeom>
          <a:solidFill>
            <a:srgbClr val="1C5C57"/>
          </a:solidFill>
          <a:ln w="10160">
            <a:solidFill>
              <a:srgbClr val="1C5C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266175" y="2395728"/>
            <a:ext cx="1170432" cy="16459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122F31"/>
                </a:solidFill>
                <a:latin typeface="Microsoft YaHei"/>
              </a:rPr>
              <a:t>可领用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9628632" y="2478024"/>
            <a:ext cx="338327" cy="0"/>
          </a:xfrm>
          <a:prstGeom prst="line">
            <a:avLst/>
          </a:prstGeom>
          <a:ln w="20320">
            <a:solidFill>
              <a:srgbClr val="DAE6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10040111" y="2148840"/>
            <a:ext cx="1353312" cy="6583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AE6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10040111" y="2148840"/>
            <a:ext cx="1353312" cy="91440"/>
          </a:xfrm>
          <a:prstGeom prst="rect">
            <a:avLst/>
          </a:prstGeom>
          <a:solidFill>
            <a:srgbClr val="E7A13B"/>
          </a:solidFill>
          <a:ln w="10160">
            <a:solidFill>
              <a:srgbClr val="E7A1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10131551" y="2395728"/>
            <a:ext cx="1170432" cy="16459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122F31"/>
                </a:solidFill>
                <a:latin typeface="Microsoft YaHei"/>
              </a:rPr>
              <a:t>待审批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13232" y="3172968"/>
            <a:ext cx="1353312" cy="6583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AE6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713232" y="3172968"/>
            <a:ext cx="1353312" cy="91440"/>
          </a:xfrm>
          <a:prstGeom prst="rect">
            <a:avLst/>
          </a:prstGeom>
          <a:solidFill>
            <a:srgbClr val="7D6FB8"/>
          </a:solidFill>
          <a:ln w="10160">
            <a:solidFill>
              <a:srgbClr val="7D6F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804672" y="3419856"/>
            <a:ext cx="1170432" cy="16459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122F31"/>
                </a:solidFill>
                <a:latin typeface="Microsoft YaHei"/>
              </a:rPr>
              <a:t>已复核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2167128" y="3502152"/>
            <a:ext cx="338328" cy="0"/>
          </a:xfrm>
          <a:prstGeom prst="line">
            <a:avLst/>
          </a:prstGeom>
          <a:ln w="20320">
            <a:solidFill>
              <a:srgbClr val="DAE6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2578608" y="3172968"/>
            <a:ext cx="1353312" cy="6583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AE6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2578608" y="3172968"/>
            <a:ext cx="1353312" cy="91440"/>
          </a:xfrm>
          <a:prstGeom prst="rect">
            <a:avLst/>
          </a:prstGeom>
          <a:solidFill>
            <a:srgbClr val="E26F62"/>
          </a:solidFill>
          <a:ln w="10160">
            <a:solidFill>
              <a:srgbClr val="E26F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2670048" y="3419856"/>
            <a:ext cx="1170432" cy="16459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122F31"/>
                </a:solidFill>
                <a:latin typeface="Microsoft YaHei"/>
              </a:rPr>
              <a:t>已发放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4032504" y="3502152"/>
            <a:ext cx="338328" cy="0"/>
          </a:xfrm>
          <a:prstGeom prst="line">
            <a:avLst/>
          </a:prstGeom>
          <a:ln w="20320">
            <a:solidFill>
              <a:srgbClr val="DAE6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ounded Rectangle 37"/>
          <p:cNvSpPr/>
          <p:nvPr/>
        </p:nvSpPr>
        <p:spPr>
          <a:xfrm>
            <a:off x="4443984" y="3172968"/>
            <a:ext cx="1353312" cy="6583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AE6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4443984" y="3172968"/>
            <a:ext cx="1353312" cy="91440"/>
          </a:xfrm>
          <a:prstGeom prst="rect">
            <a:avLst/>
          </a:prstGeom>
          <a:solidFill>
            <a:srgbClr val="7D6FB8"/>
          </a:solidFill>
          <a:ln w="10160">
            <a:solidFill>
              <a:srgbClr val="7D6F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4535424" y="3419856"/>
            <a:ext cx="1170432" cy="16459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122F31"/>
                </a:solidFill>
                <a:latin typeface="Microsoft YaHei"/>
              </a:rPr>
              <a:t>使用中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5897880" y="3502152"/>
            <a:ext cx="338328" cy="0"/>
          </a:xfrm>
          <a:prstGeom prst="line">
            <a:avLst/>
          </a:prstGeom>
          <a:ln w="20320">
            <a:solidFill>
              <a:srgbClr val="DAE6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Rounded Rectangle 41"/>
          <p:cNvSpPr/>
          <p:nvPr/>
        </p:nvSpPr>
        <p:spPr>
          <a:xfrm>
            <a:off x="6309360" y="3172968"/>
            <a:ext cx="1353312" cy="6583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AE6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ectangle 42"/>
          <p:cNvSpPr/>
          <p:nvPr/>
        </p:nvSpPr>
        <p:spPr>
          <a:xfrm>
            <a:off x="6309360" y="3172968"/>
            <a:ext cx="1353312" cy="91440"/>
          </a:xfrm>
          <a:prstGeom prst="rect">
            <a:avLst/>
          </a:prstGeom>
          <a:solidFill>
            <a:srgbClr val="1C5C57"/>
          </a:solidFill>
          <a:ln w="10160">
            <a:solidFill>
              <a:srgbClr val="1C5C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6400800" y="3419856"/>
            <a:ext cx="1170432" cy="16459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122F31"/>
                </a:solidFill>
                <a:latin typeface="Microsoft YaHei"/>
              </a:rPr>
              <a:t>已归还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7763256" y="3502152"/>
            <a:ext cx="338327" cy="0"/>
          </a:xfrm>
          <a:prstGeom prst="line">
            <a:avLst/>
          </a:prstGeom>
          <a:ln w="20320">
            <a:solidFill>
              <a:srgbClr val="DAE6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Rounded Rectangle 45"/>
          <p:cNvSpPr/>
          <p:nvPr/>
        </p:nvSpPr>
        <p:spPr>
          <a:xfrm>
            <a:off x="8174736" y="3172968"/>
            <a:ext cx="1353312" cy="6583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AE6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ectangle 46"/>
          <p:cNvSpPr/>
          <p:nvPr/>
        </p:nvSpPr>
        <p:spPr>
          <a:xfrm>
            <a:off x="8174736" y="3172968"/>
            <a:ext cx="1353312" cy="91440"/>
          </a:xfrm>
          <a:prstGeom prst="rect">
            <a:avLst/>
          </a:prstGeom>
          <a:solidFill>
            <a:srgbClr val="D77796"/>
          </a:solidFill>
          <a:ln w="10160">
            <a:solidFill>
              <a:srgbClr val="D777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8266175" y="3419856"/>
            <a:ext cx="1170432" cy="16459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122F31"/>
                </a:solidFill>
                <a:latin typeface="Microsoft YaHei"/>
              </a:rPr>
              <a:t>待处置</a:t>
            </a:r>
          </a:p>
        </p:txBody>
      </p:sp>
      <p:cxnSp>
        <p:nvCxnSpPr>
          <p:cNvPr id="49" name="Connector 48"/>
          <p:cNvCxnSpPr/>
          <p:nvPr/>
        </p:nvCxnSpPr>
        <p:spPr>
          <a:xfrm>
            <a:off x="9628632" y="3502152"/>
            <a:ext cx="338327" cy="0"/>
          </a:xfrm>
          <a:prstGeom prst="line">
            <a:avLst/>
          </a:prstGeom>
          <a:ln w="20320">
            <a:solidFill>
              <a:srgbClr val="DAE6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Rounded Rectangle 49"/>
          <p:cNvSpPr/>
          <p:nvPr/>
        </p:nvSpPr>
        <p:spPr>
          <a:xfrm>
            <a:off x="10040111" y="3172968"/>
            <a:ext cx="1353312" cy="6583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AE6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Rectangle 50"/>
          <p:cNvSpPr/>
          <p:nvPr/>
        </p:nvSpPr>
        <p:spPr>
          <a:xfrm>
            <a:off x="10040111" y="3172968"/>
            <a:ext cx="1353312" cy="91440"/>
          </a:xfrm>
          <a:prstGeom prst="rect">
            <a:avLst/>
          </a:prstGeom>
          <a:solidFill>
            <a:srgbClr val="122F31"/>
          </a:solidFill>
          <a:ln w="10160">
            <a:solidFill>
              <a:srgbClr val="122F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10131551" y="3419856"/>
            <a:ext cx="1170432" cy="16459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122F31"/>
                </a:solidFill>
                <a:latin typeface="Microsoft YaHei"/>
              </a:rPr>
              <a:t>已处置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731520" y="4800600"/>
            <a:ext cx="10972800" cy="658368"/>
          </a:xfrm>
          <a:prstGeom prst="roundRect">
            <a:avLst>
              <a:gd name="adj" fmla="val 8000"/>
            </a:avLst>
          </a:prstGeom>
          <a:solidFill>
            <a:srgbClr val="FFEBE7"/>
          </a:solidFill>
          <a:ln w="10160">
            <a:solidFill>
              <a:srgbClr val="FFEB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969264" y="4992624"/>
            <a:ext cx="914400" cy="1828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E26F62"/>
                </a:solidFill>
                <a:latin typeface="Microsoft YaHei"/>
              </a:rPr>
              <a:t>异常触发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965960" y="4992624"/>
            <a:ext cx="5394960" cy="1828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122F31"/>
                </a:solidFill>
                <a:latin typeface="Microsoft YaHei"/>
              </a:rPr>
              <a:t>已过期 / 冻结 · 库存不足 · 审批驳回 · 归还不一致 · 泄漏 / 存储异常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406640" y="4992624"/>
            <a:ext cx="3840480" cy="1828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 i="0">
                <a:solidFill>
                  <a:srgbClr val="E26F62"/>
                </a:solidFill>
                <a:latin typeface="Microsoft YaHei"/>
              </a:rPr>
              <a:t>阻断领用 → 生成预警 → 上报事件 → 处理闭环 → 审计留痕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02920" y="6519672"/>
            <a:ext cx="4572000" cy="16459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677B77"/>
                </a:solidFill>
                <a:latin typeface="Microsoft YaHei"/>
              </a:rPr>
              <a:t>顾峰鸣 Web 版  ·  张誉诚 Release 桌面端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1292840" y="6519672"/>
            <a:ext cx="393192" cy="16459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 i="0">
                <a:solidFill>
                  <a:srgbClr val="677B77"/>
                </a:solidFill>
                <a:latin typeface="Microsoft YaHe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10896"/>
            <a:ext cx="4389120" cy="20116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 i="0">
                <a:solidFill>
                  <a:srgbClr val="1C5C57"/>
                </a:solidFill>
                <a:latin typeface="Microsoft YaHei"/>
              </a:rPr>
              <a:t>10 / 实现与演示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21792"/>
            <a:ext cx="10881360" cy="47548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 i="0">
                <a:solidFill>
                  <a:srgbClr val="122F31"/>
                </a:solidFill>
                <a:latin typeface="Microsoft YaHei"/>
              </a:rPr>
              <a:t>运行总览：风险、库存、审批和生命周期在同一屏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1161288"/>
            <a:ext cx="10241280" cy="25603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677B77"/>
                </a:solidFill>
                <a:latin typeface="Microsoft YaHei"/>
              </a:rPr>
              <a:t>以下为 ChemTrack 前端实际运行界面截图；当前项目支持后端在线与演示数据模式两种展示路径。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02920" y="1554480"/>
            <a:ext cx="11183112" cy="0"/>
          </a:xfrm>
          <a:prstGeom prst="line">
            <a:avLst/>
          </a:prstGeom>
          <a:ln w="11430">
            <a:solidFill>
              <a:srgbClr val="DAE6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0287000" y="6519672"/>
            <a:ext cx="1371600" cy="16459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 i="0">
                <a:solidFill>
                  <a:srgbClr val="677B77"/>
                </a:solidFill>
                <a:latin typeface="Microsoft YaHei"/>
              </a:rPr>
              <a:t>CHEMTRACK  /  11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874519"/>
            <a:ext cx="7589520" cy="4069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AE6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chemtrack-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" y="1947672"/>
            <a:ext cx="7443216" cy="353872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68680" y="5614416"/>
            <a:ext cx="2743200" cy="1828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 i="0">
                <a:solidFill>
                  <a:srgbClr val="1C5C57"/>
                </a:solidFill>
                <a:latin typeface="Microsoft YaHei"/>
              </a:rPr>
              <a:t>真实运行界面  /  运行总览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549640" y="1993392"/>
            <a:ext cx="1408176" cy="1051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AE6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1" name="Connector 10"/>
          <p:cNvCxnSpPr/>
          <p:nvPr/>
        </p:nvCxnSpPr>
        <p:spPr>
          <a:xfrm>
            <a:off x="8549640" y="1993392"/>
            <a:ext cx="1408176" cy="0"/>
          </a:xfrm>
          <a:prstGeom prst="line">
            <a:avLst/>
          </a:prstGeom>
          <a:ln w="31750">
            <a:solidFill>
              <a:srgbClr val="1C5C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8686800" y="2148840"/>
            <a:ext cx="1133856" cy="16459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677B77"/>
                </a:solidFill>
                <a:latin typeface="Microsoft YaHei"/>
              </a:rPr>
              <a:t>批次档案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0" y="2340864"/>
            <a:ext cx="1133856" cy="33832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 i="0">
                <a:solidFill>
                  <a:srgbClr val="122F31"/>
                </a:solidFill>
                <a:latin typeface="Microsoft YaHei"/>
              </a:rP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0" y="2788920"/>
            <a:ext cx="1133856" cy="14630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677B77"/>
                </a:solidFill>
                <a:latin typeface="Microsoft YaHei"/>
              </a:rPr>
              <a:t>已建档可追溯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104120" y="1993392"/>
            <a:ext cx="1408176" cy="1051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AE6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6" name="Connector 15"/>
          <p:cNvCxnSpPr/>
          <p:nvPr/>
        </p:nvCxnSpPr>
        <p:spPr>
          <a:xfrm>
            <a:off x="10104120" y="1993392"/>
            <a:ext cx="1408176" cy="0"/>
          </a:xfrm>
          <a:prstGeom prst="line">
            <a:avLst/>
          </a:prstGeom>
          <a:ln w="31750">
            <a:solidFill>
              <a:srgbClr val="E7A1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10241280" y="2148840"/>
            <a:ext cx="1133856" cy="16459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677B77"/>
                </a:solidFill>
                <a:latin typeface="Microsoft YaHei"/>
              </a:rPr>
              <a:t>库存预警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241280" y="2340864"/>
            <a:ext cx="1133856" cy="33832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 i="0">
                <a:solidFill>
                  <a:srgbClr val="122F31"/>
                </a:solidFill>
                <a:latin typeface="Microsoft YaHei"/>
              </a:rPr>
              <a:t>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241280" y="2788920"/>
            <a:ext cx="1133856" cy="14630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677B77"/>
                </a:solidFill>
                <a:latin typeface="Microsoft YaHei"/>
              </a:rPr>
              <a:t>低于安全线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549640" y="3273552"/>
            <a:ext cx="1408176" cy="1051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AE6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21" name="Connector 20"/>
          <p:cNvCxnSpPr/>
          <p:nvPr/>
        </p:nvCxnSpPr>
        <p:spPr>
          <a:xfrm>
            <a:off x="8549640" y="3273552"/>
            <a:ext cx="1408176" cy="0"/>
          </a:xfrm>
          <a:prstGeom prst="line">
            <a:avLst/>
          </a:prstGeom>
          <a:ln w="31750">
            <a:solidFill>
              <a:srgbClr val="E26F6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8686800" y="3429000"/>
            <a:ext cx="1133856" cy="16459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677B77"/>
                </a:solidFill>
                <a:latin typeface="Microsoft YaHei"/>
              </a:rPr>
              <a:t>待审批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86800" y="3621024"/>
            <a:ext cx="1133856" cy="33832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 i="0">
                <a:solidFill>
                  <a:srgbClr val="122F31"/>
                </a:solidFill>
                <a:latin typeface="Microsoft YaHei"/>
              </a:rPr>
              <a:t>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86800" y="4069080"/>
            <a:ext cx="1133856" cy="14630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677B77"/>
                </a:solidFill>
                <a:latin typeface="Microsoft YaHei"/>
              </a:rPr>
              <a:t>高风险需复核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0104120" y="3273552"/>
            <a:ext cx="1408176" cy="1051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AE6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26" name="Connector 25"/>
          <p:cNvCxnSpPr/>
          <p:nvPr/>
        </p:nvCxnSpPr>
        <p:spPr>
          <a:xfrm>
            <a:off x="10104120" y="3273552"/>
            <a:ext cx="1408176" cy="0"/>
          </a:xfrm>
          <a:prstGeom prst="line">
            <a:avLst/>
          </a:prstGeom>
          <a:ln w="31750">
            <a:solidFill>
              <a:srgbClr val="D777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10241280" y="3429000"/>
            <a:ext cx="1133856" cy="16459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677B77"/>
                </a:solidFill>
                <a:latin typeface="Microsoft YaHei"/>
              </a:rPr>
              <a:t>有效预警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241280" y="3621024"/>
            <a:ext cx="1133856" cy="33832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 i="0">
                <a:solidFill>
                  <a:srgbClr val="122F31"/>
                </a:solidFill>
                <a:latin typeface="Microsoft YaHei"/>
              </a:rPr>
              <a:t>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241280" y="4069080"/>
            <a:ext cx="1133856" cy="14630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677B77"/>
                </a:solidFill>
                <a:latin typeface="Microsoft YaHei"/>
              </a:rPr>
              <a:t>建议今日处理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549640" y="4663440"/>
            <a:ext cx="2962656" cy="1097280"/>
          </a:xfrm>
          <a:prstGeom prst="roundRect">
            <a:avLst>
              <a:gd name="adj" fmla="val 8000"/>
            </a:avLst>
          </a:prstGeom>
          <a:solidFill>
            <a:srgbClr val="E0F1EC"/>
          </a:solidFill>
          <a:ln w="10160">
            <a:solidFill>
              <a:srgbClr val="E0F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759952" y="4864608"/>
            <a:ext cx="2194560" cy="1828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1C5C57"/>
                </a:solidFill>
                <a:latin typeface="Microsoft YaHei"/>
              </a:rPr>
              <a:t>截图可见的证据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759952" y="5175504"/>
            <a:ext cx="2331720" cy="39319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122F31"/>
                </a:solidFill>
                <a:latin typeface="Microsoft YaHei"/>
              </a:rPr>
              <a:t>侧栏导航 · 风险雷达 · 最近申请
全生命周期步骤 · 角色切换 · 待办入口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2920" y="6519672"/>
            <a:ext cx="4572000" cy="16459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677B77"/>
                </a:solidFill>
                <a:latin typeface="Microsoft YaHei"/>
              </a:rPr>
              <a:t>顾峰鸣 Web 版  ·  张誉诚 Release 桌面端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292840" y="6519672"/>
            <a:ext cx="393192" cy="16459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 i="0">
                <a:solidFill>
                  <a:srgbClr val="677B77"/>
                </a:solidFill>
                <a:latin typeface="Microsoft YaHe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10896"/>
            <a:ext cx="4389120" cy="20116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 i="0">
                <a:solidFill>
                  <a:srgbClr val="1C5C57"/>
                </a:solidFill>
                <a:latin typeface="Microsoft YaHei"/>
              </a:rPr>
              <a:t>10 / 实现与演示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21792"/>
            <a:ext cx="10881360" cy="47548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 i="0">
                <a:solidFill>
                  <a:srgbClr val="122F31"/>
                </a:solidFill>
                <a:latin typeface="Microsoft YaHei"/>
              </a:rPr>
              <a:t>界面证据：从“看见风险”到“留下记录”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1161288"/>
            <a:ext cx="10241280" cy="25603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677B77"/>
                </a:solidFill>
                <a:latin typeface="Microsoft YaHei"/>
              </a:rPr>
              <a:t>把同一份运行界面拆成三个操作证据区，便于在答辩中对应需求和验收口径。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02920" y="1554480"/>
            <a:ext cx="11183112" cy="0"/>
          </a:xfrm>
          <a:prstGeom prst="line">
            <a:avLst/>
          </a:prstGeom>
          <a:ln w="11430">
            <a:solidFill>
              <a:srgbClr val="DAE6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0287000" y="6519672"/>
            <a:ext cx="1371600" cy="16459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 i="0">
                <a:solidFill>
                  <a:srgbClr val="677B77"/>
                </a:solidFill>
                <a:latin typeface="Microsoft YaHei"/>
              </a:rPr>
              <a:t>CHEMTRACK  /  12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" y="1920240"/>
            <a:ext cx="3657600" cy="3154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AE6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chemtrack-overview-t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2759945"/>
            <a:ext cx="3529583" cy="1127796"/>
          </a:xfrm>
          <a:prstGeom prst="rect">
            <a:avLst/>
          </a:prstGeom>
        </p:spPr>
      </p:pic>
      <p:cxnSp>
        <p:nvCxnSpPr>
          <p:cNvPr id="9" name="Connector 8"/>
          <p:cNvCxnSpPr/>
          <p:nvPr/>
        </p:nvCxnSpPr>
        <p:spPr>
          <a:xfrm>
            <a:off x="685800" y="4718304"/>
            <a:ext cx="3529583" cy="0"/>
          </a:xfrm>
          <a:prstGeom prst="line">
            <a:avLst/>
          </a:prstGeom>
          <a:ln w="17780">
            <a:solidFill>
              <a:srgbClr val="1C5C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731520" y="4791456"/>
            <a:ext cx="3438144" cy="1828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 i="0">
                <a:solidFill>
                  <a:srgbClr val="122F31"/>
                </a:solidFill>
                <a:latin typeface="Microsoft YaHei"/>
              </a:rPr>
              <a:t>总览指标  /  批次、库存、审批、预警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07408" y="1920240"/>
            <a:ext cx="3657600" cy="3154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AE6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2" name="Picture 11" descr="chemtrack-overview-botto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71416" y="2862283"/>
            <a:ext cx="3529583" cy="923121"/>
          </a:xfrm>
          <a:prstGeom prst="rect">
            <a:avLst/>
          </a:prstGeom>
        </p:spPr>
      </p:pic>
      <p:cxnSp>
        <p:nvCxnSpPr>
          <p:cNvPr id="13" name="Connector 12"/>
          <p:cNvCxnSpPr/>
          <p:nvPr/>
        </p:nvCxnSpPr>
        <p:spPr>
          <a:xfrm>
            <a:off x="4471416" y="4718304"/>
            <a:ext cx="3529584" cy="0"/>
          </a:xfrm>
          <a:prstGeom prst="line">
            <a:avLst/>
          </a:prstGeom>
          <a:ln w="17780">
            <a:solidFill>
              <a:srgbClr val="E26F6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4517136" y="4791456"/>
            <a:ext cx="3438144" cy="1828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 i="0">
                <a:solidFill>
                  <a:srgbClr val="122F31"/>
                </a:solidFill>
                <a:latin typeface="Microsoft YaHei"/>
              </a:rPr>
              <a:t>风险雷达 + 最近申请  /  待办聚合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93024" y="1920240"/>
            <a:ext cx="3383280" cy="3154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AE6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6" name="Picture 15" descr="chemtrack-navigati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02761" y="1984248"/>
            <a:ext cx="763804" cy="2679192"/>
          </a:xfrm>
          <a:prstGeom prst="rect">
            <a:avLst/>
          </a:prstGeom>
        </p:spPr>
      </p:pic>
      <p:cxnSp>
        <p:nvCxnSpPr>
          <p:cNvPr id="17" name="Connector 16"/>
          <p:cNvCxnSpPr/>
          <p:nvPr/>
        </p:nvCxnSpPr>
        <p:spPr>
          <a:xfrm>
            <a:off x="8257032" y="4718304"/>
            <a:ext cx="3255264" cy="0"/>
          </a:xfrm>
          <a:prstGeom prst="line">
            <a:avLst/>
          </a:prstGeom>
          <a:ln w="17780">
            <a:solidFill>
              <a:srgbClr val="E7A1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8302752" y="4791456"/>
            <a:ext cx="3163824" cy="1828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 i="0">
                <a:solidFill>
                  <a:srgbClr val="122F31"/>
                </a:solidFill>
                <a:latin typeface="Microsoft YaHei"/>
              </a:rPr>
              <a:t>生命周期导航  /  统一入口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5376672"/>
            <a:ext cx="10835640" cy="4846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AE6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14400" y="5522976"/>
            <a:ext cx="10424160" cy="16459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122F31"/>
                </a:solidFill>
                <a:latin typeface="Microsoft YaHei"/>
              </a:rPr>
              <a:t>页面 → REST API → 数据库表 → 审计记录：每一次操作都可以在链路上定位。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6519672"/>
            <a:ext cx="4572000" cy="16459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677B77"/>
                </a:solidFill>
                <a:latin typeface="Microsoft YaHei"/>
              </a:rPr>
              <a:t>顾峰鸣 Web 版  ·  张誉诚 Release 桌面端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292840" y="6519672"/>
            <a:ext cx="393192" cy="16459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 i="0">
                <a:solidFill>
                  <a:srgbClr val="677B77"/>
                </a:solidFill>
                <a:latin typeface="Microsoft YaHe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10896"/>
            <a:ext cx="4389120" cy="20116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 i="0">
                <a:solidFill>
                  <a:srgbClr val="1C5C57"/>
                </a:solidFill>
                <a:latin typeface="Microsoft YaHei"/>
              </a:rPr>
              <a:t>11 / 双端交付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21792"/>
            <a:ext cx="10881360" cy="47548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 i="0">
                <a:solidFill>
                  <a:srgbClr val="122F31"/>
                </a:solidFill>
                <a:latin typeface="Microsoft YaHei"/>
              </a:rPr>
              <a:t>Release 桌面端：把 Web 能力封装成可启动产品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1161288"/>
            <a:ext cx="10241280" cy="25603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677B77"/>
                </a:solidFill>
                <a:latin typeface="Microsoft YaHei"/>
              </a:rPr>
              <a:t>桌面端不是另一套业务逻辑，而是 WPF 壳 + WebView2 + 后端进程管理，共享同一套接口和数据。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02920" y="1554480"/>
            <a:ext cx="11183112" cy="0"/>
          </a:xfrm>
          <a:prstGeom prst="line">
            <a:avLst/>
          </a:prstGeom>
          <a:ln w="11430">
            <a:solidFill>
              <a:srgbClr val="DAE6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0287000" y="6519672"/>
            <a:ext cx="1371600" cy="16459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 i="0">
                <a:solidFill>
                  <a:srgbClr val="677B77"/>
                </a:solidFill>
                <a:latin typeface="Microsoft YaHei"/>
              </a:rPr>
              <a:t>CHEMTRACK  /  13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" y="1965960"/>
            <a:ext cx="6629400" cy="3520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AE6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987552" y="2240280"/>
            <a:ext cx="6080760" cy="2926080"/>
          </a:xfrm>
          <a:prstGeom prst="roundRect">
            <a:avLst>
              <a:gd name="adj" fmla="val 8000"/>
            </a:avLst>
          </a:prstGeom>
          <a:solidFill>
            <a:srgbClr val="ECF1EF"/>
          </a:solidFill>
          <a:ln w="10160">
            <a:solidFill>
              <a:srgbClr val="DAE6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207008" y="2468880"/>
            <a:ext cx="3931920" cy="2286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22F31"/>
                </a:solidFill>
                <a:latin typeface="Microsoft YaHei"/>
              </a:rPr>
              <a:t>ChemTrack 化危品管理平台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532120" y="2487168"/>
            <a:ext cx="1097280" cy="16459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 i="0">
                <a:solidFill>
                  <a:srgbClr val="677B77"/>
                </a:solidFill>
                <a:latin typeface="Microsoft YaHei"/>
              </a:rPr>
              <a:t>WPF Window</a:t>
            </a:r>
          </a:p>
        </p:txBody>
      </p:sp>
      <p:pic>
        <p:nvPicPr>
          <p:cNvPr id="11" name="Picture 10" descr="chemtrack-overview-t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7008" y="2907792"/>
            <a:ext cx="5650992" cy="1965960"/>
          </a:xfrm>
          <a:prstGeom prst="rect">
            <a:avLst/>
          </a:prstGeom>
        </p:spPr>
      </p:pic>
      <p:cxnSp>
        <p:nvCxnSpPr>
          <p:cNvPr id="12" name="Connector 11"/>
          <p:cNvCxnSpPr/>
          <p:nvPr/>
        </p:nvCxnSpPr>
        <p:spPr>
          <a:xfrm>
            <a:off x="8001000" y="2468880"/>
            <a:ext cx="0" cy="2606040"/>
          </a:xfrm>
          <a:prstGeom prst="line">
            <a:avLst/>
          </a:prstGeom>
          <a:ln w="12700">
            <a:solidFill>
              <a:srgbClr val="DAE6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8394192" y="2194560"/>
            <a:ext cx="210312" cy="210312"/>
          </a:xfrm>
          <a:prstGeom prst="roundRect">
            <a:avLst>
              <a:gd name="adj" fmla="val 8000"/>
            </a:avLst>
          </a:prstGeom>
          <a:solidFill>
            <a:srgbClr val="1C5C57"/>
          </a:solidFill>
          <a:ln w="10160">
            <a:solidFill>
              <a:srgbClr val="1C5C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394192" y="2194560"/>
            <a:ext cx="210312" cy="21031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714232" y="2185416"/>
            <a:ext cx="2514600" cy="21945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22F31"/>
                </a:solidFill>
                <a:latin typeface="Microsoft YaHei"/>
              </a:rPr>
              <a:t>启动后端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14232" y="2441448"/>
            <a:ext cx="2514600" cy="40233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677B77"/>
                </a:solidFill>
                <a:latin typeface="Microsoft YaHei"/>
              </a:rPr>
              <a:t>启动时检查 /api/health；未就绪则拉起 backend JAR。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394192" y="3246120"/>
            <a:ext cx="210312" cy="210312"/>
          </a:xfrm>
          <a:prstGeom prst="roundRect">
            <a:avLst>
              <a:gd name="adj" fmla="val 8000"/>
            </a:avLst>
          </a:prstGeom>
          <a:solidFill>
            <a:srgbClr val="4E90C4"/>
          </a:solidFill>
          <a:ln w="10160">
            <a:solidFill>
              <a:srgbClr val="4E90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394192" y="3246120"/>
            <a:ext cx="210312" cy="21031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714232" y="3236976"/>
            <a:ext cx="2514600" cy="21945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22F31"/>
                </a:solidFill>
                <a:latin typeface="Microsoft YaHei"/>
              </a:rPr>
              <a:t>加载界面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714232" y="3493008"/>
            <a:ext cx="2514600" cy="40233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677B77"/>
                </a:solidFill>
                <a:latin typeface="Microsoft YaHei"/>
              </a:rPr>
              <a:t>EnsureCoreWebView2Async 后导航到本地服务。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394192" y="4297680"/>
            <a:ext cx="210312" cy="210312"/>
          </a:xfrm>
          <a:prstGeom prst="roundRect">
            <a:avLst>
              <a:gd name="adj" fmla="val 8000"/>
            </a:avLst>
          </a:prstGeom>
          <a:solidFill>
            <a:srgbClr val="E7A13B"/>
          </a:solidFill>
          <a:ln w="10160">
            <a:solidFill>
              <a:srgbClr val="E7A1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394192" y="4297680"/>
            <a:ext cx="210312" cy="21031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714232" y="4288536"/>
            <a:ext cx="2514600" cy="21945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22F31"/>
                </a:solidFill>
                <a:latin typeface="Microsoft YaHei"/>
              </a:rPr>
              <a:t>退出回收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714232" y="4544568"/>
            <a:ext cx="2514600" cy="40233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677B77"/>
                </a:solidFill>
                <a:latin typeface="Microsoft YaHei"/>
              </a:rPr>
              <a:t>窗口关闭时回收后端进程，减少遗留服务。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1520" y="5742432"/>
            <a:ext cx="10835640" cy="411480"/>
          </a:xfrm>
          <a:prstGeom prst="roundRect">
            <a:avLst>
              <a:gd name="adj" fmla="val 8000"/>
            </a:avLst>
          </a:prstGeom>
          <a:solidFill>
            <a:srgbClr val="E0F1EC"/>
          </a:solidFill>
          <a:ln w="10160">
            <a:solidFill>
              <a:srgbClr val="E0F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914400" y="5852160"/>
            <a:ext cx="10424160" cy="16459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1C5C57"/>
                </a:solidFill>
                <a:latin typeface="Microsoft YaHei"/>
              </a:rPr>
              <a:t>桌面端交付价值：降低课堂启动门槛，同时保留 Web 端持续迭代能力。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" y="6519672"/>
            <a:ext cx="4572000" cy="16459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677B77"/>
                </a:solidFill>
                <a:latin typeface="Microsoft YaHei"/>
              </a:rPr>
              <a:t>顾峰鸣 Web 版  ·  张誉诚 Release 桌面端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292840" y="6519672"/>
            <a:ext cx="393192" cy="16459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 i="0">
                <a:solidFill>
                  <a:srgbClr val="677B77"/>
                </a:solidFill>
                <a:latin typeface="Microsoft YaHei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10896"/>
            <a:ext cx="4389120" cy="20116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 i="0">
                <a:solidFill>
                  <a:srgbClr val="1C5C57"/>
                </a:solidFill>
                <a:latin typeface="Microsoft YaHei"/>
              </a:rPr>
              <a:t>12 / 课堂演示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21792"/>
            <a:ext cx="10881360" cy="47548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 i="0">
                <a:solidFill>
                  <a:srgbClr val="122F31"/>
                </a:solidFill>
                <a:latin typeface="Microsoft YaHei"/>
              </a:rPr>
              <a:t>一条真实路径，证明需求可以落地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1161288"/>
            <a:ext cx="10241280" cy="25603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677B77"/>
                </a:solidFill>
                <a:latin typeface="Microsoft YaHei"/>
              </a:rPr>
              <a:t>每一步都能在前端页面、REST API、数据库表和审计记录中定位。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02920" y="1554480"/>
            <a:ext cx="11183112" cy="0"/>
          </a:xfrm>
          <a:prstGeom prst="line">
            <a:avLst/>
          </a:prstGeom>
          <a:ln w="11430">
            <a:solidFill>
              <a:srgbClr val="DAE6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0287000" y="6519672"/>
            <a:ext cx="1371600" cy="16459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 i="0">
                <a:solidFill>
                  <a:srgbClr val="677B77"/>
                </a:solidFill>
                <a:latin typeface="Microsoft YaHei"/>
              </a:rPr>
              <a:t>CHEMTRACK  /  14</a:t>
            </a:r>
          </a:p>
        </p:txBody>
      </p:sp>
      <p:sp>
        <p:nvSpPr>
          <p:cNvPr id="7" name="Rectangle 6"/>
          <p:cNvSpPr/>
          <p:nvPr/>
        </p:nvSpPr>
        <p:spPr>
          <a:xfrm>
            <a:off x="749808" y="1938528"/>
            <a:ext cx="512064" cy="393192"/>
          </a:xfrm>
          <a:prstGeom prst="rect">
            <a:avLst/>
          </a:prstGeom>
          <a:solidFill>
            <a:srgbClr val="122F31"/>
          </a:solidFill>
          <a:ln w="10160">
            <a:solidFill>
              <a:srgbClr val="122F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95528" y="2039112"/>
            <a:ext cx="420624" cy="14630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  <a:latin typeface="Microsoft YaHei"/>
              </a:rPr>
              <a:t>序号</a:t>
            </a:r>
          </a:p>
        </p:txBody>
      </p:sp>
      <p:sp>
        <p:nvSpPr>
          <p:cNvPr id="9" name="Rectangle 8"/>
          <p:cNvSpPr/>
          <p:nvPr/>
        </p:nvSpPr>
        <p:spPr>
          <a:xfrm>
            <a:off x="1353312" y="1938528"/>
            <a:ext cx="1298448" cy="393192"/>
          </a:xfrm>
          <a:prstGeom prst="rect">
            <a:avLst/>
          </a:prstGeom>
          <a:solidFill>
            <a:srgbClr val="122F31"/>
          </a:solidFill>
          <a:ln w="10160">
            <a:solidFill>
              <a:srgbClr val="122F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399032" y="2039112"/>
            <a:ext cx="1207007" cy="14630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  <a:latin typeface="Microsoft YaHei"/>
              </a:rPr>
              <a:t>动作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651760" y="1938528"/>
            <a:ext cx="1389888" cy="393192"/>
          </a:xfrm>
          <a:prstGeom prst="rect">
            <a:avLst/>
          </a:prstGeom>
          <a:solidFill>
            <a:srgbClr val="122F31"/>
          </a:solidFill>
          <a:ln w="10160">
            <a:solidFill>
              <a:srgbClr val="122F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697479" y="2039112"/>
            <a:ext cx="1298448" cy="14630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  <a:latin typeface="Microsoft YaHei"/>
              </a:rPr>
              <a:t>页面能力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041648" y="1938528"/>
            <a:ext cx="2084831" cy="393192"/>
          </a:xfrm>
          <a:prstGeom prst="rect">
            <a:avLst/>
          </a:prstGeom>
          <a:solidFill>
            <a:srgbClr val="122F31"/>
          </a:solidFill>
          <a:ln w="10160">
            <a:solidFill>
              <a:srgbClr val="122F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087368" y="2039112"/>
            <a:ext cx="1993391" cy="14630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  <a:latin typeface="Microsoft YaHei"/>
              </a:rPr>
              <a:t>接口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26480" y="1938528"/>
            <a:ext cx="1965960" cy="393192"/>
          </a:xfrm>
          <a:prstGeom prst="rect">
            <a:avLst/>
          </a:prstGeom>
          <a:solidFill>
            <a:srgbClr val="122F31"/>
          </a:solidFill>
          <a:ln w="10160">
            <a:solidFill>
              <a:srgbClr val="122F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172200" y="2039112"/>
            <a:ext cx="1874519" cy="14630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  <a:latin typeface="Microsoft YaHei"/>
              </a:rPr>
              <a:t>数据对象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92440" y="1938528"/>
            <a:ext cx="3200400" cy="393192"/>
          </a:xfrm>
          <a:prstGeom prst="rect">
            <a:avLst/>
          </a:prstGeom>
          <a:solidFill>
            <a:srgbClr val="122F31"/>
          </a:solidFill>
          <a:ln w="10160">
            <a:solidFill>
              <a:srgbClr val="122F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138160" y="2039112"/>
            <a:ext cx="3108960" cy="14630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  <a:latin typeface="Microsoft YaHei"/>
              </a:rPr>
              <a:t>验收结果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49808" y="2331720"/>
            <a:ext cx="512064" cy="420624"/>
          </a:xfrm>
          <a:prstGeom prst="rect">
            <a:avLst/>
          </a:prstGeom>
          <a:solidFill>
            <a:srgbClr val="FFFFFF"/>
          </a:solidFill>
          <a:ln w="10160">
            <a:solidFill>
              <a:srgbClr val="DAE6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04671" y="2450591"/>
            <a:ext cx="402336" cy="15544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1" i="0">
                <a:solidFill>
                  <a:srgbClr val="122F31"/>
                </a:solidFill>
                <a:latin typeface="Microsoft YaHei"/>
              </a:rPr>
              <a:t>01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353312" y="2331720"/>
            <a:ext cx="1298448" cy="420624"/>
          </a:xfrm>
          <a:prstGeom prst="rect">
            <a:avLst/>
          </a:prstGeom>
          <a:solidFill>
            <a:srgbClr val="FFFFFF"/>
          </a:solidFill>
          <a:ln w="10160">
            <a:solidFill>
              <a:srgbClr val="DAE6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408176" y="2450591"/>
            <a:ext cx="1188719" cy="15544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 i="0">
                <a:solidFill>
                  <a:srgbClr val="122F31"/>
                </a:solidFill>
                <a:latin typeface="Microsoft YaHei"/>
              </a:rPr>
              <a:t>采购入库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651760" y="2331720"/>
            <a:ext cx="1389888" cy="420624"/>
          </a:xfrm>
          <a:prstGeom prst="rect">
            <a:avLst/>
          </a:prstGeom>
          <a:solidFill>
            <a:srgbClr val="FFFFFF"/>
          </a:solidFill>
          <a:ln w="10160">
            <a:solidFill>
              <a:srgbClr val="DAE6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2706624" y="2450591"/>
            <a:ext cx="1280160" cy="15544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 i="0">
                <a:solidFill>
                  <a:srgbClr val="122F31"/>
                </a:solidFill>
                <a:latin typeface="Microsoft YaHei"/>
              </a:rPr>
              <a:t>新建批次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041648" y="2331720"/>
            <a:ext cx="2084831" cy="420624"/>
          </a:xfrm>
          <a:prstGeom prst="rect">
            <a:avLst/>
          </a:prstGeom>
          <a:solidFill>
            <a:srgbClr val="FFFFFF"/>
          </a:solidFill>
          <a:ln w="10160">
            <a:solidFill>
              <a:srgbClr val="DAE6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096511" y="2450591"/>
            <a:ext cx="1975103" cy="15544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 i="0">
                <a:solidFill>
                  <a:srgbClr val="122F31"/>
                </a:solidFill>
                <a:latin typeface="Microsoft YaHei"/>
              </a:rPr>
              <a:t>POST /procurements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126480" y="2331720"/>
            <a:ext cx="1965960" cy="420624"/>
          </a:xfrm>
          <a:prstGeom prst="rect">
            <a:avLst/>
          </a:prstGeom>
          <a:solidFill>
            <a:srgbClr val="FFFFFF"/>
          </a:solidFill>
          <a:ln w="10160">
            <a:solidFill>
              <a:srgbClr val="DAE6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181344" y="2450591"/>
            <a:ext cx="1856231" cy="15544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 i="0">
                <a:solidFill>
                  <a:srgbClr val="122F31"/>
                </a:solidFill>
                <a:latin typeface="Microsoft YaHei"/>
              </a:rPr>
              <a:t>procurements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092440" y="2331720"/>
            <a:ext cx="3200400" cy="420624"/>
          </a:xfrm>
          <a:prstGeom prst="rect">
            <a:avLst/>
          </a:prstGeom>
          <a:solidFill>
            <a:srgbClr val="FFFFFF"/>
          </a:solidFill>
          <a:ln w="10160">
            <a:solidFill>
              <a:srgbClr val="DAE6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147304" y="2450591"/>
            <a:ext cx="3090672" cy="15544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 i="0">
                <a:solidFill>
                  <a:srgbClr val="122F31"/>
                </a:solidFill>
                <a:latin typeface="Microsoft YaHei"/>
              </a:rPr>
              <a:t>状态推进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49808" y="2770632"/>
            <a:ext cx="512064" cy="420624"/>
          </a:xfrm>
          <a:prstGeom prst="rect">
            <a:avLst/>
          </a:prstGeom>
          <a:solidFill>
            <a:srgbClr val="F2F7F4"/>
          </a:solidFill>
          <a:ln w="10160">
            <a:solidFill>
              <a:srgbClr val="DAE6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804671" y="2889503"/>
            <a:ext cx="402336" cy="15544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 i="0">
                <a:solidFill>
                  <a:srgbClr val="1C5C57"/>
                </a:solidFill>
                <a:latin typeface="Microsoft YaHei"/>
              </a:rPr>
              <a:t>02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353312" y="2770632"/>
            <a:ext cx="1298448" cy="420624"/>
          </a:xfrm>
          <a:prstGeom prst="rect">
            <a:avLst/>
          </a:prstGeom>
          <a:solidFill>
            <a:srgbClr val="F2F7F4"/>
          </a:solidFill>
          <a:ln w="10160">
            <a:solidFill>
              <a:srgbClr val="DAE6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1408176" y="2889503"/>
            <a:ext cx="1188719" cy="15544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 i="0">
                <a:solidFill>
                  <a:srgbClr val="1C5C57"/>
                </a:solidFill>
                <a:latin typeface="Microsoft YaHei"/>
              </a:rPr>
              <a:t>提交申请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651760" y="2770632"/>
            <a:ext cx="1389888" cy="420624"/>
          </a:xfrm>
          <a:prstGeom prst="rect">
            <a:avLst/>
          </a:prstGeom>
          <a:solidFill>
            <a:srgbClr val="F2F7F4"/>
          </a:solidFill>
          <a:ln w="10160">
            <a:solidFill>
              <a:srgbClr val="DAE6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2706624" y="2889503"/>
            <a:ext cx="1280160" cy="15544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 i="0">
                <a:solidFill>
                  <a:srgbClr val="1C5C57"/>
                </a:solidFill>
                <a:latin typeface="Microsoft YaHei"/>
              </a:rPr>
              <a:t>领用审批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041648" y="2770632"/>
            <a:ext cx="2084831" cy="420624"/>
          </a:xfrm>
          <a:prstGeom prst="rect">
            <a:avLst/>
          </a:prstGeom>
          <a:solidFill>
            <a:srgbClr val="F2F7F4"/>
          </a:solidFill>
          <a:ln w="10160">
            <a:solidFill>
              <a:srgbClr val="DAE6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4096511" y="2889503"/>
            <a:ext cx="1975103" cy="15544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 i="0">
                <a:solidFill>
                  <a:srgbClr val="1C5C57"/>
                </a:solidFill>
                <a:latin typeface="Microsoft YaHei"/>
              </a:rPr>
              <a:t>POST /requests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126480" y="2770632"/>
            <a:ext cx="1965960" cy="420624"/>
          </a:xfrm>
          <a:prstGeom prst="rect">
            <a:avLst/>
          </a:prstGeom>
          <a:solidFill>
            <a:srgbClr val="F2F7F4"/>
          </a:solidFill>
          <a:ln w="10160">
            <a:solidFill>
              <a:srgbClr val="DAE6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6181344" y="2889503"/>
            <a:ext cx="1856231" cy="15544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 i="0">
                <a:solidFill>
                  <a:srgbClr val="1C5C57"/>
                </a:solidFill>
                <a:latin typeface="Microsoft YaHei"/>
              </a:rPr>
              <a:t>requests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092440" y="2770632"/>
            <a:ext cx="3200400" cy="420624"/>
          </a:xfrm>
          <a:prstGeom prst="rect">
            <a:avLst/>
          </a:prstGeom>
          <a:solidFill>
            <a:srgbClr val="F2F7F4"/>
          </a:solidFill>
          <a:ln w="10160">
            <a:solidFill>
              <a:srgbClr val="DAE6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8147304" y="2889503"/>
            <a:ext cx="3090672" cy="15544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 i="0">
                <a:solidFill>
                  <a:srgbClr val="1C5C57"/>
                </a:solidFill>
                <a:latin typeface="Microsoft YaHei"/>
              </a:rPr>
              <a:t>申请待审批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49808" y="3209544"/>
            <a:ext cx="512064" cy="420624"/>
          </a:xfrm>
          <a:prstGeom prst="rect">
            <a:avLst/>
          </a:prstGeom>
          <a:solidFill>
            <a:srgbClr val="FFFFFF"/>
          </a:solidFill>
          <a:ln w="10160">
            <a:solidFill>
              <a:srgbClr val="DAE6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804671" y="3328415"/>
            <a:ext cx="402336" cy="15544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 i="0">
                <a:solidFill>
                  <a:srgbClr val="122F31"/>
                </a:solidFill>
                <a:latin typeface="Microsoft YaHei"/>
              </a:rPr>
              <a:t>03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353312" y="3209544"/>
            <a:ext cx="1298448" cy="420624"/>
          </a:xfrm>
          <a:prstGeom prst="rect">
            <a:avLst/>
          </a:prstGeom>
          <a:solidFill>
            <a:srgbClr val="FFFFFF"/>
          </a:solidFill>
          <a:ln w="10160">
            <a:solidFill>
              <a:srgbClr val="DAE6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1408176" y="3328415"/>
            <a:ext cx="1188719" cy="15544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 i="0">
                <a:solidFill>
                  <a:srgbClr val="122F31"/>
                </a:solidFill>
                <a:latin typeface="Microsoft YaHei"/>
              </a:rPr>
              <a:t>教师审批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651760" y="3209544"/>
            <a:ext cx="1389888" cy="420624"/>
          </a:xfrm>
          <a:prstGeom prst="rect">
            <a:avLst/>
          </a:prstGeom>
          <a:solidFill>
            <a:srgbClr val="FFFFFF"/>
          </a:solidFill>
          <a:ln w="10160">
            <a:solidFill>
              <a:srgbClr val="DAE6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2706624" y="3328415"/>
            <a:ext cx="1280160" cy="15544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 i="0">
                <a:solidFill>
                  <a:srgbClr val="122F31"/>
                </a:solidFill>
                <a:latin typeface="Microsoft YaHei"/>
              </a:rPr>
              <a:t>分级审批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041648" y="3209544"/>
            <a:ext cx="2084831" cy="420624"/>
          </a:xfrm>
          <a:prstGeom prst="rect">
            <a:avLst/>
          </a:prstGeom>
          <a:solidFill>
            <a:srgbClr val="FFFFFF"/>
          </a:solidFill>
          <a:ln w="10160">
            <a:solidFill>
              <a:srgbClr val="DAE6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4096511" y="3328415"/>
            <a:ext cx="1975103" cy="15544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 i="0">
                <a:solidFill>
                  <a:srgbClr val="122F31"/>
                </a:solidFill>
                <a:latin typeface="Microsoft YaHei"/>
              </a:rPr>
              <a:t>PATCH /approve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126480" y="3209544"/>
            <a:ext cx="1965960" cy="420624"/>
          </a:xfrm>
          <a:prstGeom prst="rect">
            <a:avLst/>
          </a:prstGeom>
          <a:solidFill>
            <a:srgbClr val="FFFFFF"/>
          </a:solidFill>
          <a:ln w="10160">
            <a:solidFill>
              <a:srgbClr val="DAE6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6181344" y="3328415"/>
            <a:ext cx="1856231" cy="15544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 i="0">
                <a:solidFill>
                  <a:srgbClr val="122F31"/>
                </a:solidFill>
                <a:latin typeface="Microsoft YaHei"/>
              </a:rPr>
              <a:t>approval_records</a:t>
            </a:r>
          </a:p>
        </p:txBody>
      </p:sp>
      <p:sp>
        <p:nvSpPr>
          <p:cNvPr id="53" name="Rectangle 52"/>
          <p:cNvSpPr/>
          <p:nvPr/>
        </p:nvSpPr>
        <p:spPr>
          <a:xfrm>
            <a:off x="8092440" y="3209544"/>
            <a:ext cx="3200400" cy="420624"/>
          </a:xfrm>
          <a:prstGeom prst="rect">
            <a:avLst/>
          </a:prstGeom>
          <a:solidFill>
            <a:srgbClr val="FFFFFF"/>
          </a:solidFill>
          <a:ln w="10160">
            <a:solidFill>
              <a:srgbClr val="DAE6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8147304" y="3328415"/>
            <a:ext cx="3090672" cy="15544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 i="0">
                <a:solidFill>
                  <a:srgbClr val="122F31"/>
                </a:solidFill>
                <a:latin typeface="Microsoft YaHei"/>
              </a:rPr>
              <a:t>教师已审批</a:t>
            </a:r>
          </a:p>
        </p:txBody>
      </p:sp>
      <p:sp>
        <p:nvSpPr>
          <p:cNvPr id="55" name="Rectangle 54"/>
          <p:cNvSpPr/>
          <p:nvPr/>
        </p:nvSpPr>
        <p:spPr>
          <a:xfrm>
            <a:off x="749808" y="3648456"/>
            <a:ext cx="512064" cy="420624"/>
          </a:xfrm>
          <a:prstGeom prst="rect">
            <a:avLst/>
          </a:prstGeom>
          <a:solidFill>
            <a:srgbClr val="F2F7F4"/>
          </a:solidFill>
          <a:ln w="10160">
            <a:solidFill>
              <a:srgbClr val="DAE6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804671" y="3767328"/>
            <a:ext cx="402336" cy="15544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 i="0">
                <a:solidFill>
                  <a:srgbClr val="1C5C57"/>
                </a:solidFill>
                <a:latin typeface="Microsoft YaHei"/>
              </a:rPr>
              <a:t>04</a:t>
            </a:r>
          </a:p>
        </p:txBody>
      </p:sp>
      <p:sp>
        <p:nvSpPr>
          <p:cNvPr id="57" name="Rectangle 56"/>
          <p:cNvSpPr/>
          <p:nvPr/>
        </p:nvSpPr>
        <p:spPr>
          <a:xfrm>
            <a:off x="1353312" y="3648456"/>
            <a:ext cx="1298448" cy="420624"/>
          </a:xfrm>
          <a:prstGeom prst="rect">
            <a:avLst/>
          </a:prstGeom>
          <a:solidFill>
            <a:srgbClr val="F2F7F4"/>
          </a:solidFill>
          <a:ln w="10160">
            <a:solidFill>
              <a:srgbClr val="DAE6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1408176" y="3767328"/>
            <a:ext cx="1188719" cy="15544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 i="0">
                <a:solidFill>
                  <a:srgbClr val="1C5C57"/>
                </a:solidFill>
                <a:latin typeface="Microsoft YaHei"/>
              </a:rPr>
              <a:t>管理员复核</a:t>
            </a:r>
          </a:p>
        </p:txBody>
      </p:sp>
      <p:sp>
        <p:nvSpPr>
          <p:cNvPr id="59" name="Rectangle 58"/>
          <p:cNvSpPr/>
          <p:nvPr/>
        </p:nvSpPr>
        <p:spPr>
          <a:xfrm>
            <a:off x="2651760" y="3648456"/>
            <a:ext cx="1389888" cy="420624"/>
          </a:xfrm>
          <a:prstGeom prst="rect">
            <a:avLst/>
          </a:prstGeom>
          <a:solidFill>
            <a:srgbClr val="F2F7F4"/>
          </a:solidFill>
          <a:ln w="10160">
            <a:solidFill>
              <a:srgbClr val="DAE6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2706624" y="3767328"/>
            <a:ext cx="1280160" cy="15544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 i="0">
                <a:solidFill>
                  <a:srgbClr val="1C5C57"/>
                </a:solidFill>
                <a:latin typeface="Microsoft YaHei"/>
              </a:rPr>
              <a:t>高风险二次确认</a:t>
            </a:r>
          </a:p>
        </p:txBody>
      </p:sp>
      <p:sp>
        <p:nvSpPr>
          <p:cNvPr id="61" name="Rectangle 60"/>
          <p:cNvSpPr/>
          <p:nvPr/>
        </p:nvSpPr>
        <p:spPr>
          <a:xfrm>
            <a:off x="4041648" y="3648456"/>
            <a:ext cx="2084831" cy="420624"/>
          </a:xfrm>
          <a:prstGeom prst="rect">
            <a:avLst/>
          </a:prstGeom>
          <a:solidFill>
            <a:srgbClr val="F2F7F4"/>
          </a:solidFill>
          <a:ln w="10160">
            <a:solidFill>
              <a:srgbClr val="DAE6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4096511" y="3767328"/>
            <a:ext cx="1975103" cy="15544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 i="0">
                <a:solidFill>
                  <a:srgbClr val="1C5C57"/>
                </a:solidFill>
                <a:latin typeface="Microsoft YaHei"/>
              </a:rPr>
              <a:t>PATCH /approve</a:t>
            </a:r>
          </a:p>
        </p:txBody>
      </p:sp>
      <p:sp>
        <p:nvSpPr>
          <p:cNvPr id="63" name="Rectangle 62"/>
          <p:cNvSpPr/>
          <p:nvPr/>
        </p:nvSpPr>
        <p:spPr>
          <a:xfrm>
            <a:off x="6126480" y="3648456"/>
            <a:ext cx="1965960" cy="420624"/>
          </a:xfrm>
          <a:prstGeom prst="rect">
            <a:avLst/>
          </a:prstGeom>
          <a:solidFill>
            <a:srgbClr val="F2F7F4"/>
          </a:solidFill>
          <a:ln w="10160">
            <a:solidFill>
              <a:srgbClr val="DAE6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6181344" y="3767328"/>
            <a:ext cx="1856231" cy="15544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 i="0">
                <a:solidFill>
                  <a:srgbClr val="1C5C57"/>
                </a:solidFill>
                <a:latin typeface="Microsoft YaHei"/>
              </a:rPr>
              <a:t>approval_records</a:t>
            </a:r>
          </a:p>
        </p:txBody>
      </p:sp>
      <p:sp>
        <p:nvSpPr>
          <p:cNvPr id="65" name="Rectangle 64"/>
          <p:cNvSpPr/>
          <p:nvPr/>
        </p:nvSpPr>
        <p:spPr>
          <a:xfrm>
            <a:off x="8092440" y="3648456"/>
            <a:ext cx="3200400" cy="420624"/>
          </a:xfrm>
          <a:prstGeom prst="rect">
            <a:avLst/>
          </a:prstGeom>
          <a:solidFill>
            <a:srgbClr val="F2F7F4"/>
          </a:solidFill>
          <a:ln w="10160">
            <a:solidFill>
              <a:srgbClr val="DAE6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8147304" y="3767328"/>
            <a:ext cx="3090672" cy="15544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 i="0">
                <a:solidFill>
                  <a:srgbClr val="1C5C57"/>
                </a:solidFill>
                <a:latin typeface="Microsoft YaHei"/>
              </a:rPr>
              <a:t>可办理发放</a:t>
            </a:r>
          </a:p>
        </p:txBody>
      </p:sp>
      <p:sp>
        <p:nvSpPr>
          <p:cNvPr id="67" name="Rectangle 66"/>
          <p:cNvSpPr/>
          <p:nvPr/>
        </p:nvSpPr>
        <p:spPr>
          <a:xfrm>
            <a:off x="749808" y="4087368"/>
            <a:ext cx="512064" cy="420624"/>
          </a:xfrm>
          <a:prstGeom prst="rect">
            <a:avLst/>
          </a:prstGeom>
          <a:solidFill>
            <a:srgbClr val="FFFFFF"/>
          </a:solidFill>
          <a:ln w="10160">
            <a:solidFill>
              <a:srgbClr val="DAE6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804671" y="4206240"/>
            <a:ext cx="402336" cy="15544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 i="0">
                <a:solidFill>
                  <a:srgbClr val="122F31"/>
                </a:solidFill>
                <a:latin typeface="Microsoft YaHei"/>
              </a:rPr>
              <a:t>05</a:t>
            </a:r>
          </a:p>
        </p:txBody>
      </p:sp>
      <p:sp>
        <p:nvSpPr>
          <p:cNvPr id="69" name="Rectangle 68"/>
          <p:cNvSpPr/>
          <p:nvPr/>
        </p:nvSpPr>
        <p:spPr>
          <a:xfrm>
            <a:off x="1353312" y="4087368"/>
            <a:ext cx="1298448" cy="420624"/>
          </a:xfrm>
          <a:prstGeom prst="rect">
            <a:avLst/>
          </a:prstGeom>
          <a:solidFill>
            <a:srgbClr val="FFFFFF"/>
          </a:solidFill>
          <a:ln w="10160">
            <a:solidFill>
              <a:srgbClr val="DAE6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TextBox 69"/>
          <p:cNvSpPr txBox="1"/>
          <p:nvPr/>
        </p:nvSpPr>
        <p:spPr>
          <a:xfrm>
            <a:off x="1408176" y="4206240"/>
            <a:ext cx="1188719" cy="15544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 i="0">
                <a:solidFill>
                  <a:srgbClr val="122F31"/>
                </a:solidFill>
                <a:latin typeface="Microsoft YaHei"/>
              </a:rPr>
              <a:t>办理发放</a:t>
            </a:r>
          </a:p>
        </p:txBody>
      </p:sp>
      <p:sp>
        <p:nvSpPr>
          <p:cNvPr id="71" name="Rectangle 70"/>
          <p:cNvSpPr/>
          <p:nvPr/>
        </p:nvSpPr>
        <p:spPr>
          <a:xfrm>
            <a:off x="2651760" y="4087368"/>
            <a:ext cx="1389888" cy="420624"/>
          </a:xfrm>
          <a:prstGeom prst="rect">
            <a:avLst/>
          </a:prstGeom>
          <a:solidFill>
            <a:srgbClr val="FFFFFF"/>
          </a:solidFill>
          <a:ln w="10160">
            <a:solidFill>
              <a:srgbClr val="DAE6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TextBox 71"/>
          <p:cNvSpPr txBox="1"/>
          <p:nvPr/>
        </p:nvSpPr>
        <p:spPr>
          <a:xfrm>
            <a:off x="2706624" y="4206240"/>
            <a:ext cx="1280160" cy="15544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 i="0">
                <a:solidFill>
                  <a:srgbClr val="122F31"/>
                </a:solidFill>
                <a:latin typeface="Microsoft YaHei"/>
              </a:rPr>
              <a:t>出库扣减</a:t>
            </a:r>
          </a:p>
        </p:txBody>
      </p:sp>
      <p:sp>
        <p:nvSpPr>
          <p:cNvPr id="73" name="Rectangle 72"/>
          <p:cNvSpPr/>
          <p:nvPr/>
        </p:nvSpPr>
        <p:spPr>
          <a:xfrm>
            <a:off x="4041648" y="4087368"/>
            <a:ext cx="2084831" cy="420624"/>
          </a:xfrm>
          <a:prstGeom prst="rect">
            <a:avLst/>
          </a:prstGeom>
          <a:solidFill>
            <a:srgbClr val="FFFFFF"/>
          </a:solidFill>
          <a:ln w="10160">
            <a:solidFill>
              <a:srgbClr val="DAE6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TextBox 73"/>
          <p:cNvSpPr txBox="1"/>
          <p:nvPr/>
        </p:nvSpPr>
        <p:spPr>
          <a:xfrm>
            <a:off x="4096511" y="4206240"/>
            <a:ext cx="1975103" cy="15544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 i="0">
                <a:solidFill>
                  <a:srgbClr val="122F31"/>
                </a:solidFill>
                <a:latin typeface="Microsoft YaHei"/>
              </a:rPr>
              <a:t>PATCH /issue</a:t>
            </a:r>
          </a:p>
        </p:txBody>
      </p:sp>
      <p:sp>
        <p:nvSpPr>
          <p:cNvPr id="75" name="Rectangle 74"/>
          <p:cNvSpPr/>
          <p:nvPr/>
        </p:nvSpPr>
        <p:spPr>
          <a:xfrm>
            <a:off x="6126480" y="4087368"/>
            <a:ext cx="1965960" cy="420624"/>
          </a:xfrm>
          <a:prstGeom prst="rect">
            <a:avLst/>
          </a:prstGeom>
          <a:solidFill>
            <a:srgbClr val="FFFFFF"/>
          </a:solidFill>
          <a:ln w="10160">
            <a:solidFill>
              <a:srgbClr val="DAE6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TextBox 75"/>
          <p:cNvSpPr txBox="1"/>
          <p:nvPr/>
        </p:nvSpPr>
        <p:spPr>
          <a:xfrm>
            <a:off x="6181344" y="4206240"/>
            <a:ext cx="1856231" cy="15544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 i="0">
                <a:solidFill>
                  <a:srgbClr val="122F31"/>
                </a:solidFill>
                <a:latin typeface="Microsoft YaHei"/>
              </a:rPr>
              <a:t>usage_records</a:t>
            </a:r>
          </a:p>
        </p:txBody>
      </p:sp>
      <p:sp>
        <p:nvSpPr>
          <p:cNvPr id="77" name="Rectangle 76"/>
          <p:cNvSpPr/>
          <p:nvPr/>
        </p:nvSpPr>
        <p:spPr>
          <a:xfrm>
            <a:off x="8092440" y="4087368"/>
            <a:ext cx="3200400" cy="420624"/>
          </a:xfrm>
          <a:prstGeom prst="rect">
            <a:avLst/>
          </a:prstGeom>
          <a:solidFill>
            <a:srgbClr val="FFFFFF"/>
          </a:solidFill>
          <a:ln w="10160">
            <a:solidFill>
              <a:srgbClr val="DAE6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TextBox 77"/>
          <p:cNvSpPr txBox="1"/>
          <p:nvPr/>
        </p:nvSpPr>
        <p:spPr>
          <a:xfrm>
            <a:off x="8147304" y="4206240"/>
            <a:ext cx="3090672" cy="15544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 i="0">
                <a:solidFill>
                  <a:srgbClr val="122F31"/>
                </a:solidFill>
                <a:latin typeface="Microsoft YaHei"/>
              </a:rPr>
              <a:t>库存变化</a:t>
            </a:r>
          </a:p>
        </p:txBody>
      </p:sp>
      <p:sp>
        <p:nvSpPr>
          <p:cNvPr id="79" name="Rectangle 78"/>
          <p:cNvSpPr/>
          <p:nvPr/>
        </p:nvSpPr>
        <p:spPr>
          <a:xfrm>
            <a:off x="749808" y="4526279"/>
            <a:ext cx="512064" cy="420624"/>
          </a:xfrm>
          <a:prstGeom prst="rect">
            <a:avLst/>
          </a:prstGeom>
          <a:solidFill>
            <a:srgbClr val="F2F7F4"/>
          </a:solidFill>
          <a:ln w="10160">
            <a:solidFill>
              <a:srgbClr val="DAE6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TextBox 79"/>
          <p:cNvSpPr txBox="1"/>
          <p:nvPr/>
        </p:nvSpPr>
        <p:spPr>
          <a:xfrm>
            <a:off x="804671" y="4645151"/>
            <a:ext cx="402336" cy="15544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 i="0">
                <a:solidFill>
                  <a:srgbClr val="1C5C57"/>
                </a:solidFill>
                <a:latin typeface="Microsoft YaHei"/>
              </a:rPr>
              <a:t>06</a:t>
            </a:r>
          </a:p>
        </p:txBody>
      </p:sp>
      <p:sp>
        <p:nvSpPr>
          <p:cNvPr id="81" name="Rectangle 80"/>
          <p:cNvSpPr/>
          <p:nvPr/>
        </p:nvSpPr>
        <p:spPr>
          <a:xfrm>
            <a:off x="1353312" y="4526279"/>
            <a:ext cx="1298448" cy="420624"/>
          </a:xfrm>
          <a:prstGeom prst="rect">
            <a:avLst/>
          </a:prstGeom>
          <a:solidFill>
            <a:srgbClr val="F2F7F4"/>
          </a:solidFill>
          <a:ln w="10160">
            <a:solidFill>
              <a:srgbClr val="DAE6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TextBox 81"/>
          <p:cNvSpPr txBox="1"/>
          <p:nvPr/>
        </p:nvSpPr>
        <p:spPr>
          <a:xfrm>
            <a:off x="1408176" y="4645151"/>
            <a:ext cx="1188719" cy="15544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 i="0">
                <a:solidFill>
                  <a:srgbClr val="1C5C57"/>
                </a:solidFill>
                <a:latin typeface="Microsoft YaHei"/>
              </a:rPr>
              <a:t>使用归还</a:t>
            </a:r>
          </a:p>
        </p:txBody>
      </p:sp>
      <p:sp>
        <p:nvSpPr>
          <p:cNvPr id="83" name="Rectangle 82"/>
          <p:cNvSpPr/>
          <p:nvPr/>
        </p:nvSpPr>
        <p:spPr>
          <a:xfrm>
            <a:off x="2651760" y="4526279"/>
            <a:ext cx="1389888" cy="420624"/>
          </a:xfrm>
          <a:prstGeom prst="rect">
            <a:avLst/>
          </a:prstGeom>
          <a:solidFill>
            <a:srgbClr val="F2F7F4"/>
          </a:solidFill>
          <a:ln w="10160">
            <a:solidFill>
              <a:srgbClr val="DAE6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4" name="TextBox 83"/>
          <p:cNvSpPr txBox="1"/>
          <p:nvPr/>
        </p:nvSpPr>
        <p:spPr>
          <a:xfrm>
            <a:off x="2706624" y="4645151"/>
            <a:ext cx="1280160" cy="15544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 i="0">
                <a:solidFill>
                  <a:srgbClr val="1C5C57"/>
                </a:solidFill>
                <a:latin typeface="Microsoft YaHei"/>
              </a:rPr>
              <a:t>实际量与回补</a:t>
            </a:r>
          </a:p>
        </p:txBody>
      </p:sp>
      <p:sp>
        <p:nvSpPr>
          <p:cNvPr id="85" name="Rectangle 84"/>
          <p:cNvSpPr/>
          <p:nvPr/>
        </p:nvSpPr>
        <p:spPr>
          <a:xfrm>
            <a:off x="4041648" y="4526279"/>
            <a:ext cx="2084831" cy="420624"/>
          </a:xfrm>
          <a:prstGeom prst="rect">
            <a:avLst/>
          </a:prstGeom>
          <a:solidFill>
            <a:srgbClr val="F2F7F4"/>
          </a:solidFill>
          <a:ln w="10160">
            <a:solidFill>
              <a:srgbClr val="DAE6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6" name="TextBox 85"/>
          <p:cNvSpPr txBox="1"/>
          <p:nvPr/>
        </p:nvSpPr>
        <p:spPr>
          <a:xfrm>
            <a:off x="4096511" y="4645151"/>
            <a:ext cx="1975103" cy="15544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 i="0">
                <a:solidFill>
                  <a:srgbClr val="1C5C57"/>
                </a:solidFill>
                <a:latin typeface="Microsoft YaHei"/>
              </a:rPr>
              <a:t>PATCH /return</a:t>
            </a:r>
          </a:p>
        </p:txBody>
      </p:sp>
      <p:sp>
        <p:nvSpPr>
          <p:cNvPr id="87" name="Rectangle 86"/>
          <p:cNvSpPr/>
          <p:nvPr/>
        </p:nvSpPr>
        <p:spPr>
          <a:xfrm>
            <a:off x="6126480" y="4526279"/>
            <a:ext cx="1965960" cy="420624"/>
          </a:xfrm>
          <a:prstGeom prst="rect">
            <a:avLst/>
          </a:prstGeom>
          <a:solidFill>
            <a:srgbClr val="F2F7F4"/>
          </a:solidFill>
          <a:ln w="10160">
            <a:solidFill>
              <a:srgbClr val="DAE6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8" name="TextBox 87"/>
          <p:cNvSpPr txBox="1"/>
          <p:nvPr/>
        </p:nvSpPr>
        <p:spPr>
          <a:xfrm>
            <a:off x="6181344" y="4645151"/>
            <a:ext cx="1856231" cy="15544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 i="0">
                <a:solidFill>
                  <a:srgbClr val="1C5C57"/>
                </a:solidFill>
                <a:latin typeface="Microsoft YaHei"/>
              </a:rPr>
              <a:t>usage_records</a:t>
            </a:r>
          </a:p>
        </p:txBody>
      </p:sp>
      <p:sp>
        <p:nvSpPr>
          <p:cNvPr id="89" name="Rectangle 88"/>
          <p:cNvSpPr/>
          <p:nvPr/>
        </p:nvSpPr>
        <p:spPr>
          <a:xfrm>
            <a:off x="8092440" y="4526279"/>
            <a:ext cx="3200400" cy="420624"/>
          </a:xfrm>
          <a:prstGeom prst="rect">
            <a:avLst/>
          </a:prstGeom>
          <a:solidFill>
            <a:srgbClr val="F2F7F4"/>
          </a:solidFill>
          <a:ln w="10160">
            <a:solidFill>
              <a:srgbClr val="DAE6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" name="TextBox 89"/>
          <p:cNvSpPr txBox="1"/>
          <p:nvPr/>
        </p:nvSpPr>
        <p:spPr>
          <a:xfrm>
            <a:off x="8147304" y="4645151"/>
            <a:ext cx="3090672" cy="15544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 i="0">
                <a:solidFill>
                  <a:srgbClr val="1C5C57"/>
                </a:solidFill>
                <a:latin typeface="Microsoft YaHei"/>
              </a:rPr>
              <a:t>归还留痕</a:t>
            </a:r>
          </a:p>
        </p:txBody>
      </p:sp>
      <p:sp>
        <p:nvSpPr>
          <p:cNvPr id="91" name="Rectangle 90"/>
          <p:cNvSpPr/>
          <p:nvPr/>
        </p:nvSpPr>
        <p:spPr>
          <a:xfrm>
            <a:off x="749808" y="4965192"/>
            <a:ext cx="512064" cy="420624"/>
          </a:xfrm>
          <a:prstGeom prst="rect">
            <a:avLst/>
          </a:prstGeom>
          <a:solidFill>
            <a:srgbClr val="FFFFFF"/>
          </a:solidFill>
          <a:ln w="10160">
            <a:solidFill>
              <a:srgbClr val="DAE6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2" name="TextBox 91"/>
          <p:cNvSpPr txBox="1"/>
          <p:nvPr/>
        </p:nvSpPr>
        <p:spPr>
          <a:xfrm>
            <a:off x="804671" y="5084064"/>
            <a:ext cx="402336" cy="15544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 i="0">
                <a:solidFill>
                  <a:srgbClr val="122F31"/>
                </a:solidFill>
                <a:latin typeface="Microsoft YaHei"/>
              </a:rPr>
              <a:t>07</a:t>
            </a:r>
          </a:p>
        </p:txBody>
      </p:sp>
      <p:sp>
        <p:nvSpPr>
          <p:cNvPr id="93" name="Rectangle 92"/>
          <p:cNvSpPr/>
          <p:nvPr/>
        </p:nvSpPr>
        <p:spPr>
          <a:xfrm>
            <a:off x="1353312" y="4965192"/>
            <a:ext cx="1298448" cy="420624"/>
          </a:xfrm>
          <a:prstGeom prst="rect">
            <a:avLst/>
          </a:prstGeom>
          <a:solidFill>
            <a:srgbClr val="FFFFFF"/>
          </a:solidFill>
          <a:ln w="10160">
            <a:solidFill>
              <a:srgbClr val="DAE6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4" name="TextBox 93"/>
          <p:cNvSpPr txBox="1"/>
          <p:nvPr/>
        </p:nvSpPr>
        <p:spPr>
          <a:xfrm>
            <a:off x="1408176" y="5084064"/>
            <a:ext cx="1188719" cy="15544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 i="0">
                <a:solidFill>
                  <a:srgbClr val="122F31"/>
                </a:solidFill>
                <a:latin typeface="Microsoft YaHei"/>
              </a:rPr>
              <a:t>风险扫描</a:t>
            </a:r>
          </a:p>
        </p:txBody>
      </p:sp>
      <p:sp>
        <p:nvSpPr>
          <p:cNvPr id="95" name="Rectangle 94"/>
          <p:cNvSpPr/>
          <p:nvPr/>
        </p:nvSpPr>
        <p:spPr>
          <a:xfrm>
            <a:off x="2651760" y="4965192"/>
            <a:ext cx="1389888" cy="420624"/>
          </a:xfrm>
          <a:prstGeom prst="rect">
            <a:avLst/>
          </a:prstGeom>
          <a:solidFill>
            <a:srgbClr val="FFFFFF"/>
          </a:solidFill>
          <a:ln w="10160">
            <a:solidFill>
              <a:srgbClr val="DAE6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6" name="TextBox 95"/>
          <p:cNvSpPr txBox="1"/>
          <p:nvPr/>
        </p:nvSpPr>
        <p:spPr>
          <a:xfrm>
            <a:off x="2706624" y="5084064"/>
            <a:ext cx="1280160" cy="15544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 i="0">
                <a:solidFill>
                  <a:srgbClr val="122F31"/>
                </a:solidFill>
                <a:latin typeface="Microsoft YaHei"/>
              </a:rPr>
              <a:t>库存 / 有效期</a:t>
            </a:r>
          </a:p>
        </p:txBody>
      </p:sp>
      <p:sp>
        <p:nvSpPr>
          <p:cNvPr id="97" name="Rectangle 96"/>
          <p:cNvSpPr/>
          <p:nvPr/>
        </p:nvSpPr>
        <p:spPr>
          <a:xfrm>
            <a:off x="4041648" y="4965192"/>
            <a:ext cx="2084831" cy="420624"/>
          </a:xfrm>
          <a:prstGeom prst="rect">
            <a:avLst/>
          </a:prstGeom>
          <a:solidFill>
            <a:srgbClr val="FFFFFF"/>
          </a:solidFill>
          <a:ln w="10160">
            <a:solidFill>
              <a:srgbClr val="DAE6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8" name="TextBox 97"/>
          <p:cNvSpPr txBox="1"/>
          <p:nvPr/>
        </p:nvSpPr>
        <p:spPr>
          <a:xfrm>
            <a:off x="4096511" y="5084064"/>
            <a:ext cx="1975103" cy="15544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 i="0">
                <a:solidFill>
                  <a:srgbClr val="122F31"/>
                </a:solidFill>
                <a:latin typeface="Microsoft YaHei"/>
              </a:rPr>
              <a:t>POST /alerts/refresh</a:t>
            </a:r>
          </a:p>
        </p:txBody>
      </p:sp>
      <p:sp>
        <p:nvSpPr>
          <p:cNvPr id="99" name="Rectangle 98"/>
          <p:cNvSpPr/>
          <p:nvPr/>
        </p:nvSpPr>
        <p:spPr>
          <a:xfrm>
            <a:off x="6126480" y="4965192"/>
            <a:ext cx="1965960" cy="420624"/>
          </a:xfrm>
          <a:prstGeom prst="rect">
            <a:avLst/>
          </a:prstGeom>
          <a:solidFill>
            <a:srgbClr val="FFFFFF"/>
          </a:solidFill>
          <a:ln w="10160">
            <a:solidFill>
              <a:srgbClr val="DAE6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0" name="TextBox 99"/>
          <p:cNvSpPr txBox="1"/>
          <p:nvPr/>
        </p:nvSpPr>
        <p:spPr>
          <a:xfrm>
            <a:off x="6181344" y="5084064"/>
            <a:ext cx="1856231" cy="15544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 i="0">
                <a:solidFill>
                  <a:srgbClr val="122F31"/>
                </a:solidFill>
                <a:latin typeface="Microsoft YaHei"/>
              </a:rPr>
              <a:t>alerts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8092440" y="4965192"/>
            <a:ext cx="3200400" cy="420624"/>
          </a:xfrm>
          <a:prstGeom prst="rect">
            <a:avLst/>
          </a:prstGeom>
          <a:solidFill>
            <a:srgbClr val="FFFFFF"/>
          </a:solidFill>
          <a:ln w="10160">
            <a:solidFill>
              <a:srgbClr val="DAE6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2" name="TextBox 101"/>
          <p:cNvSpPr txBox="1"/>
          <p:nvPr/>
        </p:nvSpPr>
        <p:spPr>
          <a:xfrm>
            <a:off x="8147304" y="5084064"/>
            <a:ext cx="3090672" cy="15544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 i="0">
                <a:solidFill>
                  <a:srgbClr val="122F31"/>
                </a:solidFill>
                <a:latin typeface="Microsoft YaHei"/>
              </a:rPr>
              <a:t>生成预警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749808" y="5404104"/>
            <a:ext cx="512064" cy="420624"/>
          </a:xfrm>
          <a:prstGeom prst="rect">
            <a:avLst/>
          </a:prstGeom>
          <a:solidFill>
            <a:srgbClr val="F2F7F4"/>
          </a:solidFill>
          <a:ln w="10160">
            <a:solidFill>
              <a:srgbClr val="DAE6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4" name="TextBox 103"/>
          <p:cNvSpPr txBox="1"/>
          <p:nvPr/>
        </p:nvSpPr>
        <p:spPr>
          <a:xfrm>
            <a:off x="804671" y="5522976"/>
            <a:ext cx="402336" cy="15544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 i="0">
                <a:solidFill>
                  <a:srgbClr val="1C5C57"/>
                </a:solidFill>
                <a:latin typeface="Microsoft YaHei"/>
              </a:rPr>
              <a:t>08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1353312" y="5404104"/>
            <a:ext cx="1298448" cy="420624"/>
          </a:xfrm>
          <a:prstGeom prst="rect">
            <a:avLst/>
          </a:prstGeom>
          <a:solidFill>
            <a:srgbClr val="F2F7F4"/>
          </a:solidFill>
          <a:ln w="10160">
            <a:solidFill>
              <a:srgbClr val="DAE6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6" name="TextBox 105"/>
          <p:cNvSpPr txBox="1"/>
          <p:nvPr/>
        </p:nvSpPr>
        <p:spPr>
          <a:xfrm>
            <a:off x="1408176" y="5522976"/>
            <a:ext cx="1188719" cy="15544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 i="0">
                <a:solidFill>
                  <a:srgbClr val="1C5C57"/>
                </a:solidFill>
                <a:latin typeface="Microsoft YaHei"/>
              </a:rPr>
              <a:t>查看审计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2651760" y="5404104"/>
            <a:ext cx="1389888" cy="420624"/>
          </a:xfrm>
          <a:prstGeom prst="rect">
            <a:avLst/>
          </a:prstGeom>
          <a:solidFill>
            <a:srgbClr val="F2F7F4"/>
          </a:solidFill>
          <a:ln w="10160">
            <a:solidFill>
              <a:srgbClr val="DAE6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8" name="TextBox 107"/>
          <p:cNvSpPr txBox="1"/>
          <p:nvPr/>
        </p:nvSpPr>
        <p:spPr>
          <a:xfrm>
            <a:off x="2706624" y="5522976"/>
            <a:ext cx="1280160" cy="15544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 i="0">
                <a:solidFill>
                  <a:srgbClr val="1C5C57"/>
                </a:solidFill>
                <a:latin typeface="Microsoft YaHei"/>
              </a:rPr>
              <a:t>证据汇总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4041648" y="5404104"/>
            <a:ext cx="2084831" cy="420624"/>
          </a:xfrm>
          <a:prstGeom prst="rect">
            <a:avLst/>
          </a:prstGeom>
          <a:solidFill>
            <a:srgbClr val="F2F7F4"/>
          </a:solidFill>
          <a:ln w="10160">
            <a:solidFill>
              <a:srgbClr val="DAE6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0" name="TextBox 109"/>
          <p:cNvSpPr txBox="1"/>
          <p:nvPr/>
        </p:nvSpPr>
        <p:spPr>
          <a:xfrm>
            <a:off x="4096511" y="5522976"/>
            <a:ext cx="1975103" cy="15544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 i="0">
                <a:solidFill>
                  <a:srgbClr val="1C5C57"/>
                </a:solidFill>
                <a:latin typeface="Microsoft YaHei"/>
              </a:rPr>
              <a:t>GET /audit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6126480" y="5404104"/>
            <a:ext cx="1965960" cy="420624"/>
          </a:xfrm>
          <a:prstGeom prst="rect">
            <a:avLst/>
          </a:prstGeom>
          <a:solidFill>
            <a:srgbClr val="F2F7F4"/>
          </a:solidFill>
          <a:ln w="10160">
            <a:solidFill>
              <a:srgbClr val="DAE6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2" name="TextBox 111"/>
          <p:cNvSpPr txBox="1"/>
          <p:nvPr/>
        </p:nvSpPr>
        <p:spPr>
          <a:xfrm>
            <a:off x="6181344" y="5522976"/>
            <a:ext cx="1856231" cy="15544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 i="0">
                <a:solidFill>
                  <a:srgbClr val="1C5C57"/>
                </a:solidFill>
                <a:latin typeface="Microsoft YaHei"/>
              </a:rPr>
              <a:t>audit_logs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8092440" y="5404104"/>
            <a:ext cx="3200400" cy="420624"/>
          </a:xfrm>
          <a:prstGeom prst="rect">
            <a:avLst/>
          </a:prstGeom>
          <a:solidFill>
            <a:srgbClr val="F2F7F4"/>
          </a:solidFill>
          <a:ln w="10160">
            <a:solidFill>
              <a:srgbClr val="DAE6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4" name="TextBox 113"/>
          <p:cNvSpPr txBox="1"/>
          <p:nvPr/>
        </p:nvSpPr>
        <p:spPr>
          <a:xfrm>
            <a:off x="8147304" y="5522976"/>
            <a:ext cx="3090672" cy="15544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 i="0">
                <a:solidFill>
                  <a:srgbClr val="1C5C57"/>
                </a:solidFill>
                <a:latin typeface="Microsoft YaHei"/>
              </a:rPr>
              <a:t>动作不可删除</a:t>
            </a:r>
          </a:p>
        </p:txBody>
      </p:sp>
      <p:sp>
        <p:nvSpPr>
          <p:cNvPr id="115" name="Rounded Rectangle 114"/>
          <p:cNvSpPr/>
          <p:nvPr/>
        </p:nvSpPr>
        <p:spPr>
          <a:xfrm>
            <a:off x="8275320" y="6016752"/>
            <a:ext cx="3246120" cy="320040"/>
          </a:xfrm>
          <a:prstGeom prst="roundRect">
            <a:avLst>
              <a:gd name="adj" fmla="val 8000"/>
            </a:avLst>
          </a:prstGeom>
          <a:solidFill>
            <a:srgbClr val="FFF4D8"/>
          </a:solidFill>
          <a:ln w="10160">
            <a:solidFill>
              <a:srgbClr val="FFF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6" name="TextBox 115"/>
          <p:cNvSpPr txBox="1"/>
          <p:nvPr/>
        </p:nvSpPr>
        <p:spPr>
          <a:xfrm>
            <a:off x="8321040" y="6099048"/>
            <a:ext cx="3154680" cy="13716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 i="0">
                <a:solidFill>
                  <a:srgbClr val="E7A13B"/>
                </a:solidFill>
                <a:latin typeface="Microsoft YaHei"/>
              </a:rPr>
              <a:t>状态推进 + 库存变化 + 留痕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502920" y="6519672"/>
            <a:ext cx="4572000" cy="16459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677B77"/>
                </a:solidFill>
                <a:latin typeface="Microsoft YaHei"/>
              </a:rPr>
              <a:t>顾峰鸣 Web 版  ·  张誉诚 Release 桌面端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11292840" y="6519672"/>
            <a:ext cx="393192" cy="16459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 i="0">
                <a:solidFill>
                  <a:srgbClr val="677B77"/>
                </a:solidFill>
                <a:latin typeface="Microsoft YaHei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8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66928" y="566928"/>
            <a:ext cx="868680" cy="274320"/>
          </a:xfrm>
          <a:prstGeom prst="roundRect">
            <a:avLst>
              <a:gd name="adj" fmla="val 8000"/>
            </a:avLst>
          </a:prstGeom>
          <a:solidFill>
            <a:srgbClr val="1C5C57"/>
          </a:solidFill>
          <a:ln w="10160">
            <a:solidFill>
              <a:srgbClr val="1C5C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621792"/>
            <a:ext cx="722376" cy="12801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 i="0">
                <a:solidFill>
                  <a:srgbClr val="FFFFFF"/>
                </a:solidFill>
                <a:latin typeface="Microsoft YaHei"/>
              </a:rPr>
              <a:t>FINAL CHECK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243584"/>
            <a:ext cx="6675120" cy="56692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100" b="1" i="0">
                <a:solidFill>
                  <a:srgbClr val="122F31"/>
                </a:solidFill>
                <a:latin typeface="Microsoft YaHei"/>
              </a:rPr>
              <a:t>可行、可验收、可持续演进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3504" y="2011680"/>
            <a:ext cx="6766560" cy="25603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677B77"/>
                </a:solidFill>
                <a:latin typeface="Microsoft YaHei"/>
              </a:rPr>
              <a:t>ChemTrack 已具备课程设计所需的可运行 MVP，需求边界和演进路径清晰。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" y="2907792"/>
            <a:ext cx="3063240" cy="142646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AE6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21792" y="2907792"/>
            <a:ext cx="3063240" cy="118872"/>
          </a:xfrm>
          <a:prstGeom prst="rect">
            <a:avLst/>
          </a:prstGeom>
          <a:solidFill>
            <a:srgbClr val="1C5C57"/>
          </a:solidFill>
          <a:ln w="10160">
            <a:solidFill>
              <a:srgbClr val="1C5C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04672" y="3218688"/>
            <a:ext cx="393192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 i="0">
                <a:solidFill>
                  <a:srgbClr val="1C5C57"/>
                </a:solidFill>
                <a:latin typeface="Microsoft YaHei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35024" y="3255264"/>
            <a:ext cx="1993392" cy="20116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122F31"/>
                </a:solidFill>
                <a:latin typeface="Microsoft YaHei"/>
              </a:rPr>
              <a:t>可行性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" y="3703320"/>
            <a:ext cx="2651760" cy="4114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677B77"/>
                </a:solidFill>
                <a:latin typeface="Microsoft YaHei"/>
              </a:rPr>
              <a:t>技术与操作已验证，经济可控，社会价值明确；法律方向需制度复核。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33672" y="2907792"/>
            <a:ext cx="3063240" cy="142646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AE6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233672" y="2907792"/>
            <a:ext cx="3063240" cy="118872"/>
          </a:xfrm>
          <a:prstGeom prst="rect">
            <a:avLst/>
          </a:prstGeom>
          <a:solidFill>
            <a:srgbClr val="E7A13B"/>
          </a:solidFill>
          <a:ln w="10160">
            <a:solidFill>
              <a:srgbClr val="E7A1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416552" y="3218688"/>
            <a:ext cx="393192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 i="0">
                <a:solidFill>
                  <a:srgbClr val="E7A13B"/>
                </a:solidFill>
                <a:latin typeface="Microsoft YaHei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46904" y="3255264"/>
            <a:ext cx="1993392" cy="20116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122F31"/>
                </a:solidFill>
                <a:latin typeface="Microsoft YaHei"/>
              </a:rPr>
              <a:t>需求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16552" y="3703320"/>
            <a:ext cx="2651760" cy="4114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677B77"/>
                </a:solidFill>
                <a:latin typeface="Microsoft YaHei"/>
              </a:rPr>
              <a:t>功能、性能、可靠性、可用性、异常、接口、约束、逆向与未来要求均有落点。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845552" y="2907792"/>
            <a:ext cx="3063240" cy="142646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AE6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7845552" y="2907792"/>
            <a:ext cx="3063240" cy="118872"/>
          </a:xfrm>
          <a:prstGeom prst="rect">
            <a:avLst/>
          </a:prstGeom>
          <a:solidFill>
            <a:srgbClr val="E26F62"/>
          </a:solidFill>
          <a:ln w="10160">
            <a:solidFill>
              <a:srgbClr val="E26F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028431" y="3218688"/>
            <a:ext cx="393192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 i="0">
                <a:solidFill>
                  <a:srgbClr val="E26F62"/>
                </a:solidFill>
                <a:latin typeface="Microsoft YaHei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58784" y="3255264"/>
            <a:ext cx="1993392" cy="20116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122F31"/>
                </a:solidFill>
                <a:latin typeface="Microsoft YaHei"/>
              </a:rPr>
              <a:t>实现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28431" y="3703320"/>
            <a:ext cx="2651760" cy="4114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677B77"/>
                </a:solidFill>
                <a:latin typeface="Microsoft YaHei"/>
              </a:rPr>
              <a:t>Vue + Spring Boot + MySQL 与 DFD / ER / 状态模型保持一致。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2" y="4983480"/>
            <a:ext cx="10716768" cy="749808"/>
          </a:xfrm>
          <a:prstGeom prst="roundRect">
            <a:avLst>
              <a:gd name="adj" fmla="val 8000"/>
            </a:avLst>
          </a:prstGeom>
          <a:solidFill>
            <a:srgbClr val="122F31"/>
          </a:solidFill>
          <a:ln w="10160">
            <a:solidFill>
              <a:srgbClr val="122F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77824" y="5193792"/>
            <a:ext cx="1143000" cy="1828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E7A13B"/>
                </a:solidFill>
                <a:latin typeface="Microsoft YaHei"/>
              </a:rPr>
              <a:t>答辩检查句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231136" y="5138928"/>
            <a:ext cx="8732520" cy="25603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Microsoft YaHei"/>
              </a:rPr>
              <a:t>每一个需求是否都有角色、状态、数据、接口和验收证据？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1792" y="6236208"/>
            <a:ext cx="5486400" cy="1828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 i="0">
                <a:solidFill>
                  <a:srgbClr val="1C5C57"/>
                </a:solidFill>
                <a:latin typeface="Microsoft YaHei"/>
              </a:rPr>
              <a:t>ChemTrack  /  Web × Desktop Release  /  2026.09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92640" y="6172200"/>
            <a:ext cx="1645920" cy="29260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800" b="1" i="0">
                <a:solidFill>
                  <a:srgbClr val="122F31"/>
                </a:solidFill>
                <a:latin typeface="Microsoft YaHei"/>
              </a:rPr>
              <a:t>感谢聆听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1176</Words>
  <Application>Microsoft Office PowerPoint</Application>
  <PresentationFormat>宽屏</PresentationFormat>
  <Paragraphs>337</Paragraphs>
  <Slides>15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15</vt:i4>
      </vt:variant>
    </vt:vector>
  </HeadingPairs>
  <TitlesOfParts>
    <vt:vector size="19" baseType="lpstr">
      <vt:lpstr>Microsoft YaHei</vt:lpstr>
      <vt:lpstr>Arial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subject/>
  <dc:creator/>
  <cp:keywords/>
  <dc:description>generated using python-pptx</dc:description>
  <cp:lastModifiedBy>峰鸣 顾</cp:lastModifiedBy>
  <cp:revision>4</cp:revision>
  <dcterms:created xsi:type="dcterms:W3CDTF">2013-01-27T09:14:16Z</dcterms:created>
  <dcterms:modified xsi:type="dcterms:W3CDTF">2026-09-16T15:03:52Z</dcterms:modified>
  <cp:category/>
</cp:coreProperties>
</file>