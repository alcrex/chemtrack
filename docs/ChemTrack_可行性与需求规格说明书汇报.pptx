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chemtrack_requirements_pp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chemtrack_requirements_pp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685800"/>
            <a:ext cx="76200" cy="1295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27735" y="850106"/>
            <a:ext cx="16463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spc="105" dirty="0">
                <a:solidFill>
                  <a:srgbClr val="B7D7CD"/>
                </a:solidFill>
                <a:latin typeface="+mn-lt"/>
                <a:ea typeface="+mn-ea"/>
                <a:cs typeface="+mn-cs"/>
              </a:rPr>
              <a:t>软件工程课程设计汇报</a:t>
            </a:r>
          </a:p>
        </p:txBody>
      </p:sp>
      <p:sp>
        <p:nvSpPr>
          <p:cNvPr id="4" name="cover-title"/>
          <p:cNvSpPr txBox="1"/>
          <p:nvPr/>
        </p:nvSpPr>
        <p:spPr>
          <a:xfrm>
            <a:off x="918972" y="1387792"/>
            <a:ext cx="4519851" cy="10336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3750"/>
              </a:lnSpc>
            </a:pPr>
            <a:r>
              <a:rPr lang="zh-CN" sz="2850" b="1" dirty="0">
                <a:solidFill>
                  <a:srgbClr val="F5F7F4"/>
                </a:solidFill>
                <a:latin typeface="+mn-lt"/>
                <a:ea typeface="+mn-ea"/>
                <a:cs typeface="+mn-cs"/>
              </a:rPr>
              <a:t>ChemTrack：把危化品管理</a:t>
            </a:r>
            <a:br/>
            <a:r>
              <a:rPr lang="zh-CN" sz="2850" b="1" dirty="0">
                <a:solidFill>
                  <a:srgbClr val="F5F7F4"/>
                </a:solidFill>
                <a:latin typeface="+mn-lt"/>
                <a:ea typeface="+mn-ea"/>
                <a:cs typeface="+mn-cs"/>
              </a:rPr>
              <a:t>变成一条可追溯责任链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45261" y="2722721"/>
            <a:ext cx="503658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CBE2DA"/>
                </a:solidFill>
                <a:latin typeface="+mn-lt"/>
                <a:ea typeface="+mn-ea"/>
                <a:cs typeface="+mn-cs"/>
              </a:rPr>
              <a:t>从问题定义到需求规格，再到可运行的校园实验室管理 MVP</a:t>
            </a:r>
          </a:p>
        </p:txBody>
      </p:sp>
      <p:sp>
        <p:nvSpPr>
          <p:cNvPr id="6" name="Rectangle 6"/>
          <p:cNvSpPr/>
          <p:nvPr/>
        </p:nvSpPr>
        <p:spPr>
          <a:xfrm>
            <a:off x="952500" y="3333750"/>
            <a:ext cx="1314450" cy="247650"/>
          </a:xfrm>
          <a:prstGeom prst="roundRect">
            <a:avLst>
              <a:gd name="adj" fmla="val 50000"/>
            </a:avLst>
          </a:prstGeom>
          <a:solidFill>
            <a:srgbClr val="214E49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83574" y="3399949"/>
            <a:ext cx="85230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MVP 已可运行</a:t>
            </a:r>
          </a:p>
        </p:txBody>
      </p:sp>
      <p:sp>
        <p:nvSpPr>
          <p:cNvPr id="8" name="Rectangle 8"/>
          <p:cNvSpPr/>
          <p:nvPr/>
        </p:nvSpPr>
        <p:spPr>
          <a:xfrm>
            <a:off x="2400300" y="3333750"/>
            <a:ext cx="1314450" cy="247650"/>
          </a:xfrm>
          <a:prstGeom prst="roundRect">
            <a:avLst>
              <a:gd name="adj" fmla="val 50000"/>
            </a:avLst>
          </a:prstGeom>
          <a:solidFill>
            <a:srgbClr val="4A3B27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625786" y="3399949"/>
            <a:ext cx="863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12 页评审主线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6785" y="5841206"/>
            <a:ext cx="388884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B7D7CD"/>
                </a:solidFill>
                <a:latin typeface="Cascadia Mono"/>
                <a:ea typeface="Cascadia Mono"/>
                <a:cs typeface="Cascadia Mono"/>
              </a:rPr>
              <a:t>Vue 3 · Spring Boot 3.4 · Java 17 · MySQL 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7547" y="6162199"/>
            <a:ext cx="783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Cascadia Mono"/>
                <a:ea typeface="Cascadia Mono"/>
                <a:cs typeface="Cascadia Mono"/>
              </a:rPr>
              <a:t>2026.09.15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94835" y="177165"/>
            <a:ext cx="1032080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2A625B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13" name="Line 13"/>
          <p:cNvSpPr/>
          <p:nvPr/>
        </p:nvSpPr>
        <p:spPr>
          <a:xfrm>
            <a:off x="7810500" y="171450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28575">
            <a:solidFill>
              <a:srgbClr val="4EA98F"/>
            </a:solidFill>
          </a:ln>
        </p:spPr>
      </p:sp>
      <p:sp>
        <p:nvSpPr>
          <p:cNvPr id="14" name="Line 14"/>
          <p:cNvSpPr/>
          <p:nvPr/>
        </p:nvSpPr>
        <p:spPr>
          <a:xfrm>
            <a:off x="7886700" y="1714500"/>
            <a:ext cx="495300" cy="9525"/>
          </a:xfrm>
          <a:custGeom>
            <a:avLst/>
            <a:gdLst/>
            <a:ahLst/>
            <a:cxnLst/>
            <a:rect l="l" t="t" r="r" b="b"/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28575">
            <a:solidFill>
              <a:srgbClr val="4EA98F"/>
            </a:solidFill>
          </a:ln>
        </p:spPr>
      </p:sp>
      <p:sp>
        <p:nvSpPr>
          <p:cNvPr id="15" name="Ellipse 15"/>
          <p:cNvSpPr/>
          <p:nvPr/>
        </p:nvSpPr>
        <p:spPr>
          <a:xfrm>
            <a:off x="7724775" y="1628775"/>
            <a:ext cx="171450" cy="171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663815" y="1982152"/>
            <a:ext cx="2933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5F7F4"/>
                </a:solidFill>
                <a:latin typeface="+mn-lt"/>
                <a:ea typeface="+mn-ea"/>
                <a:cs typeface="+mn-cs"/>
              </a:rPr>
              <a:t>采购</a:t>
            </a:r>
          </a:p>
        </p:txBody>
      </p:sp>
      <p:sp>
        <p:nvSpPr>
          <p:cNvPr id="17" name="Line 17"/>
          <p:cNvSpPr/>
          <p:nvPr/>
        </p:nvSpPr>
        <p:spPr>
          <a:xfrm>
            <a:off x="8534400" y="1714500"/>
            <a:ext cx="495300" cy="9525"/>
          </a:xfrm>
          <a:custGeom>
            <a:avLst/>
            <a:gdLst/>
            <a:ahLst/>
            <a:cxnLst/>
            <a:rect l="l" t="t" r="r" b="b"/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28575">
            <a:solidFill>
              <a:srgbClr val="4EA98F"/>
            </a:solidFill>
          </a:ln>
        </p:spPr>
      </p:sp>
      <p:sp>
        <p:nvSpPr>
          <p:cNvPr id="18" name="Ellipse 18"/>
          <p:cNvSpPr/>
          <p:nvPr/>
        </p:nvSpPr>
        <p:spPr>
          <a:xfrm>
            <a:off x="8372475" y="1628775"/>
            <a:ext cx="171450" cy="171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311515" y="1982152"/>
            <a:ext cx="2933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5F7F4"/>
                </a:solidFill>
                <a:latin typeface="+mn-lt"/>
                <a:ea typeface="+mn-ea"/>
                <a:cs typeface="+mn-cs"/>
              </a:rPr>
              <a:t>库存</a:t>
            </a:r>
          </a:p>
        </p:txBody>
      </p:sp>
      <p:sp>
        <p:nvSpPr>
          <p:cNvPr id="20" name="Line 20"/>
          <p:cNvSpPr/>
          <p:nvPr/>
        </p:nvSpPr>
        <p:spPr>
          <a:xfrm>
            <a:off x="9182100" y="1714500"/>
            <a:ext cx="495300" cy="9525"/>
          </a:xfrm>
          <a:custGeom>
            <a:avLst/>
            <a:gdLst/>
            <a:ahLst/>
            <a:cxnLst/>
            <a:rect l="l" t="t" r="r" b="b"/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28575">
            <a:solidFill>
              <a:srgbClr val="4EA98F"/>
            </a:solidFill>
          </a:ln>
        </p:spPr>
      </p:sp>
      <p:sp>
        <p:nvSpPr>
          <p:cNvPr id="21" name="Ellipse 21"/>
          <p:cNvSpPr/>
          <p:nvPr/>
        </p:nvSpPr>
        <p:spPr>
          <a:xfrm>
            <a:off x="9020175" y="1628775"/>
            <a:ext cx="171450" cy="1714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959215" y="1982152"/>
            <a:ext cx="2933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5F7F4"/>
                </a:solidFill>
                <a:latin typeface="+mn-lt"/>
                <a:ea typeface="+mn-ea"/>
                <a:cs typeface="+mn-cs"/>
              </a:rPr>
              <a:t>领用</a:t>
            </a:r>
          </a:p>
        </p:txBody>
      </p:sp>
      <p:sp>
        <p:nvSpPr>
          <p:cNvPr id="23" name="Line 23"/>
          <p:cNvSpPr/>
          <p:nvPr/>
        </p:nvSpPr>
        <p:spPr>
          <a:xfrm>
            <a:off x="9829800" y="1714500"/>
            <a:ext cx="495300" cy="9525"/>
          </a:xfrm>
          <a:custGeom>
            <a:avLst/>
            <a:gdLst/>
            <a:ahLst/>
            <a:cxnLst/>
            <a:rect l="l" t="t" r="r" b="b"/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28575">
            <a:solidFill>
              <a:srgbClr val="4EA98F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9667875" y="1628775"/>
            <a:ext cx="171450" cy="171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606915" y="1982152"/>
            <a:ext cx="2933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5F7F4"/>
                </a:solidFill>
                <a:latin typeface="+mn-lt"/>
                <a:ea typeface="+mn-ea"/>
                <a:cs typeface="+mn-cs"/>
              </a:rPr>
              <a:t>使用</a:t>
            </a:r>
          </a:p>
        </p:txBody>
      </p:sp>
      <p:sp>
        <p:nvSpPr>
          <p:cNvPr id="26" name="Line 26"/>
          <p:cNvSpPr/>
          <p:nvPr/>
        </p:nvSpPr>
        <p:spPr>
          <a:xfrm>
            <a:off x="10477500" y="1714500"/>
            <a:ext cx="495300" cy="9525"/>
          </a:xfrm>
          <a:custGeom>
            <a:avLst/>
            <a:gdLst/>
            <a:ahLst/>
            <a:cxnLst/>
            <a:rect l="l" t="t" r="r" b="b"/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28575">
            <a:solidFill>
              <a:srgbClr val="4EA98F"/>
            </a:solidFill>
          </a:ln>
        </p:spPr>
      </p:sp>
      <p:sp>
        <p:nvSpPr>
          <p:cNvPr id="27" name="Ellipse 27"/>
          <p:cNvSpPr/>
          <p:nvPr/>
        </p:nvSpPr>
        <p:spPr>
          <a:xfrm>
            <a:off x="10315575" y="1628775"/>
            <a:ext cx="171450" cy="1714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0254615" y="1982152"/>
            <a:ext cx="2933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5F7F4"/>
                </a:solidFill>
                <a:latin typeface="+mn-lt"/>
                <a:ea typeface="+mn-ea"/>
                <a:cs typeface="+mn-cs"/>
              </a:rPr>
              <a:t>处置</a:t>
            </a:r>
          </a:p>
        </p:txBody>
      </p:sp>
      <p:sp>
        <p:nvSpPr>
          <p:cNvPr id="29" name="Ellipse 29"/>
          <p:cNvSpPr/>
          <p:nvPr/>
        </p:nvSpPr>
        <p:spPr>
          <a:xfrm>
            <a:off x="10963275" y="1628775"/>
            <a:ext cx="171450" cy="171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902315" y="1982152"/>
            <a:ext cx="2933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5F7F4"/>
                </a:solidFill>
                <a:latin typeface="+mn-lt"/>
                <a:ea typeface="+mn-ea"/>
                <a:cs typeface="+mn-cs"/>
              </a:rPr>
              <a:t>审计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802880" y="2847975"/>
            <a:ext cx="2301240" cy="1379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850"/>
              </a:lnSpc>
            </a:pPr>
            <a:r>
              <a:rPr lang="zh-CN" sz="1500" dirty="0">
                <a:solidFill>
                  <a:srgbClr val="D5E7E1"/>
                </a:solidFill>
                <a:latin typeface="+mn-lt"/>
                <a:ea typeface="+mn-ea"/>
                <a:cs typeface="+mn-cs"/>
              </a:rPr>
              <a:t>一套系统回答四个问题：</a:t>
            </a:r>
            <a:br/>
            <a:r>
              <a:rPr lang="zh-CN" sz="1500" dirty="0">
                <a:solidFill>
                  <a:srgbClr val="D5E7E1"/>
                </a:solidFill>
                <a:latin typeface="+mn-lt"/>
                <a:ea typeface="+mn-ea"/>
                <a:cs typeface="+mn-cs"/>
              </a:rPr>
              <a:t>谁在什么状态下做了什么？</a:t>
            </a:r>
            <a:br/>
            <a:r>
              <a:rPr lang="zh-CN" sz="1500" dirty="0">
                <a:solidFill>
                  <a:srgbClr val="D5E7E1"/>
                </a:solidFill>
                <a:latin typeface="+mn-lt"/>
                <a:ea typeface="+mn-ea"/>
                <a:cs typeface="+mn-cs"/>
              </a:rPr>
              <a:t>库存如何变化？</a:t>
            </a:r>
            <a:br/>
            <a:r>
              <a:rPr lang="zh-CN" sz="1500" dirty="0">
                <a:solidFill>
                  <a:srgbClr val="D5E7E1"/>
                </a:solidFill>
                <a:latin typeface="+mn-lt"/>
                <a:ea typeface="+mn-ea"/>
                <a:cs typeface="+mn-cs"/>
              </a:rPr>
              <a:t>证据如何留下？</a:t>
            </a:r>
          </a:p>
        </p:txBody>
      </p:sp>
      <p:sp>
        <p:nvSpPr>
          <p:cNvPr id="32" name="Line 32"/>
          <p:cNvSpPr/>
          <p:nvPr/>
        </p:nvSpPr>
        <p:spPr>
          <a:xfrm>
            <a:off x="7810500" y="464820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9525">
            <a:solidFill>
              <a:srgbClr val="2E6D65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805547" y="4923949"/>
            <a:ext cx="57396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spc="9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汇报主线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802880" y="5210175"/>
            <a:ext cx="32117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F7F4"/>
                </a:solidFill>
                <a:latin typeface="+mn-lt"/>
                <a:ea typeface="+mn-ea"/>
                <a:cs typeface="+mn-cs"/>
              </a:rPr>
              <a:t>问题 → 可行性 → 需求 → 模型 → 实现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field"/>
          <p:cNvSpPr/>
          <p:nvPr/>
        </p:nvSpPr>
        <p:spPr>
          <a:xfrm>
            <a:off x="0" y="0"/>
            <a:ext cx="12192000" cy="8953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eyebrow"/>
          <p:cNvSpPr txBox="1"/>
          <p:nvPr/>
        </p:nvSpPr>
        <p:spPr>
          <a:xfrm>
            <a:off x="604838" y="188595"/>
            <a:ext cx="138184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12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PART 1 · 问题与价值</a:t>
            </a:r>
          </a:p>
        </p:txBody>
      </p:sp>
      <p:sp>
        <p:nvSpPr>
          <p:cNvPr id="4" name="page-title"/>
          <p:cNvSpPr txBox="1"/>
          <p:nvPr/>
        </p:nvSpPr>
        <p:spPr>
          <a:xfrm>
            <a:off x="598551" y="403384"/>
            <a:ext cx="5304587" cy="4253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b="1" dirty="0">
                <a:solidFill>
                  <a:srgbClr val="F5F7F4"/>
                </a:solidFill>
                <a:latin typeface="+mn-lt"/>
                <a:ea typeface="+mn-ea"/>
                <a:cs typeface="+mn-cs"/>
              </a:rPr>
              <a:t>问题定义：责任链断裂比功能不足更危险</a:t>
            </a:r>
          </a:p>
        </p:txBody>
      </p:sp>
      <p:sp>
        <p:nvSpPr>
          <p:cNvPr id="5" name="page-subtitle"/>
          <p:cNvSpPr txBox="1"/>
          <p:nvPr/>
        </p:nvSpPr>
        <p:spPr>
          <a:xfrm>
            <a:off x="603885" y="983456"/>
            <a:ext cx="28761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危化品风险来自跨角色、跨状态的信息断裂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11036280" y="390049"/>
            <a:ext cx="55107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b="1" dirty="0">
                <a:solidFill>
                  <a:srgbClr val="B7D7CD"/>
                </a:solidFill>
                <a:latin typeface="Cascadia Mono"/>
                <a:ea typeface="Cascadia Mono"/>
                <a:cs typeface="Cascadia Mono"/>
              </a:rPr>
              <a:t>02 / 12</a:t>
            </a:r>
          </a:p>
        </p:txBody>
      </p:sp>
      <p:sp>
        <p:nvSpPr>
          <p:cNvPr id="7" name="Line 7"/>
          <p:cNvSpPr/>
          <p:nvPr/>
        </p:nvSpPr>
        <p:spPr>
          <a:xfrm>
            <a:off x="609600" y="648652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8" name="footer-label"/>
          <p:cNvSpPr txBox="1"/>
          <p:nvPr/>
        </p:nvSpPr>
        <p:spPr>
          <a:xfrm>
            <a:off x="604838" y="6616541"/>
            <a:ext cx="163731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82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CHEMTRACK · 课程设计汇报</a:t>
            </a:r>
          </a:p>
        </p:txBody>
      </p:sp>
      <p:sp>
        <p:nvSpPr>
          <p:cNvPr id="9" name="footer-section"/>
          <p:cNvSpPr txBox="1"/>
          <p:nvPr/>
        </p:nvSpPr>
        <p:spPr>
          <a:xfrm>
            <a:off x="10694530" y="6616541"/>
            <a:ext cx="89263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需求与可行性研究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3504" y="1375410"/>
            <a:ext cx="6886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spc="75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现状断点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66154" y="1375410"/>
            <a:ext cx="6886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spc="7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系统目标</a:t>
            </a:r>
          </a:p>
        </p:txBody>
      </p:sp>
      <p:sp>
        <p:nvSpPr>
          <p:cNvPr id="12" name="Line 12"/>
          <p:cNvSpPr/>
          <p:nvPr/>
        </p:nvSpPr>
        <p:spPr>
          <a:xfrm>
            <a:off x="6096000" y="1390650"/>
            <a:ext cx="9525" cy="4000500"/>
          </a:xfrm>
          <a:custGeom>
            <a:avLst/>
            <a:gdLst/>
            <a:ahLst/>
            <a:cxnLst/>
            <a:rect l="l" t="t" r="r" b="b"/>
            <a:pathLst>
              <a:path w="9525" h="4000500">
                <a:moveTo>
                  <a:pt x="0" y="0"/>
                </a:moveTo>
                <a:lnTo>
                  <a:pt x="0" y="4000500"/>
                </a:lnTo>
              </a:path>
            </a:pathLst>
          </a:custGeom>
          <a:noFill/>
          <a:ln w="19050">
            <a:solidFill>
              <a:schemeClr val="accent5"/>
            </a:solidFill>
            <a:custDash>
              <a:ds d="300000" sp="300000"/>
            </a:custDash>
          </a:ln>
        </p:spPr>
      </p:sp>
      <p:sp>
        <p:nvSpPr>
          <p:cNvPr id="13" name="Ellipse 13"/>
          <p:cNvSpPr/>
          <p:nvPr/>
        </p:nvSpPr>
        <p:spPr>
          <a:xfrm>
            <a:off x="809625" y="1666875"/>
            <a:ext cx="171450" cy="1714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115568" y="1631632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库存分散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18235" y="1974056"/>
            <a:ext cx="2002790" cy="4391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725"/>
              </a:lnSpc>
            </a:pPr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账本、表格、口头记录各自独立</a:t>
            </a:r>
            <a:br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库存和有效期无法及时联动</a:t>
            </a:r>
          </a:p>
        </p:txBody>
      </p:sp>
      <p:sp>
        <p:nvSpPr>
          <p:cNvPr id="16" name="Ellipse 16"/>
          <p:cNvSpPr/>
          <p:nvPr/>
        </p:nvSpPr>
        <p:spPr>
          <a:xfrm>
            <a:off x="809625" y="2905125"/>
            <a:ext cx="171450" cy="1714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115568" y="2869882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审批脱节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18235" y="3212306"/>
            <a:ext cx="1860550" cy="4391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725"/>
              </a:lnSpc>
            </a:pPr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申请、教师审批、管理员复核</a:t>
            </a:r>
            <a:br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缺少统一的状态和证据</a:t>
            </a:r>
          </a:p>
        </p:txBody>
      </p:sp>
      <p:sp>
        <p:nvSpPr>
          <p:cNvPr id="19" name="Ellipse 19"/>
          <p:cNvSpPr/>
          <p:nvPr/>
        </p:nvSpPr>
        <p:spPr>
          <a:xfrm>
            <a:off x="809625" y="4143375"/>
            <a:ext cx="171450" cy="1714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115568" y="4108132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责任难追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18235" y="4450556"/>
            <a:ext cx="1860550" cy="4391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725"/>
              </a:lnSpc>
            </a:pPr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使用、归还、处置与异常分散</a:t>
            </a:r>
            <a:br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出问题时很难还原完整链路</a:t>
            </a:r>
          </a:p>
        </p:txBody>
      </p:sp>
      <p:sp>
        <p:nvSpPr>
          <p:cNvPr id="22" name="Ellipse 22"/>
          <p:cNvSpPr/>
          <p:nvPr/>
        </p:nvSpPr>
        <p:spPr>
          <a:xfrm>
            <a:off x="6772275" y="1666875"/>
            <a:ext cx="171450" cy="171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078218" y="1631632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一套台账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080885" y="1974056"/>
            <a:ext cx="1953006" cy="4391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725"/>
              </a:lnSpc>
            </a:pPr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批次、CAS、有效期、存储要求</a:t>
            </a:r>
            <a:br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每个对象有唯一记录</a:t>
            </a:r>
          </a:p>
        </p:txBody>
      </p:sp>
      <p:sp>
        <p:nvSpPr>
          <p:cNvPr id="25" name="Ellipse 25"/>
          <p:cNvSpPr/>
          <p:nvPr/>
        </p:nvSpPr>
        <p:spPr>
          <a:xfrm>
            <a:off x="6772275" y="2905125"/>
            <a:ext cx="171450" cy="171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078218" y="2869882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分级审批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080885" y="3212306"/>
            <a:ext cx="1576070" cy="4391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725"/>
              </a:lnSpc>
            </a:pPr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高风险试剂双重审批</a:t>
            </a:r>
            <a:br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审批结果进入状态和审计</a:t>
            </a:r>
          </a:p>
        </p:txBody>
      </p:sp>
      <p:sp>
        <p:nvSpPr>
          <p:cNvPr id="28" name="Ellipse 28"/>
          <p:cNvSpPr/>
          <p:nvPr/>
        </p:nvSpPr>
        <p:spPr>
          <a:xfrm>
            <a:off x="6772275" y="4143375"/>
            <a:ext cx="171450" cy="1714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078218" y="4108132"/>
            <a:ext cx="11273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可追溯闭环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080885" y="4450556"/>
            <a:ext cx="1576070" cy="4391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725"/>
              </a:lnSpc>
            </a:pPr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从采购到处置持续留痕</a:t>
            </a:r>
            <a:br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风险中心主动提示和收敛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09600" y="5619750"/>
            <a:ext cx="10972800" cy="514350"/>
          </a:xfrm>
          <a:prstGeom prst="roundRect">
            <a:avLst>
              <a:gd name="adj" fmla="val 14815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70966" y="583025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成功标准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993011" y="5789771"/>
            <a:ext cx="632277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F5F7F4"/>
                </a:solidFill>
                <a:latin typeface="+mn-lt"/>
                <a:ea typeface="+mn-ea"/>
                <a:cs typeface="+mn-cs"/>
              </a:rPr>
              <a:t>每一批危化品都能回答：从哪里来、谁批准、谁使用、剩多少、如何处置。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field"/>
          <p:cNvSpPr/>
          <p:nvPr/>
        </p:nvSpPr>
        <p:spPr>
          <a:xfrm>
            <a:off x="0" y="0"/>
            <a:ext cx="12192000" cy="8953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eyebrow"/>
          <p:cNvSpPr txBox="1"/>
          <p:nvPr/>
        </p:nvSpPr>
        <p:spPr>
          <a:xfrm>
            <a:off x="604838" y="188595"/>
            <a:ext cx="138184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12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PART 2 · 可行性研究</a:t>
            </a:r>
          </a:p>
        </p:txBody>
      </p:sp>
      <p:sp>
        <p:nvSpPr>
          <p:cNvPr id="4" name="page-title"/>
          <p:cNvSpPr txBox="1"/>
          <p:nvPr/>
        </p:nvSpPr>
        <p:spPr>
          <a:xfrm>
            <a:off x="598551" y="403384"/>
            <a:ext cx="5711128" cy="4253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b="1" dirty="0">
                <a:solidFill>
                  <a:srgbClr val="F5F7F4"/>
                </a:solidFill>
                <a:latin typeface="+mn-lt"/>
                <a:ea typeface="+mn-ea"/>
                <a:cs typeface="+mn-cs"/>
              </a:rPr>
              <a:t>五维可行性：MVP 先落地，再扩展治理能力</a:t>
            </a:r>
          </a:p>
        </p:txBody>
      </p:sp>
      <p:sp>
        <p:nvSpPr>
          <p:cNvPr id="5" name="page-subtitle"/>
          <p:cNvSpPr txBox="1"/>
          <p:nvPr/>
        </p:nvSpPr>
        <p:spPr>
          <a:xfrm>
            <a:off x="603885" y="983456"/>
            <a:ext cx="37807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当前可做、成本可控、后续可扩展；法律适用需制度复核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11036280" y="390049"/>
            <a:ext cx="55107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b="1" dirty="0">
                <a:solidFill>
                  <a:srgbClr val="B7D7CD"/>
                </a:solidFill>
                <a:latin typeface="Cascadia Mono"/>
                <a:ea typeface="Cascadia Mono"/>
                <a:cs typeface="Cascadia Mono"/>
              </a:rPr>
              <a:t>03 / 12</a:t>
            </a:r>
          </a:p>
        </p:txBody>
      </p:sp>
      <p:sp>
        <p:nvSpPr>
          <p:cNvPr id="7" name="Line 7"/>
          <p:cNvSpPr/>
          <p:nvPr/>
        </p:nvSpPr>
        <p:spPr>
          <a:xfrm>
            <a:off x="609600" y="648652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8" name="footer-label"/>
          <p:cNvSpPr txBox="1"/>
          <p:nvPr/>
        </p:nvSpPr>
        <p:spPr>
          <a:xfrm>
            <a:off x="604838" y="6616541"/>
            <a:ext cx="163731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82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CHEMTRACK · 课程设计汇报</a:t>
            </a:r>
          </a:p>
        </p:txBody>
      </p:sp>
      <p:sp>
        <p:nvSpPr>
          <p:cNvPr id="9" name="footer-section"/>
          <p:cNvSpPr txBox="1"/>
          <p:nvPr/>
        </p:nvSpPr>
        <p:spPr>
          <a:xfrm>
            <a:off x="10694530" y="6616541"/>
            <a:ext cx="89263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需求与可行性研究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09600" y="1504950"/>
            <a:ext cx="3333750" cy="1676400"/>
          </a:xfrm>
          <a:prstGeom prst="roundRect">
            <a:avLst>
              <a:gd name="adj" fmla="val 4545"/>
            </a:avLst>
          </a:prstGeom>
          <a:solidFill>
            <a:srgbClr val="E5F5ED"/>
          </a:solidFill>
          <a:ln w="9525">
            <a:solidFill>
              <a:srgbClr val="DFE7E2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609600" y="1504950"/>
            <a:ext cx="3333750" cy="571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92480" y="17049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经济可行</a:t>
            </a:r>
          </a:p>
        </p:txBody>
      </p:sp>
      <p:sp>
        <p:nvSpPr>
          <p:cNvPr id="13" name="Rectangle 13"/>
          <p:cNvSpPr/>
          <p:nvPr/>
        </p:nvSpPr>
        <p:spPr>
          <a:xfrm>
            <a:off x="2514600" y="169545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2789428" y="1761649"/>
            <a:ext cx="66954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低成本复用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4385" y="2202656"/>
            <a:ext cx="2849118" cy="4581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75"/>
              </a:lnSpc>
            </a:pPr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Spring Boot / Vue / MySQL 均为现有技术栈</a:t>
            </a:r>
            <a:br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校园服务器部署，软件采购成本低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114800" y="1504950"/>
            <a:ext cx="3333750" cy="1676400"/>
          </a:xfrm>
          <a:prstGeom prst="roundRect">
            <a:avLst>
              <a:gd name="adj" fmla="val 4545"/>
            </a:avLst>
          </a:prstGeom>
          <a:solidFill>
            <a:srgbClr val="E5F5ED"/>
          </a:solidFill>
          <a:ln w="9525">
            <a:solidFill>
              <a:srgbClr val="DFE7E2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114800" y="1504950"/>
            <a:ext cx="3333750" cy="571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297680" y="17049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技术可行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019800" y="169545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360592" y="176164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已有验证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299585" y="2202656"/>
            <a:ext cx="2315718" cy="4581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75"/>
              </a:lnSpc>
            </a:pPr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Java 17 + Spring Boot 3.4 + JDBC</a:t>
            </a:r>
            <a:br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Vue 3 + Vite + MySQL 8 已跑通 MVP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620000" y="1504950"/>
            <a:ext cx="3962400" cy="1676400"/>
          </a:xfrm>
          <a:prstGeom prst="roundRect">
            <a:avLst>
              <a:gd name="adj" fmla="val 4545"/>
            </a:avLst>
          </a:prstGeom>
          <a:solidFill>
            <a:srgbClr val="E7F0EE"/>
          </a:solidFill>
          <a:ln w="9525">
            <a:solidFill>
              <a:srgbClr val="DFE7E2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7620000" y="1504950"/>
            <a:ext cx="3962400" cy="571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802880" y="17049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操作可行</a:t>
            </a:r>
          </a:p>
        </p:txBody>
      </p:sp>
      <p:sp>
        <p:nvSpPr>
          <p:cNvPr id="25" name="Rectangle 25"/>
          <p:cNvSpPr/>
          <p:nvPr/>
        </p:nvSpPr>
        <p:spPr>
          <a:xfrm>
            <a:off x="10153650" y="169545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362514" y="1761649"/>
            <a:ext cx="80147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角色贴合业务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804785" y="2202656"/>
            <a:ext cx="2287270" cy="4581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75"/>
              </a:lnSpc>
            </a:pPr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学生、教师、管理员的操作路径清晰</a:t>
            </a:r>
            <a:br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页面按采购、领用、风险、处置分区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09600" y="3409950"/>
            <a:ext cx="5257800" cy="1676400"/>
          </a:xfrm>
          <a:prstGeom prst="roundRect">
            <a:avLst>
              <a:gd name="adj" fmla="val 4545"/>
            </a:avLst>
          </a:prstGeom>
          <a:solidFill>
            <a:srgbClr val="E7F0EE"/>
          </a:solidFill>
          <a:ln w="9525">
            <a:solidFill>
              <a:srgbClr val="DFE7E2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09600" y="3409950"/>
            <a:ext cx="5257800" cy="571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92480" y="36099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社会可行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438650" y="360045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449623" y="3666649"/>
            <a:ext cx="11972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降低遗漏与沟通成本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4385" y="4107656"/>
            <a:ext cx="2287270" cy="4581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75"/>
              </a:lnSpc>
            </a:pPr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把安全责任从个人记忆变成流程证据</a:t>
            </a:r>
            <a:br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预警、异常、审计让管理更透明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038850" y="3409950"/>
            <a:ext cx="5543550" cy="1676400"/>
          </a:xfrm>
          <a:prstGeom prst="roundRect">
            <a:avLst>
              <a:gd name="adj" fmla="val 4545"/>
            </a:avLst>
          </a:prstGeom>
          <a:solidFill>
            <a:srgbClr val="FFF4D9"/>
          </a:solidFill>
          <a:ln w="9525">
            <a:solidFill>
              <a:srgbClr val="DFE7E2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6038850" y="3409950"/>
            <a:ext cx="5543550" cy="5715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221730" y="3609975"/>
            <a:ext cx="14706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社会 / 法律可行</a:t>
            </a:r>
          </a:p>
        </p:txBody>
      </p:sp>
      <p:sp>
        <p:nvSpPr>
          <p:cNvPr id="37" name="Rectangle 37"/>
          <p:cNvSpPr/>
          <p:nvPr/>
        </p:nvSpPr>
        <p:spPr>
          <a:xfrm>
            <a:off x="10153650" y="360045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0098659" y="3666649"/>
            <a:ext cx="1329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方向可行，制度要复核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223635" y="4107656"/>
            <a:ext cx="3140710" cy="4581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75"/>
              </a:lnSpc>
            </a:pPr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系统覆盖批次、审批、储存、处置和留痕能力</a:t>
            </a:r>
            <a:br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最终法律适用、制度口径由学校安全管理部门审核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09600" y="5467350"/>
            <a:ext cx="10972800" cy="552450"/>
          </a:xfrm>
          <a:prstGeom prst="roundRect">
            <a:avLst>
              <a:gd name="adj" fmla="val 13793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70966" y="5706428"/>
            <a:ext cx="4347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总判定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821942" y="5674042"/>
            <a:ext cx="69197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5F7F4"/>
                </a:solidFill>
                <a:latin typeface="+mn-lt"/>
                <a:ea typeface="+mn-ea"/>
                <a:cs typeface="+mn-cs"/>
              </a:rPr>
              <a:t>技术与操作可行；经济可控；社会价值明确；法律方向可行但必须保留制度审核边界。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field"/>
          <p:cNvSpPr/>
          <p:nvPr/>
        </p:nvSpPr>
        <p:spPr>
          <a:xfrm>
            <a:off x="0" y="0"/>
            <a:ext cx="12192000" cy="8953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eyebrow"/>
          <p:cNvSpPr txBox="1"/>
          <p:nvPr/>
        </p:nvSpPr>
        <p:spPr>
          <a:xfrm>
            <a:off x="604838" y="188595"/>
            <a:ext cx="124561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12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PART 2 · 需求规格</a:t>
            </a:r>
          </a:p>
        </p:txBody>
      </p:sp>
      <p:sp>
        <p:nvSpPr>
          <p:cNvPr id="4" name="page-title"/>
          <p:cNvSpPr txBox="1"/>
          <p:nvPr/>
        </p:nvSpPr>
        <p:spPr>
          <a:xfrm>
            <a:off x="598551" y="403384"/>
            <a:ext cx="5598058" cy="4253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b="1" dirty="0">
                <a:solidFill>
                  <a:srgbClr val="F5F7F4"/>
                </a:solidFill>
                <a:latin typeface="+mn-lt"/>
                <a:ea typeface="+mn-ea"/>
                <a:cs typeface="+mn-cs"/>
              </a:rPr>
              <a:t>功能需求：围绕危化品全生命周期形成闭环</a:t>
            </a:r>
          </a:p>
        </p:txBody>
      </p:sp>
      <p:sp>
        <p:nvSpPr>
          <p:cNvPr id="5" name="page-subtitle"/>
          <p:cNvSpPr txBox="1"/>
          <p:nvPr/>
        </p:nvSpPr>
        <p:spPr>
          <a:xfrm>
            <a:off x="603885" y="983456"/>
            <a:ext cx="408233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每个核心动作都有角色边界、状态变化、数据对象和审计记录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11036280" y="390049"/>
            <a:ext cx="55107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b="1" dirty="0">
                <a:solidFill>
                  <a:srgbClr val="B7D7CD"/>
                </a:solidFill>
                <a:latin typeface="Cascadia Mono"/>
                <a:ea typeface="Cascadia Mono"/>
                <a:cs typeface="Cascadia Mono"/>
              </a:rPr>
              <a:t>04 / 12</a:t>
            </a:r>
          </a:p>
        </p:txBody>
      </p:sp>
      <p:sp>
        <p:nvSpPr>
          <p:cNvPr id="7" name="Line 7"/>
          <p:cNvSpPr/>
          <p:nvPr/>
        </p:nvSpPr>
        <p:spPr>
          <a:xfrm>
            <a:off x="609600" y="648652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8" name="footer-label"/>
          <p:cNvSpPr txBox="1"/>
          <p:nvPr/>
        </p:nvSpPr>
        <p:spPr>
          <a:xfrm>
            <a:off x="604838" y="6616541"/>
            <a:ext cx="163731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82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CHEMTRACK · 课程设计汇报</a:t>
            </a:r>
          </a:p>
        </p:txBody>
      </p:sp>
      <p:sp>
        <p:nvSpPr>
          <p:cNvPr id="9" name="footer-section"/>
          <p:cNvSpPr txBox="1"/>
          <p:nvPr/>
        </p:nvSpPr>
        <p:spPr>
          <a:xfrm>
            <a:off x="10694530" y="6616541"/>
            <a:ext cx="89263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需求与可行性研究</a:t>
            </a:r>
          </a:p>
        </p:txBody>
      </p:sp>
      <p:sp>
        <p:nvSpPr>
          <p:cNvPr id="10" name="Line 10"/>
          <p:cNvSpPr/>
          <p:nvPr/>
        </p:nvSpPr>
        <p:spPr>
          <a:xfrm>
            <a:off x="952500" y="2667000"/>
            <a:ext cx="10267950" cy="1"/>
          </a:xfrm>
          <a:prstGeom prst="line">
            <a:avLst/>
          </a:prstGeom>
          <a:noFill/>
          <a:ln w="38100">
            <a:solidFill>
              <a:schemeClr val="accent1"/>
            </a:solidFill>
            <a:tailEnd type="triangle" w="lg" len="lg"/>
          </a:ln>
        </p:spPr>
      </p:sp>
      <p:sp>
        <p:nvSpPr>
          <p:cNvPr id="11" name="Ellipse 11"/>
          <p:cNvSpPr/>
          <p:nvPr/>
        </p:nvSpPr>
        <p:spPr>
          <a:xfrm>
            <a:off x="723900" y="24384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76739" y="2626995"/>
            <a:ext cx="1515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5F7F4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4101" y="3151346"/>
            <a:ext cx="39679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采购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00047" y="3476149"/>
            <a:ext cx="11049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申请 / 审批 / 验收</a:t>
            </a:r>
          </a:p>
        </p:txBody>
      </p:sp>
      <p:sp>
        <p:nvSpPr>
          <p:cNvPr id="15" name="Ellipse 15"/>
          <p:cNvSpPr/>
          <p:nvPr/>
        </p:nvSpPr>
        <p:spPr>
          <a:xfrm>
            <a:off x="2200275" y="243840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2353114" y="2626995"/>
            <a:ext cx="1515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5F7F4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30476" y="3151346"/>
            <a:ext cx="39679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库存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10459" y="3476149"/>
            <a:ext cx="12368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批次 / 有效期 / 位置</a:t>
            </a:r>
          </a:p>
        </p:txBody>
      </p:sp>
      <p:sp>
        <p:nvSpPr>
          <p:cNvPr id="19" name="Ellipse 19"/>
          <p:cNvSpPr/>
          <p:nvPr/>
        </p:nvSpPr>
        <p:spPr>
          <a:xfrm>
            <a:off x="3676650" y="243840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3829489" y="2626995"/>
            <a:ext cx="1515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5F7F4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706851" y="3151346"/>
            <a:ext cx="39679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领用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428656" y="3476149"/>
            <a:ext cx="95318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申请 / 分级审批</a:t>
            </a:r>
          </a:p>
        </p:txBody>
      </p:sp>
      <p:sp>
        <p:nvSpPr>
          <p:cNvPr id="23" name="Ellipse 23"/>
          <p:cNvSpPr/>
          <p:nvPr/>
        </p:nvSpPr>
        <p:spPr>
          <a:xfrm>
            <a:off x="5153025" y="243840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305864" y="2626995"/>
            <a:ext cx="1515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5F7F4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183226" y="3151346"/>
            <a:ext cx="39679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使用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905031" y="3476149"/>
            <a:ext cx="95318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发放 / 使用记录</a:t>
            </a:r>
          </a:p>
        </p:txBody>
      </p:sp>
      <p:sp>
        <p:nvSpPr>
          <p:cNvPr id="27" name="Ellipse 27"/>
          <p:cNvSpPr/>
          <p:nvPr/>
        </p:nvSpPr>
        <p:spPr>
          <a:xfrm>
            <a:off x="6629400" y="243840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82239" y="2626995"/>
            <a:ext cx="1515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5F7F4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59601" y="3151346"/>
            <a:ext cx="39679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归还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315442" y="3476149"/>
            <a:ext cx="10851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实际量 / 回补库存</a:t>
            </a:r>
          </a:p>
        </p:txBody>
      </p:sp>
      <p:sp>
        <p:nvSpPr>
          <p:cNvPr id="31" name="Ellipse 31"/>
          <p:cNvSpPr/>
          <p:nvPr/>
        </p:nvSpPr>
        <p:spPr>
          <a:xfrm>
            <a:off x="8105775" y="243840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258614" y="2626995"/>
            <a:ext cx="1515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5F7F4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35976" y="3151346"/>
            <a:ext cx="39679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处置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81922" y="3476149"/>
            <a:ext cx="11049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暂存 / 转运 / 完成</a:t>
            </a:r>
          </a:p>
        </p:txBody>
      </p:sp>
      <p:sp>
        <p:nvSpPr>
          <p:cNvPr id="35" name="Ellipse 35"/>
          <p:cNvSpPr/>
          <p:nvPr/>
        </p:nvSpPr>
        <p:spPr>
          <a:xfrm>
            <a:off x="9582150" y="24384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734989" y="2626995"/>
            <a:ext cx="1515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5F7F4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612351" y="3151346"/>
            <a:ext cx="39679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审计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410014" y="3476149"/>
            <a:ext cx="80147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动作不可删除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09600" y="4191000"/>
            <a:ext cx="3048000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FE7E2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774573" y="4339114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档案与采购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75716" y="4706302"/>
            <a:ext cx="2277618" cy="4339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00"/>
              </a:lnSpc>
            </a:pPr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FR-01 批次档案：CAS / 有效期 / 存储</a:t>
            </a:r>
            <a:br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FR-02 采购入库：申请→验收→入库</a:t>
            </a:r>
          </a:p>
        </p:txBody>
      </p:sp>
      <p:sp>
        <p:nvSpPr>
          <p:cNvPr id="42" name="Rectangle 42"/>
          <p:cNvSpPr/>
          <p:nvPr/>
        </p:nvSpPr>
        <p:spPr>
          <a:xfrm>
            <a:off x="4076700" y="4191000"/>
            <a:ext cx="3048000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FE7E2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4241673" y="4339114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领用与使用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242816" y="4706302"/>
            <a:ext cx="2017586" cy="4339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00"/>
              </a:lnSpc>
            </a:pPr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FR-03 高风险双重审批</a:t>
            </a:r>
            <a:br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FR-04 发放扣减库存并建使用记录</a:t>
            </a:r>
          </a:p>
        </p:txBody>
      </p:sp>
      <p:sp>
        <p:nvSpPr>
          <p:cNvPr id="45" name="Rectangle 45"/>
          <p:cNvSpPr/>
          <p:nvPr/>
        </p:nvSpPr>
        <p:spPr>
          <a:xfrm>
            <a:off x="7543800" y="4191000"/>
            <a:ext cx="3048000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FE7E2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7708773" y="4339114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风险与处置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709916" y="4706302"/>
            <a:ext cx="1750886" cy="4339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00"/>
              </a:lnSpc>
            </a:pPr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FR-05 归还回补并记录异常</a:t>
            </a:r>
            <a:br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FR-06 预警、处置、审计报表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04266" y="576357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验收口径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517142" y="5731192"/>
            <a:ext cx="467027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角色可执行 · 状态可追踪 · 库存可校验 · 关键动作可审计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field"/>
          <p:cNvSpPr/>
          <p:nvPr/>
        </p:nvSpPr>
        <p:spPr>
          <a:xfrm>
            <a:off x="0" y="0"/>
            <a:ext cx="12192000" cy="8953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eyebrow"/>
          <p:cNvSpPr txBox="1"/>
          <p:nvPr/>
        </p:nvSpPr>
        <p:spPr>
          <a:xfrm>
            <a:off x="604838" y="188595"/>
            <a:ext cx="124561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12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PART 2 · 需求规格</a:t>
            </a:r>
          </a:p>
        </p:txBody>
      </p:sp>
      <p:sp>
        <p:nvSpPr>
          <p:cNvPr id="4" name="page-title"/>
          <p:cNvSpPr txBox="1"/>
          <p:nvPr/>
        </p:nvSpPr>
        <p:spPr>
          <a:xfrm>
            <a:off x="598551" y="403384"/>
            <a:ext cx="4808620" cy="4253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b="1" dirty="0">
                <a:solidFill>
                  <a:srgbClr val="F5F7F4"/>
                </a:solidFill>
                <a:latin typeface="+mn-lt"/>
                <a:ea typeface="+mn-ea"/>
                <a:cs typeface="+mn-cs"/>
              </a:rPr>
              <a:t>质量需求：把“能运行”变成“可依赖”</a:t>
            </a:r>
          </a:p>
        </p:txBody>
      </p:sp>
      <p:sp>
        <p:nvSpPr>
          <p:cNvPr id="5" name="page-subtitle"/>
          <p:cNvSpPr txBox="1"/>
          <p:nvPr/>
        </p:nvSpPr>
        <p:spPr>
          <a:xfrm>
            <a:off x="603885" y="983456"/>
            <a:ext cx="408233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性能、可靠性、可用性和出错处理共同决定安全系统的可信度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11036280" y="390049"/>
            <a:ext cx="55107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b="1" dirty="0">
                <a:solidFill>
                  <a:srgbClr val="B7D7CD"/>
                </a:solidFill>
                <a:latin typeface="Cascadia Mono"/>
                <a:ea typeface="Cascadia Mono"/>
                <a:cs typeface="Cascadia Mono"/>
              </a:rPr>
              <a:t>05 / 12</a:t>
            </a:r>
          </a:p>
        </p:txBody>
      </p:sp>
      <p:sp>
        <p:nvSpPr>
          <p:cNvPr id="7" name="Line 7"/>
          <p:cNvSpPr/>
          <p:nvPr/>
        </p:nvSpPr>
        <p:spPr>
          <a:xfrm>
            <a:off x="609600" y="648652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8" name="footer-label"/>
          <p:cNvSpPr txBox="1"/>
          <p:nvPr/>
        </p:nvSpPr>
        <p:spPr>
          <a:xfrm>
            <a:off x="604838" y="6616541"/>
            <a:ext cx="163731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82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CHEMTRACK · 课程设计汇报</a:t>
            </a:r>
          </a:p>
        </p:txBody>
      </p:sp>
      <p:sp>
        <p:nvSpPr>
          <p:cNvPr id="9" name="footer-section"/>
          <p:cNvSpPr txBox="1"/>
          <p:nvPr/>
        </p:nvSpPr>
        <p:spPr>
          <a:xfrm>
            <a:off x="10694530" y="6616541"/>
            <a:ext cx="89263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需求与可行性研究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09600" y="1581150"/>
            <a:ext cx="2438400" cy="37719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FE7E2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609600" y="1581150"/>
            <a:ext cx="2438400" cy="76200"/>
          </a:xfrm>
          <a:prstGeom prst="roundRect">
            <a:avLst>
              <a:gd name="adj" fmla="val 375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76097" y="1894999"/>
            <a:ext cx="50002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NFR-01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2668" y="2203132"/>
            <a:ext cx="4610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性能</a:t>
            </a:r>
          </a:p>
        </p:txBody>
      </p:sp>
      <p:sp>
        <p:nvSpPr>
          <p:cNvPr id="14" name="Line 14"/>
          <p:cNvSpPr/>
          <p:nvPr/>
        </p:nvSpPr>
        <p:spPr>
          <a:xfrm>
            <a:off x="781050" y="260985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9525">
            <a:solidFill>
              <a:srgbClr val="DFE7E2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775335" y="2888456"/>
            <a:ext cx="2287270" cy="8867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625"/>
              </a:lnSpc>
            </a:pPr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课堂演示规模下列表与查询即时反馈</a:t>
            </a:r>
            <a:br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关键动作明确返回成功 / 失败状态</a:t>
            </a:r>
            <a:br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验证：接口响应与边界数据测试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352800" y="1581150"/>
            <a:ext cx="2438400" cy="37719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FE7E2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3352800" y="1581150"/>
            <a:ext cx="2438400" cy="76200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3519297" y="1894999"/>
            <a:ext cx="50002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1"/>
                </a:solidFill>
                <a:latin typeface="Cascadia Mono"/>
                <a:ea typeface="Cascadia Mono"/>
                <a:cs typeface="Cascadia Mono"/>
              </a:rPr>
              <a:t>NFR-02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15868" y="2203132"/>
            <a:ext cx="68313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可靠性</a:t>
            </a:r>
          </a:p>
        </p:txBody>
      </p:sp>
      <p:sp>
        <p:nvSpPr>
          <p:cNvPr id="20" name="Line 20"/>
          <p:cNvSpPr/>
          <p:nvPr/>
        </p:nvSpPr>
        <p:spPr>
          <a:xfrm>
            <a:off x="3524250" y="260985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9525">
            <a:solidFill>
              <a:srgbClr val="DFE7E2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3518535" y="2888456"/>
            <a:ext cx="2408174" cy="8867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625"/>
              </a:lnSpc>
            </a:pPr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出库、归还等库存变化使用事务</a:t>
            </a:r>
            <a:br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库存不允许小于 0；审计事实不可删除</a:t>
            </a:r>
            <a:br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验证：异常回滚与日志核对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096000" y="1581150"/>
            <a:ext cx="2438400" cy="37719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FE7E2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6096000" y="1581150"/>
            <a:ext cx="2438400" cy="76200"/>
          </a:xfrm>
          <a:prstGeom prst="roundRect">
            <a:avLst>
              <a:gd name="adj" fmla="val 375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262497" y="1894999"/>
            <a:ext cx="50002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NFR-03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259068" y="2203132"/>
            <a:ext cx="68313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可用性</a:t>
            </a:r>
          </a:p>
        </p:txBody>
      </p:sp>
      <p:sp>
        <p:nvSpPr>
          <p:cNvPr id="26" name="Line 26"/>
          <p:cNvSpPr/>
          <p:nvPr/>
        </p:nvSpPr>
        <p:spPr>
          <a:xfrm>
            <a:off x="6267450" y="260985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9525">
            <a:solidFill>
              <a:srgbClr val="DFE7E2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261735" y="2888456"/>
            <a:ext cx="2066798" cy="8867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625"/>
              </a:lnSpc>
            </a:pPr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后端未启动时进入演示数据模式</a:t>
            </a:r>
            <a:br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健康检查通过后切换真实 MySQL</a:t>
            </a:r>
            <a:br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验证：断后端与恢复场景演示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839200" y="1581150"/>
            <a:ext cx="2438400" cy="37719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FE7E2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8839200" y="1581150"/>
            <a:ext cx="2438400" cy="76200"/>
          </a:xfrm>
          <a:prstGeom prst="roundRect">
            <a:avLst>
              <a:gd name="adj" fmla="val 375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005697" y="1894999"/>
            <a:ext cx="50002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5"/>
                </a:solidFill>
                <a:latin typeface="Cascadia Mono"/>
                <a:ea typeface="Cascadia Mono"/>
                <a:cs typeface="Cascadia Mono"/>
              </a:rPr>
              <a:t>NFR-04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002268" y="2203132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出错处理</a:t>
            </a:r>
          </a:p>
        </p:txBody>
      </p:sp>
      <p:sp>
        <p:nvSpPr>
          <p:cNvPr id="32" name="Line 32"/>
          <p:cNvSpPr/>
          <p:nvPr/>
        </p:nvSpPr>
        <p:spPr>
          <a:xfrm>
            <a:off x="9010650" y="260985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9525">
            <a:solidFill>
              <a:srgbClr val="DFE7E2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9004935" y="2888456"/>
            <a:ext cx="2145030" cy="8867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625"/>
              </a:lnSpc>
            </a:pPr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越权、过期、库存不足时阻断提交</a:t>
            </a:r>
            <a:br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归还量不一致给出可读提示</a:t>
            </a:r>
            <a:br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验证：错误提示与阻断规则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09600" y="5619750"/>
            <a:ext cx="10668000" cy="457200"/>
          </a:xfrm>
          <a:prstGeom prst="roundRect">
            <a:avLst>
              <a:gd name="adj" fmla="val 16667"/>
            </a:avLst>
          </a:prstGeom>
          <a:solidFill>
            <a:srgbClr val="E7F0EE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32866" y="579215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质量判断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783842" y="5759768"/>
            <a:ext cx="47388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安全场景不只要完成操作，还要可预测、可恢复、可审计。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field"/>
          <p:cNvSpPr/>
          <p:nvPr/>
        </p:nvSpPr>
        <p:spPr>
          <a:xfrm>
            <a:off x="0" y="0"/>
            <a:ext cx="12192000" cy="8953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eyebrow"/>
          <p:cNvSpPr txBox="1"/>
          <p:nvPr/>
        </p:nvSpPr>
        <p:spPr>
          <a:xfrm>
            <a:off x="604838" y="188595"/>
            <a:ext cx="124561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12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PART 2 · 需求规格</a:t>
            </a:r>
          </a:p>
        </p:txBody>
      </p:sp>
      <p:sp>
        <p:nvSpPr>
          <p:cNvPr id="4" name="page-title"/>
          <p:cNvSpPr txBox="1"/>
          <p:nvPr/>
        </p:nvSpPr>
        <p:spPr>
          <a:xfrm>
            <a:off x="598551" y="403384"/>
            <a:ext cx="5891530" cy="4253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b="1" dirty="0">
                <a:solidFill>
                  <a:srgbClr val="F5F7F4"/>
                </a:solidFill>
                <a:latin typeface="+mn-lt"/>
                <a:ea typeface="+mn-ea"/>
                <a:cs typeface="+mn-cs"/>
              </a:rPr>
              <a:t>需求边界：接口、约束、逆向需求与未来要求</a:t>
            </a:r>
          </a:p>
        </p:txBody>
      </p:sp>
      <p:sp>
        <p:nvSpPr>
          <p:cNvPr id="5" name="page-subtitle"/>
          <p:cNvSpPr txBox="1"/>
          <p:nvPr/>
        </p:nvSpPr>
        <p:spPr>
          <a:xfrm>
            <a:off x="603885" y="983456"/>
            <a:ext cx="332846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明确系统必须连接什么、禁止什么、以后怎么长大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11036280" y="390049"/>
            <a:ext cx="55107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b="1" dirty="0">
                <a:solidFill>
                  <a:srgbClr val="B7D7CD"/>
                </a:solidFill>
                <a:latin typeface="Cascadia Mono"/>
                <a:ea typeface="Cascadia Mono"/>
                <a:cs typeface="Cascadia Mono"/>
              </a:rPr>
              <a:t>06 / 12</a:t>
            </a:r>
          </a:p>
        </p:txBody>
      </p:sp>
      <p:sp>
        <p:nvSpPr>
          <p:cNvPr id="7" name="Line 7"/>
          <p:cNvSpPr/>
          <p:nvPr/>
        </p:nvSpPr>
        <p:spPr>
          <a:xfrm>
            <a:off x="609600" y="648652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8" name="footer-label"/>
          <p:cNvSpPr txBox="1"/>
          <p:nvPr/>
        </p:nvSpPr>
        <p:spPr>
          <a:xfrm>
            <a:off x="604838" y="6616541"/>
            <a:ext cx="163731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82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CHEMTRACK · 课程设计汇报</a:t>
            </a:r>
          </a:p>
        </p:txBody>
      </p:sp>
      <p:sp>
        <p:nvSpPr>
          <p:cNvPr id="9" name="footer-section"/>
          <p:cNvSpPr txBox="1"/>
          <p:nvPr/>
        </p:nvSpPr>
        <p:spPr>
          <a:xfrm>
            <a:off x="10694530" y="6616541"/>
            <a:ext cx="89263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需求与可行性研究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09600" y="1466850"/>
            <a:ext cx="10972800" cy="1200150"/>
          </a:xfrm>
          <a:prstGeom prst="roundRect">
            <a:avLst>
              <a:gd name="adj" fmla="val 6349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31342" y="16449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接口需求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2866" y="1982152"/>
            <a:ext cx="1046065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7F4"/>
                </a:solidFill>
                <a:latin typeface="Cascadia Mono"/>
                <a:ea typeface="Microsoft YaHei"/>
                <a:cs typeface="Cascadia Mono"/>
              </a:rPr>
              <a:t>REST API：health · dashboard · chemicals · requests · usages · procurements · alerts · incidents · disposals · audit · reports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2866" y="2258378"/>
            <a:ext cx="50489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7D7CD"/>
                </a:solidFill>
                <a:latin typeface="Cascadia Mono"/>
                <a:ea typeface="Microsoft YaHei"/>
                <a:cs typeface="Cascadia Mono"/>
              </a:rPr>
              <a:t>写操作：approve · reject · issue · return · refresh · disposal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09600" y="3067050"/>
            <a:ext cx="3352800" cy="22479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FE7E2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792480" y="326707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约束</a:t>
            </a:r>
          </a:p>
        </p:txBody>
      </p:sp>
      <p:sp>
        <p:nvSpPr>
          <p:cNvPr id="16" name="Line 16"/>
          <p:cNvSpPr/>
          <p:nvPr/>
        </p:nvSpPr>
        <p:spPr>
          <a:xfrm>
            <a:off x="800100" y="3600450"/>
            <a:ext cx="2971800" cy="9525"/>
          </a:xfrm>
          <a:custGeom>
            <a:avLst/>
            <a:gdLst/>
            <a:ahLst/>
            <a:cxnLst/>
            <a:rect l="l" t="t" r="r" b="b"/>
            <a:pathLst>
              <a:path w="2971800" h="9525">
                <a:moveTo>
                  <a:pt x="0" y="0"/>
                </a:moveTo>
                <a:lnTo>
                  <a:pt x="29718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94385" y="3840956"/>
            <a:ext cx="2571750" cy="11058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0904" indent="-120904">
              <a:lnSpc>
                <a:spcPts val="2325"/>
              </a:lnSpc>
              <a:buClr>
                <a:schemeClr val="accent6"/>
              </a:buClr>
              <a:buSzTx/>
              <a:buFontTx/>
              <a:buChar char="•"/>
            </a:pPr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普通用户不能修改库存和历史审计</a:t>
            </a:r>
          </a:p>
          <a:p>
            <a:pPr algn="l" marL="120904" indent="-120904">
              <a:lnSpc>
                <a:spcPts val="2325"/>
              </a:lnSpc>
              <a:buClr>
                <a:schemeClr val="accent6"/>
              </a:buClr>
              <a:buSzTx/>
              <a:buFontTx/>
              <a:buChar char="•"/>
            </a:pPr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高风险试剂必须教师审批 + 管理员复核</a:t>
            </a:r>
          </a:p>
          <a:p>
            <a:pPr algn="l" marL="120904" indent="-120904">
              <a:lnSpc>
                <a:spcPts val="2325"/>
              </a:lnSpc>
              <a:buClr>
                <a:schemeClr val="accent6"/>
              </a:buClr>
              <a:buSzTx/>
              <a:buFontTx/>
              <a:buChar char="•"/>
            </a:pPr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发放 / 归还必须在事务中完成</a:t>
            </a:r>
          </a:p>
          <a:p>
            <a:pPr algn="l" marL="120904" indent="-120904">
              <a:lnSpc>
                <a:spcPts val="2325"/>
              </a:lnSpc>
              <a:buClr>
                <a:schemeClr val="accent6"/>
              </a:buClr>
              <a:buSzTx/>
              <a:buFontTx/>
              <a:buChar char="•"/>
            </a:pPr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实际使用量 + 归还量 ≤ 发放量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419600" y="3067050"/>
            <a:ext cx="3352800" cy="22479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FE7E2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4602480" y="32670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逆向需求</a:t>
            </a:r>
          </a:p>
        </p:txBody>
      </p:sp>
      <p:sp>
        <p:nvSpPr>
          <p:cNvPr id="20" name="Line 20"/>
          <p:cNvSpPr/>
          <p:nvPr/>
        </p:nvSpPr>
        <p:spPr>
          <a:xfrm>
            <a:off x="4610100" y="3600450"/>
            <a:ext cx="2971800" cy="9525"/>
          </a:xfrm>
          <a:custGeom>
            <a:avLst/>
            <a:gdLst/>
            <a:ahLst/>
            <a:cxnLst/>
            <a:rect l="l" t="t" r="r" b="b"/>
            <a:pathLst>
              <a:path w="2971800" h="9525">
                <a:moveTo>
                  <a:pt x="0" y="0"/>
                </a:moveTo>
                <a:lnTo>
                  <a:pt x="2971800" y="0"/>
                </a:lnTo>
              </a:path>
            </a:pathLst>
          </a:custGeom>
          <a:noFill/>
          <a:ln w="19050">
            <a:solidFill>
              <a:schemeClr val="accent5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4604385" y="3840956"/>
            <a:ext cx="1839214" cy="11058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0904" indent="-120904">
              <a:lnSpc>
                <a:spcPts val="2325"/>
              </a:lnSpc>
              <a:buClr>
                <a:schemeClr val="accent6"/>
              </a:buClr>
              <a:buSzTx/>
              <a:buFontTx/>
              <a:buChar char="•"/>
            </a:pPr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不能绕过审批直接出库</a:t>
            </a:r>
          </a:p>
          <a:p>
            <a:pPr algn="l" marL="120904" indent="-120904">
              <a:lnSpc>
                <a:spcPts val="2325"/>
              </a:lnSpc>
              <a:buClr>
                <a:schemeClr val="accent6"/>
              </a:buClr>
              <a:buSzTx/>
              <a:buFontTx/>
              <a:buChar char="•"/>
            </a:pPr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不能出现负库存</a:t>
            </a:r>
          </a:p>
          <a:p>
            <a:pPr algn="l" marL="120904" indent="-120904">
              <a:lnSpc>
                <a:spcPts val="2325"/>
              </a:lnSpc>
              <a:buClr>
                <a:schemeClr val="accent6"/>
              </a:buClr>
              <a:buSzTx/>
              <a:buFontTx/>
              <a:buChar char="•"/>
            </a:pPr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不能删除关键审计事实</a:t>
            </a:r>
          </a:p>
          <a:p>
            <a:pPr algn="l" marL="120904" indent="-120904">
              <a:lnSpc>
                <a:spcPts val="2325"/>
              </a:lnSpc>
              <a:buClr>
                <a:schemeClr val="accent6"/>
              </a:buClr>
              <a:buSzTx/>
              <a:buFontTx/>
              <a:buChar char="•"/>
            </a:pPr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不能把演示数据当真实台账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229600" y="3067050"/>
            <a:ext cx="3352800" cy="22479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FE7E2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412480" y="32670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未来要求</a:t>
            </a:r>
          </a:p>
        </p:txBody>
      </p:sp>
      <p:sp>
        <p:nvSpPr>
          <p:cNvPr id="24" name="Line 24"/>
          <p:cNvSpPr/>
          <p:nvPr/>
        </p:nvSpPr>
        <p:spPr>
          <a:xfrm>
            <a:off x="8420100" y="3600450"/>
            <a:ext cx="2971800" cy="9525"/>
          </a:xfrm>
          <a:custGeom>
            <a:avLst/>
            <a:gdLst/>
            <a:ahLst/>
            <a:cxnLst/>
            <a:rect l="l" t="t" r="r" b="b"/>
            <a:pathLst>
              <a:path w="2971800" h="9525">
                <a:moveTo>
                  <a:pt x="0" y="0"/>
                </a:moveTo>
                <a:lnTo>
                  <a:pt x="2971800" y="0"/>
                </a:lnTo>
              </a:path>
            </a:pathLst>
          </a:custGeom>
          <a:noFill/>
          <a:ln w="19050">
            <a:solidFill>
              <a:schemeClr val="accent3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414385" y="3840956"/>
            <a:ext cx="1981454" cy="11058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0904" indent="-120904">
              <a:lnSpc>
                <a:spcPts val="2325"/>
              </a:lnSpc>
              <a:buClr>
                <a:schemeClr val="accent6"/>
              </a:buClr>
              <a:buSzTx/>
              <a:buFontTx/>
              <a:buChar char="•"/>
            </a:pPr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JWT 登录与细粒度角色权限</a:t>
            </a:r>
          </a:p>
          <a:p>
            <a:pPr algn="l" marL="120904" indent="-120904">
              <a:lnSpc>
                <a:spcPts val="2325"/>
              </a:lnSpc>
              <a:buClr>
                <a:schemeClr val="accent6"/>
              </a:buClr>
              <a:buSzTx/>
              <a:buFontTx/>
              <a:buChar char="•"/>
            </a:pPr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通知中心、移动端、报表增强</a:t>
            </a:r>
          </a:p>
          <a:p>
            <a:pPr algn="l" marL="120904" indent="-120904">
              <a:lnSpc>
                <a:spcPts val="2325"/>
              </a:lnSpc>
              <a:buClr>
                <a:schemeClr val="accent6"/>
              </a:buClr>
              <a:buSzTx/>
              <a:buFontTx/>
              <a:buChar char="•"/>
            </a:pPr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批次与处置记录进一步细化</a:t>
            </a:r>
          </a:p>
          <a:p>
            <a:pPr algn="l" marL="120904" indent="-120904">
              <a:lnSpc>
                <a:spcPts val="2325"/>
              </a:lnSpc>
              <a:buClr>
                <a:schemeClr val="accent6"/>
              </a:buClr>
              <a:buSzTx/>
              <a:buFontTx/>
              <a:buChar char="•"/>
            </a:pPr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法规规则可配置、可审计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field"/>
          <p:cNvSpPr/>
          <p:nvPr/>
        </p:nvSpPr>
        <p:spPr>
          <a:xfrm>
            <a:off x="0" y="0"/>
            <a:ext cx="12192000" cy="8953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eyebrow"/>
          <p:cNvSpPr txBox="1"/>
          <p:nvPr/>
        </p:nvSpPr>
        <p:spPr>
          <a:xfrm>
            <a:off x="604838" y="188595"/>
            <a:ext cx="124561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12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PART 3 · 建模证据</a:t>
            </a:r>
          </a:p>
        </p:txBody>
      </p:sp>
      <p:sp>
        <p:nvSpPr>
          <p:cNvPr id="4" name="page-title"/>
          <p:cNvSpPr txBox="1"/>
          <p:nvPr/>
        </p:nvSpPr>
        <p:spPr>
          <a:xfrm>
            <a:off x="598551" y="403384"/>
            <a:ext cx="5841806" cy="4253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b="1" dirty="0">
                <a:solidFill>
                  <a:srgbClr val="F5F7F4"/>
                </a:solidFill>
                <a:latin typeface="+mn-lt"/>
                <a:ea typeface="+mn-ea"/>
                <a:cs typeface="+mn-cs"/>
              </a:rPr>
              <a:t>DFD：角色、处理、数据存储形成可追踪链路</a:t>
            </a:r>
          </a:p>
        </p:txBody>
      </p:sp>
      <p:sp>
        <p:nvSpPr>
          <p:cNvPr id="5" name="page-subtitle"/>
          <p:cNvSpPr txBox="1"/>
          <p:nvPr/>
        </p:nvSpPr>
        <p:spPr>
          <a:xfrm>
            <a:off x="603885" y="983456"/>
            <a:ext cx="423311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需求中的每个业务动作，都能在处理过程和数据存储中找到位置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11036280" y="390049"/>
            <a:ext cx="55107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b="1" dirty="0">
                <a:solidFill>
                  <a:srgbClr val="B7D7CD"/>
                </a:solidFill>
                <a:latin typeface="Cascadia Mono"/>
                <a:ea typeface="Cascadia Mono"/>
                <a:cs typeface="Cascadia Mono"/>
              </a:rPr>
              <a:t>07 / 12</a:t>
            </a:r>
          </a:p>
        </p:txBody>
      </p:sp>
      <p:sp>
        <p:nvSpPr>
          <p:cNvPr id="7" name="Line 7"/>
          <p:cNvSpPr/>
          <p:nvPr/>
        </p:nvSpPr>
        <p:spPr>
          <a:xfrm>
            <a:off x="609600" y="648652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8" name="footer-label"/>
          <p:cNvSpPr txBox="1"/>
          <p:nvPr/>
        </p:nvSpPr>
        <p:spPr>
          <a:xfrm>
            <a:off x="604838" y="6616541"/>
            <a:ext cx="163731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82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CHEMTRACK · 课程设计汇报</a:t>
            </a:r>
          </a:p>
        </p:txBody>
      </p:sp>
      <p:sp>
        <p:nvSpPr>
          <p:cNvPr id="9" name="footer-section"/>
          <p:cNvSpPr txBox="1"/>
          <p:nvPr/>
        </p:nvSpPr>
        <p:spPr>
          <a:xfrm>
            <a:off x="10694530" y="6616541"/>
            <a:ext cx="89263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需求与可行性研究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09600" y="1466850"/>
            <a:ext cx="1924050" cy="363855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DFE7E2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31723" y="167211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外部实体</a:t>
            </a:r>
          </a:p>
        </p:txBody>
      </p:sp>
      <p:sp>
        <p:nvSpPr>
          <p:cNvPr id="12" name="Rectangle 12"/>
          <p:cNvSpPr/>
          <p:nvPr/>
        </p:nvSpPr>
        <p:spPr>
          <a:xfrm>
            <a:off x="838200" y="2171700"/>
            <a:ext cx="1428750" cy="304800"/>
          </a:xfrm>
          <a:prstGeom prst="roundRect">
            <a:avLst>
              <a:gd name="adj" fmla="val 50000"/>
            </a:avLst>
          </a:prstGeom>
          <a:solidFill>
            <a:srgbClr val="E7F0E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405890" y="2258378"/>
            <a:ext cx="2933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学生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38200" y="2686050"/>
            <a:ext cx="1428750" cy="304800"/>
          </a:xfrm>
          <a:prstGeom prst="roundRect">
            <a:avLst>
              <a:gd name="adj" fmla="val 50000"/>
            </a:avLst>
          </a:prstGeom>
          <a:solidFill>
            <a:srgbClr val="E7F0E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264539" y="27727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指导教师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38200" y="3200400"/>
            <a:ext cx="1428750" cy="304800"/>
          </a:xfrm>
          <a:prstGeom prst="roundRect">
            <a:avLst>
              <a:gd name="adj" fmla="val 50000"/>
            </a:avLst>
          </a:prstGeom>
          <a:solidFill>
            <a:srgbClr val="E7F0E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123188" y="328707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实验室管理员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38200" y="3714750"/>
            <a:ext cx="1428750" cy="304800"/>
          </a:xfrm>
          <a:prstGeom prst="roundRect">
            <a:avLst>
              <a:gd name="adj" fmla="val 50000"/>
            </a:avLst>
          </a:prstGeom>
          <a:solidFill>
            <a:srgbClr val="E7F0E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052512" y="38014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学院安全负责人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38200" y="4229100"/>
            <a:ext cx="1428750" cy="304800"/>
          </a:xfrm>
          <a:prstGeom prst="roundRect">
            <a:avLst>
              <a:gd name="adj" fmla="val 50000"/>
            </a:avLst>
          </a:prstGeom>
          <a:solidFill>
            <a:srgbClr val="E7F0E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123188" y="431577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校园统一认证</a:t>
            </a:r>
          </a:p>
        </p:txBody>
      </p:sp>
      <p:sp>
        <p:nvSpPr>
          <p:cNvPr id="22" name="Rectangle 22"/>
          <p:cNvSpPr/>
          <p:nvPr/>
        </p:nvSpPr>
        <p:spPr>
          <a:xfrm>
            <a:off x="3105150" y="1466850"/>
            <a:ext cx="5105400" cy="3638550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9525">
            <a:solidFill>
              <a:srgbClr val="DFE7E2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3346323" y="1672114"/>
            <a:ext cx="17006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ChemTrack 核心处理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352800" y="2095500"/>
            <a:ext cx="2000250" cy="419100"/>
          </a:xfrm>
          <a:prstGeom prst="roundRect">
            <a:avLst>
              <a:gd name="adj" fmla="val 13636"/>
            </a:avLst>
          </a:prstGeom>
          <a:solidFill>
            <a:srgbClr val="E7F0E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3499866" y="2239328"/>
            <a:ext cx="9369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P1 用户与角色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352800" y="2781300"/>
            <a:ext cx="2000250" cy="419100"/>
          </a:xfrm>
          <a:prstGeom prst="roundRect">
            <a:avLst>
              <a:gd name="adj" fmla="val 13636"/>
            </a:avLst>
          </a:prstGeom>
          <a:solidFill>
            <a:srgbClr val="E5F5ED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499866" y="2925128"/>
            <a:ext cx="12196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P2 档案与批次库存</a:t>
            </a:r>
          </a:p>
        </p:txBody>
      </p:sp>
      <p:sp>
        <p:nvSpPr>
          <p:cNvPr id="28" name="Rectangle 28"/>
          <p:cNvSpPr/>
          <p:nvPr/>
        </p:nvSpPr>
        <p:spPr>
          <a:xfrm>
            <a:off x="3352800" y="3467100"/>
            <a:ext cx="2000250" cy="419100"/>
          </a:xfrm>
          <a:prstGeom prst="roundRect">
            <a:avLst>
              <a:gd name="adj" fmla="val 13636"/>
            </a:avLst>
          </a:prstGeom>
          <a:solidFill>
            <a:srgbClr val="E7F0E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3499866" y="3610928"/>
            <a:ext cx="13610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P3 采购、验收与入库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352800" y="4152900"/>
            <a:ext cx="2000250" cy="419100"/>
          </a:xfrm>
          <a:prstGeom prst="roundRect">
            <a:avLst>
              <a:gd name="adj" fmla="val 13636"/>
            </a:avLst>
          </a:prstGeom>
          <a:solidFill>
            <a:srgbClr val="E7F0EE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499866" y="4296728"/>
            <a:ext cx="15023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P4 领用申请与分级审批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676900" y="2095500"/>
            <a:ext cx="2000250" cy="419100"/>
          </a:xfrm>
          <a:prstGeom prst="roundRect">
            <a:avLst>
              <a:gd name="adj" fmla="val 13636"/>
            </a:avLst>
          </a:prstGeom>
          <a:solidFill>
            <a:srgbClr val="E5F5ED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5823966" y="2239328"/>
            <a:ext cx="13610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P5 出库、使用与归还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676900" y="2781300"/>
            <a:ext cx="2000250" cy="419100"/>
          </a:xfrm>
          <a:prstGeom prst="roundRect">
            <a:avLst>
              <a:gd name="adj" fmla="val 13636"/>
            </a:avLst>
          </a:prstGeom>
          <a:solidFill>
            <a:srgbClr val="E5F5ED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823966" y="2925128"/>
            <a:ext cx="17850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P6 库存、有效期与异常预警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676900" y="3467100"/>
            <a:ext cx="2000250" cy="419100"/>
          </a:xfrm>
          <a:prstGeom prst="roundRect">
            <a:avLst>
              <a:gd name="adj" fmla="val 13636"/>
            </a:avLst>
          </a:prstGeom>
          <a:solidFill>
            <a:srgbClr val="E7F0EE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5823966" y="3610928"/>
            <a:ext cx="9369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P7 废弃物处置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676900" y="4152900"/>
            <a:ext cx="2000250" cy="419100"/>
          </a:xfrm>
          <a:prstGeom prst="roundRect">
            <a:avLst>
              <a:gd name="adj" fmla="val 13636"/>
            </a:avLst>
          </a:prstGeom>
          <a:solidFill>
            <a:srgbClr val="E7F0EE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823966" y="4296728"/>
            <a:ext cx="12196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P8 审计与统计报表</a:t>
            </a:r>
          </a:p>
        </p:txBody>
      </p:sp>
      <p:sp>
        <p:nvSpPr>
          <p:cNvPr id="40" name="Rectangle 40"/>
          <p:cNvSpPr/>
          <p:nvPr/>
        </p:nvSpPr>
        <p:spPr>
          <a:xfrm>
            <a:off x="8782050" y="1466850"/>
            <a:ext cx="2800350" cy="3638550"/>
          </a:xfrm>
          <a:prstGeom prst="roundRect">
            <a:avLst>
              <a:gd name="adj" fmla="val 2721"/>
            </a:avLst>
          </a:prstGeom>
          <a:solidFill>
            <a:srgbClr val="FFFFFF"/>
          </a:solidFill>
          <a:ln w="9525">
            <a:solidFill>
              <a:srgbClr val="DFE7E2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9023223" y="167211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数据存储</a:t>
            </a:r>
          </a:p>
        </p:txBody>
      </p:sp>
      <p:sp>
        <p:nvSpPr>
          <p:cNvPr id="42" name="Rectangle 42"/>
          <p:cNvSpPr/>
          <p:nvPr/>
        </p:nvSpPr>
        <p:spPr>
          <a:xfrm>
            <a:off x="9029700" y="2152650"/>
            <a:ext cx="2247900" cy="285750"/>
          </a:xfrm>
          <a:prstGeom prst="roundRect">
            <a:avLst>
              <a:gd name="adj" fmla="val 16667"/>
            </a:avLst>
          </a:prstGeom>
          <a:solidFill>
            <a:srgbClr val="F8FBF9"/>
          </a:solidFill>
          <a:ln w="9525">
            <a:solidFill>
              <a:srgbClr val="DFE7E2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9805009" y="2229802"/>
            <a:ext cx="6972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accent6"/>
                </a:solidFill>
                <a:latin typeface="Cascadia Mono"/>
                <a:ea typeface="Microsoft YaHei"/>
                <a:cs typeface="Cascadia Mono"/>
              </a:rPr>
              <a:t>D1 用户库</a:t>
            </a:r>
          </a:p>
        </p:txBody>
      </p:sp>
      <p:sp>
        <p:nvSpPr>
          <p:cNvPr id="44" name="Rectangle 44"/>
          <p:cNvSpPr/>
          <p:nvPr/>
        </p:nvSpPr>
        <p:spPr>
          <a:xfrm>
            <a:off x="9029700" y="2609850"/>
            <a:ext cx="2247900" cy="285750"/>
          </a:xfrm>
          <a:prstGeom prst="roundRect">
            <a:avLst>
              <a:gd name="adj" fmla="val 16667"/>
            </a:avLst>
          </a:prstGeom>
          <a:solidFill>
            <a:srgbClr val="F8FBF9"/>
          </a:solidFill>
          <a:ln w="9525">
            <a:solidFill>
              <a:srgbClr val="DFE7E2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9592983" y="2687002"/>
            <a:ext cx="11213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accent6"/>
                </a:solidFill>
                <a:latin typeface="Cascadia Mono"/>
                <a:ea typeface="Microsoft YaHei"/>
                <a:cs typeface="Cascadia Mono"/>
              </a:rPr>
              <a:t>D2 危化品档案库</a:t>
            </a:r>
          </a:p>
        </p:txBody>
      </p:sp>
      <p:sp>
        <p:nvSpPr>
          <p:cNvPr id="46" name="Rectangle 46"/>
          <p:cNvSpPr/>
          <p:nvPr/>
        </p:nvSpPr>
        <p:spPr>
          <a:xfrm>
            <a:off x="9029700" y="3067050"/>
            <a:ext cx="2247900" cy="285750"/>
          </a:xfrm>
          <a:prstGeom prst="roundRect">
            <a:avLst>
              <a:gd name="adj" fmla="val 16667"/>
            </a:avLst>
          </a:prstGeom>
          <a:solidFill>
            <a:srgbClr val="F8FBF9"/>
          </a:solidFill>
          <a:ln w="9525">
            <a:solidFill>
              <a:srgbClr val="DFE7E2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663658" y="3144202"/>
            <a:ext cx="9799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accent6"/>
                </a:solidFill>
                <a:latin typeface="Cascadia Mono"/>
                <a:ea typeface="Microsoft YaHei"/>
                <a:cs typeface="Cascadia Mono"/>
              </a:rPr>
              <a:t>D3 批次库存库</a:t>
            </a:r>
          </a:p>
        </p:txBody>
      </p:sp>
      <p:sp>
        <p:nvSpPr>
          <p:cNvPr id="48" name="Rectangle 48"/>
          <p:cNvSpPr/>
          <p:nvPr/>
        </p:nvSpPr>
        <p:spPr>
          <a:xfrm>
            <a:off x="9029700" y="3524250"/>
            <a:ext cx="2247900" cy="285750"/>
          </a:xfrm>
          <a:prstGeom prst="roundRect">
            <a:avLst>
              <a:gd name="adj" fmla="val 16667"/>
            </a:avLst>
          </a:prstGeom>
          <a:solidFill>
            <a:srgbClr val="F8FBF9"/>
          </a:solidFill>
          <a:ln w="9525">
            <a:solidFill>
              <a:srgbClr val="DFE7E2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9663658" y="3601402"/>
            <a:ext cx="9799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accent6"/>
                </a:solidFill>
                <a:latin typeface="Cascadia Mono"/>
                <a:ea typeface="Microsoft YaHei"/>
                <a:cs typeface="Cascadia Mono"/>
              </a:rPr>
              <a:t>D4 领用记录库</a:t>
            </a:r>
          </a:p>
        </p:txBody>
      </p:sp>
      <p:sp>
        <p:nvSpPr>
          <p:cNvPr id="50" name="Rectangle 50"/>
          <p:cNvSpPr/>
          <p:nvPr/>
        </p:nvSpPr>
        <p:spPr>
          <a:xfrm>
            <a:off x="9029700" y="3981450"/>
            <a:ext cx="2247900" cy="285750"/>
          </a:xfrm>
          <a:prstGeom prst="roundRect">
            <a:avLst>
              <a:gd name="adj" fmla="val 16667"/>
            </a:avLst>
          </a:prstGeom>
          <a:solidFill>
            <a:srgbClr val="F8FBF9"/>
          </a:solidFill>
          <a:ln w="9525">
            <a:solidFill>
              <a:srgbClr val="DFE7E2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9663658" y="4058602"/>
            <a:ext cx="9799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accent6"/>
                </a:solidFill>
                <a:latin typeface="Cascadia Mono"/>
                <a:ea typeface="Microsoft YaHei"/>
                <a:cs typeface="Cascadia Mono"/>
              </a:rPr>
              <a:t>D5 审批记录库</a:t>
            </a:r>
          </a:p>
        </p:txBody>
      </p:sp>
      <p:sp>
        <p:nvSpPr>
          <p:cNvPr id="52" name="Rectangle 52"/>
          <p:cNvSpPr/>
          <p:nvPr/>
        </p:nvSpPr>
        <p:spPr>
          <a:xfrm>
            <a:off x="9029700" y="4438650"/>
            <a:ext cx="2247900" cy="285750"/>
          </a:xfrm>
          <a:prstGeom prst="roundRect">
            <a:avLst>
              <a:gd name="adj" fmla="val 16667"/>
            </a:avLst>
          </a:prstGeom>
          <a:solidFill>
            <a:srgbClr val="F8FBF9"/>
          </a:solidFill>
          <a:ln w="9525">
            <a:solidFill>
              <a:srgbClr val="DFE7E2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9663658" y="4515802"/>
            <a:ext cx="9799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accent6"/>
                </a:solidFill>
                <a:latin typeface="Cascadia Mono"/>
                <a:ea typeface="Microsoft YaHei"/>
                <a:cs typeface="Cascadia Mono"/>
              </a:rPr>
              <a:t>D6 审计日志库</a:t>
            </a:r>
          </a:p>
        </p:txBody>
      </p:sp>
      <p:sp>
        <p:nvSpPr>
          <p:cNvPr id="54" name="Line 54"/>
          <p:cNvSpPr/>
          <p:nvPr/>
        </p:nvSpPr>
        <p:spPr>
          <a:xfrm>
            <a:off x="2533650" y="2324100"/>
            <a:ext cx="571500" cy="1"/>
          </a:xfrm>
          <a:prstGeom prst="line">
            <a:avLst/>
          </a:prstGeom>
          <a:noFill/>
          <a:ln w="15240">
            <a:solidFill>
              <a:schemeClr val="accent1"/>
            </a:solidFill>
            <a:tailEnd type="triangle" w="lg" len="lg"/>
          </a:ln>
        </p:spPr>
      </p:sp>
      <p:sp>
        <p:nvSpPr>
          <p:cNvPr id="55" name="Line 55"/>
          <p:cNvSpPr/>
          <p:nvPr/>
        </p:nvSpPr>
        <p:spPr>
          <a:xfrm>
            <a:off x="8210550" y="232410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15240">
            <a:solidFill>
              <a:schemeClr val="accent2"/>
            </a:solidFill>
          </a:ln>
        </p:spPr>
      </p:sp>
      <p:sp>
        <p:nvSpPr>
          <p:cNvPr id="56" name="Line 56"/>
          <p:cNvSpPr/>
          <p:nvPr/>
        </p:nvSpPr>
        <p:spPr>
          <a:xfrm>
            <a:off x="2533650" y="2838450"/>
            <a:ext cx="571500" cy="1"/>
          </a:xfrm>
          <a:prstGeom prst="line">
            <a:avLst/>
          </a:prstGeom>
          <a:noFill/>
          <a:ln w="15240">
            <a:solidFill>
              <a:schemeClr val="accent1"/>
            </a:solidFill>
            <a:tailEnd type="triangle" w="lg" len="lg"/>
          </a:ln>
        </p:spPr>
      </p:sp>
      <p:sp>
        <p:nvSpPr>
          <p:cNvPr id="57" name="Line 57"/>
          <p:cNvSpPr/>
          <p:nvPr/>
        </p:nvSpPr>
        <p:spPr>
          <a:xfrm>
            <a:off x="8210550" y="283845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15240">
            <a:solidFill>
              <a:schemeClr val="accent2"/>
            </a:solidFill>
          </a:ln>
        </p:spPr>
      </p:sp>
      <p:sp>
        <p:nvSpPr>
          <p:cNvPr id="58" name="Line 58"/>
          <p:cNvSpPr/>
          <p:nvPr/>
        </p:nvSpPr>
        <p:spPr>
          <a:xfrm>
            <a:off x="2533650" y="3352800"/>
            <a:ext cx="571500" cy="1"/>
          </a:xfrm>
          <a:prstGeom prst="line">
            <a:avLst/>
          </a:prstGeom>
          <a:noFill/>
          <a:ln w="15240">
            <a:solidFill>
              <a:schemeClr val="accent1"/>
            </a:solidFill>
            <a:tailEnd type="triangle" w="lg" len="lg"/>
          </a:ln>
        </p:spPr>
      </p:sp>
      <p:sp>
        <p:nvSpPr>
          <p:cNvPr id="59" name="Line 59"/>
          <p:cNvSpPr/>
          <p:nvPr/>
        </p:nvSpPr>
        <p:spPr>
          <a:xfrm>
            <a:off x="8210550" y="335280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15240">
            <a:solidFill>
              <a:schemeClr val="accent2"/>
            </a:solidFill>
          </a:ln>
        </p:spPr>
      </p:sp>
      <p:sp>
        <p:nvSpPr>
          <p:cNvPr id="60" name="Line 60"/>
          <p:cNvSpPr/>
          <p:nvPr/>
        </p:nvSpPr>
        <p:spPr>
          <a:xfrm>
            <a:off x="2533650" y="3867150"/>
            <a:ext cx="571500" cy="1"/>
          </a:xfrm>
          <a:prstGeom prst="line">
            <a:avLst/>
          </a:prstGeom>
          <a:noFill/>
          <a:ln w="15240">
            <a:solidFill>
              <a:schemeClr val="accent1"/>
            </a:solidFill>
            <a:tailEnd type="triangle" w="lg" len="lg"/>
          </a:ln>
        </p:spPr>
      </p:sp>
      <p:sp>
        <p:nvSpPr>
          <p:cNvPr id="61" name="Line 61"/>
          <p:cNvSpPr/>
          <p:nvPr/>
        </p:nvSpPr>
        <p:spPr>
          <a:xfrm>
            <a:off x="8210550" y="386715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15240">
            <a:solidFill>
              <a:schemeClr val="accent2"/>
            </a:solidFill>
          </a:ln>
        </p:spPr>
      </p:sp>
      <p:sp>
        <p:nvSpPr>
          <p:cNvPr id="62" name="Line 62"/>
          <p:cNvSpPr/>
          <p:nvPr/>
        </p:nvSpPr>
        <p:spPr>
          <a:xfrm>
            <a:off x="2533650" y="4381500"/>
            <a:ext cx="571500" cy="1"/>
          </a:xfrm>
          <a:prstGeom prst="line">
            <a:avLst/>
          </a:prstGeom>
          <a:noFill/>
          <a:ln w="15240">
            <a:solidFill>
              <a:schemeClr val="accent1"/>
            </a:solidFill>
            <a:tailEnd type="triangle" w="lg" len="lg"/>
          </a:ln>
        </p:spPr>
      </p:sp>
      <p:sp>
        <p:nvSpPr>
          <p:cNvPr id="63" name="Line 63"/>
          <p:cNvSpPr/>
          <p:nvPr/>
        </p:nvSpPr>
        <p:spPr>
          <a:xfrm>
            <a:off x="8210550" y="438150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15240">
            <a:solidFill>
              <a:schemeClr val="accent2"/>
            </a:solidFill>
          </a:ln>
        </p:spPr>
      </p:sp>
      <p:sp>
        <p:nvSpPr>
          <p:cNvPr id="64" name="Rectangle 64"/>
          <p:cNvSpPr/>
          <p:nvPr/>
        </p:nvSpPr>
        <p:spPr>
          <a:xfrm>
            <a:off x="609600" y="5429250"/>
            <a:ext cx="10972800" cy="514350"/>
          </a:xfrm>
          <a:prstGeom prst="roundRect">
            <a:avLst>
              <a:gd name="adj" fmla="val 14815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832866" y="5649278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关键数据流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879473" y="5624989"/>
            <a:ext cx="574152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F5F7F4"/>
                </a:solidFill>
                <a:latin typeface="+mn-lt"/>
                <a:ea typeface="+mn-ea"/>
                <a:cs typeface="+mn-cs"/>
              </a:rPr>
              <a:t>申请 · 审批结果 · 入库信息 · 库存查询 · 异常上报 · 预警通知 · 统计报表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field"/>
          <p:cNvSpPr/>
          <p:nvPr/>
        </p:nvSpPr>
        <p:spPr>
          <a:xfrm>
            <a:off x="0" y="0"/>
            <a:ext cx="12192000" cy="8953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eyebrow"/>
          <p:cNvSpPr txBox="1"/>
          <p:nvPr/>
        </p:nvSpPr>
        <p:spPr>
          <a:xfrm>
            <a:off x="604838" y="188595"/>
            <a:ext cx="124561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12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PART 3 · 建模证据</a:t>
            </a:r>
          </a:p>
        </p:txBody>
      </p:sp>
      <p:sp>
        <p:nvSpPr>
          <p:cNvPr id="4" name="page-title"/>
          <p:cNvSpPr txBox="1"/>
          <p:nvPr/>
        </p:nvSpPr>
        <p:spPr>
          <a:xfrm>
            <a:off x="598551" y="403384"/>
            <a:ext cx="5075790" cy="4253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b="1" dirty="0">
                <a:solidFill>
                  <a:srgbClr val="F5F7F4"/>
                </a:solidFill>
                <a:latin typeface="+mn-lt"/>
                <a:ea typeface="+mn-ea"/>
                <a:cs typeface="+mn-cs"/>
              </a:rPr>
              <a:t>ER：关键实体围绕申请单和化学品连接</a:t>
            </a:r>
          </a:p>
        </p:txBody>
      </p:sp>
      <p:sp>
        <p:nvSpPr>
          <p:cNvPr id="5" name="page-subtitle"/>
          <p:cNvSpPr txBox="1"/>
          <p:nvPr/>
        </p:nvSpPr>
        <p:spPr>
          <a:xfrm>
            <a:off x="603885" y="983456"/>
            <a:ext cx="43838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数据模型把审批责任、使用事实、库存对象和处置证据绑定在一起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11036280" y="390049"/>
            <a:ext cx="55107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b="1" dirty="0">
                <a:solidFill>
                  <a:srgbClr val="B7D7CD"/>
                </a:solidFill>
                <a:latin typeface="Cascadia Mono"/>
                <a:ea typeface="Cascadia Mono"/>
                <a:cs typeface="Cascadia Mono"/>
              </a:rPr>
              <a:t>08 / 12</a:t>
            </a:r>
          </a:p>
        </p:txBody>
      </p:sp>
      <p:sp>
        <p:nvSpPr>
          <p:cNvPr id="7" name="Line 7"/>
          <p:cNvSpPr/>
          <p:nvPr/>
        </p:nvSpPr>
        <p:spPr>
          <a:xfrm>
            <a:off x="609600" y="648652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8" name="footer-label"/>
          <p:cNvSpPr txBox="1"/>
          <p:nvPr/>
        </p:nvSpPr>
        <p:spPr>
          <a:xfrm>
            <a:off x="604838" y="6616541"/>
            <a:ext cx="163731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82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CHEMTRACK · 课程设计汇报</a:t>
            </a:r>
          </a:p>
        </p:txBody>
      </p:sp>
      <p:sp>
        <p:nvSpPr>
          <p:cNvPr id="9" name="footer-section"/>
          <p:cNvSpPr txBox="1"/>
          <p:nvPr/>
        </p:nvSpPr>
        <p:spPr>
          <a:xfrm>
            <a:off x="10694530" y="6616541"/>
            <a:ext cx="89263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需求与可行性研究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09600" y="1543050"/>
            <a:ext cx="2667000" cy="1028700"/>
          </a:xfrm>
          <a:prstGeom prst="roundRect">
            <a:avLst>
              <a:gd name="adj" fmla="val 7407"/>
            </a:avLst>
          </a:prstGeom>
          <a:solidFill>
            <a:srgbClr val="E7F0EE"/>
          </a:solidFill>
          <a:ln w="9525">
            <a:solidFill>
              <a:srgbClr val="DFE7E2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12292" y="1721168"/>
            <a:ext cx="120177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Cascadia Mono"/>
                <a:ea typeface="Cascadia Mono"/>
                <a:cs typeface="Cascadia Mono"/>
              </a:rPr>
              <a:t>User / Role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3816" y="2077402"/>
            <a:ext cx="220014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Cascadia Mono"/>
                <a:ea typeface="Cascadia Mono"/>
                <a:cs typeface="Cascadia Mono"/>
              </a:rPr>
              <a:t>1:N Request · 1:N AuditLog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09600" y="4114800"/>
            <a:ext cx="2667000" cy="1028700"/>
          </a:xfrm>
          <a:prstGeom prst="roundRect">
            <a:avLst>
              <a:gd name="adj" fmla="val 7407"/>
            </a:avLst>
          </a:prstGeom>
          <a:solidFill>
            <a:srgbClr val="E5F5ED"/>
          </a:solidFill>
          <a:ln w="9525">
            <a:solidFill>
              <a:srgbClr val="DFE7E2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812292" y="4292918"/>
            <a:ext cx="173252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Cascadia Mono"/>
                <a:ea typeface="Cascadia Mono"/>
                <a:cs typeface="Cascadia Mono"/>
              </a:rPr>
              <a:t>Chemical / Batch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3816" y="4649152"/>
            <a:ext cx="22752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Cascadia Mono"/>
                <a:ea typeface="Cascadia Mono"/>
                <a:cs typeface="Cascadia Mono"/>
              </a:rPr>
              <a:t>1:N Request · Usage · Alert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572000" y="2457450"/>
            <a:ext cx="3048000" cy="1524000"/>
          </a:xfrm>
          <a:prstGeom prst="roundRect">
            <a:avLst>
              <a:gd name="adj" fmla="val 75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458309" y="2652712"/>
            <a:ext cx="1275382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F5F7F4"/>
                </a:solidFill>
                <a:latin typeface="Cascadia Mono"/>
                <a:ea typeface="Cascadia Mono"/>
                <a:cs typeface="Cascadia Mono"/>
              </a:rPr>
              <a:t>Request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01412" y="312801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BE2DA"/>
                </a:solidFill>
                <a:latin typeface="+mn-lt"/>
                <a:ea typeface="+mn-ea"/>
                <a:cs typeface="+mn-cs"/>
              </a:rPr>
              <a:t>申请单：审批责任的中心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72438" y="3487102"/>
            <a:ext cx="22471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status · amount · applicant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686800" y="1543050"/>
            <a:ext cx="2286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FE7E2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8686800" y="1543050"/>
            <a:ext cx="47625" cy="7620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870823" y="1710214"/>
            <a:ext cx="143804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Cascadia Mono"/>
                <a:ea typeface="Cascadia Mono"/>
                <a:cs typeface="Cascadia Mono"/>
              </a:rPr>
              <a:t>ApprovalRecord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72347" y="1980724"/>
            <a:ext cx="9413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1:N 多阶段决策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686800" y="2781300"/>
            <a:ext cx="2286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FE7E2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686800" y="2781300"/>
            <a:ext cx="47625" cy="762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870823" y="2948464"/>
            <a:ext cx="113511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Cascadia Mono"/>
                <a:ea typeface="Cascadia Mono"/>
                <a:cs typeface="Cascadia Mono"/>
              </a:rPr>
              <a:t>UsageRecord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872347" y="3218974"/>
            <a:ext cx="79487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1:1 使用事实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686800" y="4019550"/>
            <a:ext cx="2286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FE7E2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8686800" y="4019550"/>
            <a:ext cx="47625" cy="7620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8870823" y="4186714"/>
            <a:ext cx="8264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Cascadia Mono"/>
                <a:ea typeface="Cascadia Mono"/>
                <a:cs typeface="Cascadia Mono"/>
              </a:rPr>
              <a:t>Disposal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872347" y="4457224"/>
            <a:ext cx="103943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1:0..N 处置证据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572000" y="4857750"/>
            <a:ext cx="2667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FE7E2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4572000" y="4857750"/>
            <a:ext cx="47625" cy="7620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756023" y="5024914"/>
            <a:ext cx="164263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Cascadia Mono"/>
                <a:ea typeface="Cascadia Mono"/>
                <a:cs typeface="Cascadia Mono"/>
              </a:rPr>
              <a:t>Alert / Incident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757547" y="5295424"/>
            <a:ext cx="66954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风险与异常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620000" y="4857750"/>
            <a:ext cx="2667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FE7E2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7620000" y="4857750"/>
            <a:ext cx="47625" cy="76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7804023" y="5024914"/>
            <a:ext cx="83219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Cascadia Mono"/>
                <a:ea typeface="Cascadia Mono"/>
                <a:cs typeface="Cascadia Mono"/>
              </a:rPr>
              <a:t>AuditLog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805547" y="5295424"/>
            <a:ext cx="80147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动作不可删除</a:t>
            </a:r>
          </a:p>
        </p:txBody>
      </p:sp>
      <p:sp>
        <p:nvSpPr>
          <p:cNvPr id="40" name="Line 40"/>
          <p:cNvSpPr/>
          <p:nvPr/>
        </p:nvSpPr>
        <p:spPr>
          <a:xfrm>
            <a:off x="3276600" y="2057400"/>
            <a:ext cx="1295400" cy="723900"/>
          </a:xfrm>
          <a:prstGeom prst="line">
            <a:avLst/>
          </a:prstGeom>
          <a:noFill/>
          <a:ln w="19050">
            <a:solidFill>
              <a:schemeClr val="accent1"/>
            </a:solidFill>
            <a:tailEnd type="triangle" w="lg" len="lg"/>
          </a:ln>
        </p:spPr>
      </p:sp>
      <p:sp>
        <p:nvSpPr>
          <p:cNvPr id="41" name="Line 41"/>
          <p:cNvSpPr/>
          <p:nvPr/>
        </p:nvSpPr>
        <p:spPr>
          <a:xfrm>
            <a:off x="3276600" y="3486150"/>
            <a:ext cx="1295400" cy="1143000"/>
          </a:xfrm>
          <a:custGeom>
            <a:avLst/>
            <a:gdLst/>
            <a:ahLst/>
            <a:cxnLst/>
            <a:rect l="l" t="t" r="r" b="b"/>
            <a:pathLst>
              <a:path w="1295400" h="1143000">
                <a:moveTo>
                  <a:pt x="0" y="1143000"/>
                </a:moveTo>
                <a:lnTo>
                  <a:pt x="12954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42" name="Line 42"/>
          <p:cNvSpPr/>
          <p:nvPr/>
        </p:nvSpPr>
        <p:spPr>
          <a:xfrm>
            <a:off x="7620000" y="1924050"/>
            <a:ext cx="1066800" cy="857250"/>
          </a:xfrm>
          <a:custGeom>
            <a:avLst/>
            <a:gdLst/>
            <a:ahLst/>
            <a:cxnLst/>
            <a:rect l="l" t="t" r="r" b="b"/>
            <a:pathLst>
              <a:path w="1066800" h="857250">
                <a:moveTo>
                  <a:pt x="0" y="857250"/>
                </a:moveTo>
                <a:lnTo>
                  <a:pt x="1066800" y="0"/>
                </a:lnTo>
              </a:path>
            </a:pathLst>
          </a:custGeom>
          <a:noFill/>
          <a:ln w="19050">
            <a:solidFill>
              <a:schemeClr val="accent3"/>
            </a:solidFill>
          </a:ln>
        </p:spPr>
      </p:sp>
      <p:sp>
        <p:nvSpPr>
          <p:cNvPr id="43" name="Line 43"/>
          <p:cNvSpPr/>
          <p:nvPr/>
        </p:nvSpPr>
        <p:spPr>
          <a:xfrm>
            <a:off x="7620000" y="3162300"/>
            <a:ext cx="1066800" cy="57150"/>
          </a:xfrm>
          <a:custGeom>
            <a:avLst/>
            <a:gdLst/>
            <a:ahLst/>
            <a:cxnLst/>
            <a:rect l="l" t="t" r="r" b="b"/>
            <a:pathLst>
              <a:path w="1066800" h="57150">
                <a:moveTo>
                  <a:pt x="0" y="57150"/>
                </a:moveTo>
                <a:lnTo>
                  <a:pt x="10668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44" name="Line 44"/>
          <p:cNvSpPr/>
          <p:nvPr/>
        </p:nvSpPr>
        <p:spPr>
          <a:xfrm>
            <a:off x="7620000" y="3676650"/>
            <a:ext cx="1066800" cy="723900"/>
          </a:xfrm>
          <a:custGeom>
            <a:avLst/>
            <a:gdLst/>
            <a:ahLst/>
            <a:cxnLst/>
            <a:rect l="l" t="t" r="r" b="b"/>
            <a:pathLst>
              <a:path w="1066800" h="723900">
                <a:moveTo>
                  <a:pt x="0" y="0"/>
                </a:moveTo>
                <a:lnTo>
                  <a:pt x="1066800" y="723900"/>
                </a:lnTo>
              </a:path>
            </a:pathLst>
          </a:custGeom>
          <a:noFill/>
          <a:ln w="19050">
            <a:solidFill>
              <a:schemeClr val="accent3"/>
            </a:solidFill>
          </a:ln>
        </p:spPr>
      </p:sp>
      <p:sp>
        <p:nvSpPr>
          <p:cNvPr id="45" name="Line 45"/>
          <p:cNvSpPr/>
          <p:nvPr/>
        </p:nvSpPr>
        <p:spPr>
          <a:xfrm>
            <a:off x="5905500" y="3981450"/>
            <a:ext cx="190500" cy="876300"/>
          </a:xfrm>
          <a:custGeom>
            <a:avLst/>
            <a:gdLst/>
            <a:ahLst/>
            <a:cxnLst/>
            <a:rect l="l" t="t" r="r" b="b"/>
            <a:pathLst>
              <a:path w="190500" h="876300">
                <a:moveTo>
                  <a:pt x="190500" y="0"/>
                </a:moveTo>
                <a:lnTo>
                  <a:pt x="0" y="876300"/>
                </a:lnTo>
              </a:path>
            </a:pathLst>
          </a:custGeom>
          <a:noFill/>
          <a:ln w="19050">
            <a:solidFill>
              <a:schemeClr val="accent5"/>
            </a:solidFill>
          </a:ln>
        </p:spPr>
      </p:sp>
      <p:sp>
        <p:nvSpPr>
          <p:cNvPr id="46" name="Line 46"/>
          <p:cNvSpPr/>
          <p:nvPr/>
        </p:nvSpPr>
        <p:spPr>
          <a:xfrm>
            <a:off x="6667500" y="3981450"/>
            <a:ext cx="1714500" cy="876300"/>
          </a:xfrm>
          <a:prstGeom prst="line">
            <a:avLst/>
          </a:prstGeom>
          <a:noFill/>
          <a:ln w="19050">
            <a:solidFill>
              <a:schemeClr val="accent1"/>
            </a:solidFill>
            <a:tailEnd type="triangle" w="lg" len="lg"/>
          </a:ln>
        </p:spPr>
      </p:sp>
      <p:sp>
        <p:nvSpPr>
          <p:cNvPr id="47" name="TextBox 47"/>
          <p:cNvSpPr txBox="1"/>
          <p:nvPr/>
        </p:nvSpPr>
        <p:spPr>
          <a:xfrm>
            <a:off x="604266" y="5792152"/>
            <a:ext cx="13326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与 schema.sql 对应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052447" y="5800249"/>
            <a:ext cx="959629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Cascadia Mono"/>
                <a:ea typeface="Cascadia Mono"/>
                <a:cs typeface="Cascadia Mono"/>
              </a:rPr>
              <a:t>users · chemicals · procurements · requests · approval_records · usage_records · incidents · disposals · alerts · audit_logs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field"/>
          <p:cNvSpPr/>
          <p:nvPr/>
        </p:nvSpPr>
        <p:spPr>
          <a:xfrm>
            <a:off x="0" y="0"/>
            <a:ext cx="12192000" cy="8953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eyebrow"/>
          <p:cNvSpPr txBox="1"/>
          <p:nvPr/>
        </p:nvSpPr>
        <p:spPr>
          <a:xfrm>
            <a:off x="604838" y="188595"/>
            <a:ext cx="124561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12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PART 3 · 建模证据</a:t>
            </a:r>
          </a:p>
        </p:txBody>
      </p:sp>
      <p:sp>
        <p:nvSpPr>
          <p:cNvPr id="4" name="page-title"/>
          <p:cNvSpPr txBox="1"/>
          <p:nvPr/>
        </p:nvSpPr>
        <p:spPr>
          <a:xfrm>
            <a:off x="598551" y="403384"/>
            <a:ext cx="4130700" cy="4253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b="1" dirty="0">
                <a:solidFill>
                  <a:srgbClr val="F5F7F4"/>
                </a:solidFill>
                <a:latin typeface="+mn-lt"/>
                <a:ea typeface="+mn-ea"/>
                <a:cs typeface="+mn-cs"/>
              </a:rPr>
              <a:t>状态图：正常链与异常分支并存</a:t>
            </a:r>
          </a:p>
        </p:txBody>
      </p:sp>
      <p:sp>
        <p:nvSpPr>
          <p:cNvPr id="5" name="page-subtitle"/>
          <p:cNvSpPr txBox="1"/>
          <p:nvPr/>
        </p:nvSpPr>
        <p:spPr>
          <a:xfrm>
            <a:off x="603885" y="983456"/>
            <a:ext cx="28761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状态决定下一步权限、库存行为和审计动作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11036280" y="390049"/>
            <a:ext cx="55107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b="1" dirty="0">
                <a:solidFill>
                  <a:srgbClr val="B7D7CD"/>
                </a:solidFill>
                <a:latin typeface="Cascadia Mono"/>
                <a:ea typeface="Cascadia Mono"/>
                <a:cs typeface="Cascadia Mono"/>
              </a:rPr>
              <a:t>09 / 12</a:t>
            </a:r>
          </a:p>
        </p:txBody>
      </p:sp>
      <p:sp>
        <p:nvSpPr>
          <p:cNvPr id="7" name="Line 7"/>
          <p:cNvSpPr/>
          <p:nvPr/>
        </p:nvSpPr>
        <p:spPr>
          <a:xfrm>
            <a:off x="609600" y="648652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8" name="footer-label"/>
          <p:cNvSpPr txBox="1"/>
          <p:nvPr/>
        </p:nvSpPr>
        <p:spPr>
          <a:xfrm>
            <a:off x="604838" y="6616541"/>
            <a:ext cx="163731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82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CHEMTRACK · 课程设计汇报</a:t>
            </a:r>
          </a:p>
        </p:txBody>
      </p:sp>
      <p:sp>
        <p:nvSpPr>
          <p:cNvPr id="9" name="footer-section"/>
          <p:cNvSpPr txBox="1"/>
          <p:nvPr/>
        </p:nvSpPr>
        <p:spPr>
          <a:xfrm>
            <a:off x="10694530" y="6616541"/>
            <a:ext cx="89263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需求与可行性研究</a:t>
            </a:r>
          </a:p>
        </p:txBody>
      </p:sp>
      <p:sp>
        <p:nvSpPr>
          <p:cNvPr id="10" name="Line 10"/>
          <p:cNvSpPr/>
          <p:nvPr/>
        </p:nvSpPr>
        <p:spPr>
          <a:xfrm>
            <a:off x="838200" y="2571750"/>
            <a:ext cx="9829800" cy="1"/>
          </a:xfrm>
          <a:prstGeom prst="line">
            <a:avLst/>
          </a:prstGeom>
          <a:noFill/>
          <a:ln w="38100">
            <a:solidFill>
              <a:schemeClr val="accent1"/>
            </a:solidFill>
            <a:tailEnd type="triangle" w="lg" len="lg"/>
          </a:ln>
        </p:spPr>
      </p:sp>
      <p:sp>
        <p:nvSpPr>
          <p:cNvPr id="11" name="Ellipse 11"/>
          <p:cNvSpPr/>
          <p:nvPr/>
        </p:nvSpPr>
        <p:spPr>
          <a:xfrm>
            <a:off x="676275" y="2409825"/>
            <a:ext cx="323850" cy="323850"/>
          </a:xfrm>
          <a:prstGeom prst="ellipse">
            <a:avLst/>
          </a:prstGeom>
          <a:solidFill>
            <a:schemeClr val="accent1"/>
          </a:solidFill>
          <a:ln w="28575">
            <a:solidFill>
              <a:srgbClr val="FFFFFF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20839" y="2991802"/>
            <a:ext cx="4347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待采购</a:t>
            </a:r>
          </a:p>
        </p:txBody>
      </p:sp>
      <p:sp>
        <p:nvSpPr>
          <p:cNvPr id="13" name="Ellipse 13"/>
          <p:cNvSpPr/>
          <p:nvPr/>
        </p:nvSpPr>
        <p:spPr>
          <a:xfrm>
            <a:off x="1647825" y="2409825"/>
            <a:ext cx="323850" cy="323850"/>
          </a:xfrm>
          <a:prstGeom prst="ellipse">
            <a:avLst/>
          </a:prstGeom>
          <a:solidFill>
            <a:schemeClr val="accent3"/>
          </a:solidFill>
          <a:ln w="28575">
            <a:solidFill>
              <a:srgbClr val="FFFFFF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592390" y="2991802"/>
            <a:ext cx="4347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采购中</a:t>
            </a:r>
          </a:p>
        </p:txBody>
      </p:sp>
      <p:sp>
        <p:nvSpPr>
          <p:cNvPr id="15" name="Ellipse 15"/>
          <p:cNvSpPr/>
          <p:nvPr/>
        </p:nvSpPr>
        <p:spPr>
          <a:xfrm>
            <a:off x="2619375" y="2409825"/>
            <a:ext cx="323850" cy="323850"/>
          </a:xfrm>
          <a:prstGeom prst="ellipse">
            <a:avLst/>
          </a:prstGeom>
          <a:solidFill>
            <a:schemeClr val="accent3"/>
          </a:solidFill>
          <a:ln w="28575">
            <a:solidFill>
              <a:srgbClr val="FFFFFF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2563940" y="2991802"/>
            <a:ext cx="4347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待验收</a:t>
            </a:r>
          </a:p>
        </p:txBody>
      </p:sp>
      <p:sp>
        <p:nvSpPr>
          <p:cNvPr id="17" name="Ellipse 17"/>
          <p:cNvSpPr/>
          <p:nvPr/>
        </p:nvSpPr>
        <p:spPr>
          <a:xfrm>
            <a:off x="3590925" y="2409825"/>
            <a:ext cx="323850" cy="323850"/>
          </a:xfrm>
          <a:prstGeom prst="ellipse">
            <a:avLst/>
          </a:prstGeom>
          <a:solidFill>
            <a:schemeClr val="accent2"/>
          </a:solidFill>
          <a:ln w="28575">
            <a:solidFill>
              <a:srgbClr val="FFFF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3535490" y="2991802"/>
            <a:ext cx="4347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已入库</a:t>
            </a:r>
          </a:p>
        </p:txBody>
      </p:sp>
      <p:sp>
        <p:nvSpPr>
          <p:cNvPr id="19" name="Ellipse 19"/>
          <p:cNvSpPr/>
          <p:nvPr/>
        </p:nvSpPr>
        <p:spPr>
          <a:xfrm>
            <a:off x="4562475" y="2409825"/>
            <a:ext cx="323850" cy="323850"/>
          </a:xfrm>
          <a:prstGeom prst="ellipse">
            <a:avLst/>
          </a:prstGeom>
          <a:solidFill>
            <a:schemeClr val="accent2"/>
          </a:solidFill>
          <a:ln w="28575">
            <a:solidFill>
              <a:srgbClr val="FFFFFF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4507040" y="2991802"/>
            <a:ext cx="4347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可领用</a:t>
            </a:r>
          </a:p>
        </p:txBody>
      </p:sp>
      <p:sp>
        <p:nvSpPr>
          <p:cNvPr id="21" name="Ellipse 21"/>
          <p:cNvSpPr/>
          <p:nvPr/>
        </p:nvSpPr>
        <p:spPr>
          <a:xfrm>
            <a:off x="5534025" y="2409825"/>
            <a:ext cx="323850" cy="323850"/>
          </a:xfrm>
          <a:prstGeom prst="ellipse">
            <a:avLst/>
          </a:prstGeom>
          <a:solidFill>
            <a:schemeClr val="accent3"/>
          </a:solidFill>
          <a:ln w="28575">
            <a:solidFill>
              <a:srgbClr val="FFFFFF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5478590" y="2991802"/>
            <a:ext cx="4347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待审批</a:t>
            </a:r>
          </a:p>
        </p:txBody>
      </p:sp>
      <p:sp>
        <p:nvSpPr>
          <p:cNvPr id="23" name="Ellipse 23"/>
          <p:cNvSpPr/>
          <p:nvPr/>
        </p:nvSpPr>
        <p:spPr>
          <a:xfrm>
            <a:off x="6505575" y="2409825"/>
            <a:ext cx="323850" cy="323850"/>
          </a:xfrm>
          <a:prstGeom prst="ellipse">
            <a:avLst/>
          </a:prstGeom>
          <a:solidFill>
            <a:schemeClr val="accent1"/>
          </a:solidFill>
          <a:ln w="28575">
            <a:solidFill>
              <a:srgbClr val="FFFFFF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450140" y="2991802"/>
            <a:ext cx="4347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已复核</a:t>
            </a:r>
          </a:p>
        </p:txBody>
      </p:sp>
      <p:sp>
        <p:nvSpPr>
          <p:cNvPr id="25" name="Ellipse 25"/>
          <p:cNvSpPr/>
          <p:nvPr/>
        </p:nvSpPr>
        <p:spPr>
          <a:xfrm>
            <a:off x="7477125" y="2409825"/>
            <a:ext cx="323850" cy="323850"/>
          </a:xfrm>
          <a:prstGeom prst="ellipse">
            <a:avLst/>
          </a:prstGeom>
          <a:solidFill>
            <a:schemeClr val="accent2"/>
          </a:solidFill>
          <a:ln w="28575">
            <a:solidFill>
              <a:srgbClr val="FFFF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421690" y="2991802"/>
            <a:ext cx="4347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已发放</a:t>
            </a:r>
          </a:p>
        </p:txBody>
      </p:sp>
      <p:sp>
        <p:nvSpPr>
          <p:cNvPr id="27" name="Ellipse 27"/>
          <p:cNvSpPr/>
          <p:nvPr/>
        </p:nvSpPr>
        <p:spPr>
          <a:xfrm>
            <a:off x="8448675" y="2409825"/>
            <a:ext cx="323850" cy="323850"/>
          </a:xfrm>
          <a:prstGeom prst="ellipse">
            <a:avLst/>
          </a:prstGeom>
          <a:solidFill>
            <a:schemeClr val="accent1"/>
          </a:solidFill>
          <a:ln w="28575">
            <a:solidFill>
              <a:srgbClr val="FFFFFF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393240" y="2991802"/>
            <a:ext cx="4347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使用中</a:t>
            </a:r>
          </a:p>
        </p:txBody>
      </p:sp>
      <p:sp>
        <p:nvSpPr>
          <p:cNvPr id="29" name="Ellipse 29"/>
          <p:cNvSpPr/>
          <p:nvPr/>
        </p:nvSpPr>
        <p:spPr>
          <a:xfrm>
            <a:off x="9420225" y="2409825"/>
            <a:ext cx="323850" cy="323850"/>
          </a:xfrm>
          <a:prstGeom prst="ellipse">
            <a:avLst/>
          </a:prstGeom>
          <a:solidFill>
            <a:schemeClr val="accent2"/>
          </a:solidFill>
          <a:ln w="28575">
            <a:solidFill>
              <a:srgbClr val="FFFFFF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9364790" y="2991802"/>
            <a:ext cx="4347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已归还</a:t>
            </a:r>
          </a:p>
        </p:txBody>
      </p:sp>
      <p:sp>
        <p:nvSpPr>
          <p:cNvPr id="31" name="Ellipse 31"/>
          <p:cNvSpPr/>
          <p:nvPr/>
        </p:nvSpPr>
        <p:spPr>
          <a:xfrm>
            <a:off x="10391775" y="2409825"/>
            <a:ext cx="323850" cy="323850"/>
          </a:xfrm>
          <a:prstGeom prst="ellipse">
            <a:avLst/>
          </a:prstGeom>
          <a:solidFill>
            <a:schemeClr val="accent3"/>
          </a:solidFill>
          <a:ln w="28575">
            <a:solidFill>
              <a:srgbClr val="FFFFF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0336340" y="2991802"/>
            <a:ext cx="4347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待处置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09600" y="1485900"/>
            <a:ext cx="10972800" cy="609600"/>
          </a:xfrm>
          <a:prstGeom prst="roundRect">
            <a:avLst>
              <a:gd name="adj" fmla="val 12500"/>
            </a:avLst>
          </a:prstGeom>
          <a:solidFill>
            <a:srgbClr val="E7F0EE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32485" y="1745456"/>
            <a:ext cx="46375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正常链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728216" y="1753552"/>
            <a:ext cx="85609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待采购 → 采购中 → 待验收 → 已入库 → 可领用 → 申请待审批 → 教师已审批 → 管理员已复核 → 已发放 → 使用中 → 已归还 → 待处置 → 已处置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09600" y="4000500"/>
            <a:ext cx="238125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FE7E2"/>
            </a:solidFill>
          </a:ln>
        </p:spPr>
      </p:sp>
      <p:sp>
        <p:nvSpPr>
          <p:cNvPr id="37" name="Ellipse 37"/>
          <p:cNvSpPr/>
          <p:nvPr/>
        </p:nvSpPr>
        <p:spPr>
          <a:xfrm>
            <a:off x="762000" y="4191000"/>
            <a:ext cx="152400" cy="152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022604" y="4194810"/>
            <a:ext cx="10149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已过期 / 冻结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23366" y="451580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阻断正常领用</a:t>
            </a:r>
          </a:p>
        </p:txBody>
      </p:sp>
      <p:sp>
        <p:nvSpPr>
          <p:cNvPr id="40" name="Line 40"/>
          <p:cNvSpPr/>
          <p:nvPr/>
        </p:nvSpPr>
        <p:spPr>
          <a:xfrm>
            <a:off x="1800225" y="2762250"/>
            <a:ext cx="9525" cy="1238250"/>
          </a:xfrm>
          <a:custGeom>
            <a:avLst/>
            <a:gdLst/>
            <a:ahLst/>
            <a:cxnLst/>
            <a:rect l="l" t="t" r="r" b="b"/>
            <a:pathLst>
              <a:path w="9525" h="1238250">
                <a:moveTo>
                  <a:pt x="0" y="0"/>
                </a:moveTo>
                <a:lnTo>
                  <a:pt x="0" y="1238250"/>
                </a:lnTo>
              </a:path>
            </a:pathLst>
          </a:custGeom>
          <a:noFill/>
          <a:ln w="15240">
            <a:solidFill>
              <a:schemeClr val="accent5"/>
            </a:solidFill>
            <a:custDash>
              <a:ds d="312500" sp="312500"/>
            </a:custDash>
          </a:ln>
        </p:spPr>
      </p:sp>
      <p:sp>
        <p:nvSpPr>
          <p:cNvPr id="41" name="Rectangle 41"/>
          <p:cNvSpPr/>
          <p:nvPr/>
        </p:nvSpPr>
        <p:spPr>
          <a:xfrm>
            <a:off x="3162300" y="4000500"/>
            <a:ext cx="238125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FE7E2"/>
            </a:solidFill>
          </a:ln>
        </p:spPr>
      </p:sp>
      <p:sp>
        <p:nvSpPr>
          <p:cNvPr id="42" name="Ellipse 42"/>
          <p:cNvSpPr/>
          <p:nvPr/>
        </p:nvSpPr>
        <p:spPr>
          <a:xfrm>
            <a:off x="3314700" y="4191000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575304" y="41948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库存不足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576066" y="451580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生成严重预警</a:t>
            </a:r>
          </a:p>
        </p:txBody>
      </p:sp>
      <p:sp>
        <p:nvSpPr>
          <p:cNvPr id="45" name="Line 45"/>
          <p:cNvSpPr/>
          <p:nvPr/>
        </p:nvSpPr>
        <p:spPr>
          <a:xfrm>
            <a:off x="4352925" y="2762250"/>
            <a:ext cx="9525" cy="1238250"/>
          </a:xfrm>
          <a:custGeom>
            <a:avLst/>
            <a:gdLst/>
            <a:ahLst/>
            <a:cxnLst/>
            <a:rect l="l" t="t" r="r" b="b"/>
            <a:pathLst>
              <a:path w="9525" h="1238250">
                <a:moveTo>
                  <a:pt x="0" y="0"/>
                </a:moveTo>
                <a:lnTo>
                  <a:pt x="0" y="1238250"/>
                </a:lnTo>
              </a:path>
            </a:pathLst>
          </a:custGeom>
          <a:noFill/>
          <a:ln w="15240">
            <a:solidFill>
              <a:schemeClr val="accent3"/>
            </a:solidFill>
            <a:custDash>
              <a:ds d="312500" sp="312500"/>
            </a:custDash>
          </a:ln>
        </p:spPr>
      </p:sp>
      <p:sp>
        <p:nvSpPr>
          <p:cNvPr id="46" name="Rectangle 46"/>
          <p:cNvSpPr/>
          <p:nvPr/>
        </p:nvSpPr>
        <p:spPr>
          <a:xfrm>
            <a:off x="5715000" y="4000500"/>
            <a:ext cx="238125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FE7E2"/>
            </a:solidFill>
          </a:ln>
        </p:spPr>
      </p:sp>
      <p:sp>
        <p:nvSpPr>
          <p:cNvPr id="47" name="Ellipse 47"/>
          <p:cNvSpPr/>
          <p:nvPr/>
        </p:nvSpPr>
        <p:spPr>
          <a:xfrm>
            <a:off x="5867400" y="4191000"/>
            <a:ext cx="152400" cy="152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128004" y="41948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审批驳回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128766" y="451580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回到申请修改</a:t>
            </a:r>
          </a:p>
        </p:txBody>
      </p:sp>
      <p:sp>
        <p:nvSpPr>
          <p:cNvPr id="50" name="Line 50"/>
          <p:cNvSpPr/>
          <p:nvPr/>
        </p:nvSpPr>
        <p:spPr>
          <a:xfrm>
            <a:off x="6905625" y="2762250"/>
            <a:ext cx="9525" cy="1238250"/>
          </a:xfrm>
          <a:custGeom>
            <a:avLst/>
            <a:gdLst/>
            <a:ahLst/>
            <a:cxnLst/>
            <a:rect l="l" t="t" r="r" b="b"/>
            <a:pathLst>
              <a:path w="9525" h="1238250">
                <a:moveTo>
                  <a:pt x="0" y="0"/>
                </a:moveTo>
                <a:lnTo>
                  <a:pt x="0" y="1238250"/>
                </a:lnTo>
              </a:path>
            </a:pathLst>
          </a:custGeom>
          <a:noFill/>
          <a:ln w="15240">
            <a:solidFill>
              <a:schemeClr val="accent5"/>
            </a:solidFill>
            <a:custDash>
              <a:ds d="312500" sp="312500"/>
            </a:custDash>
          </a:ln>
        </p:spPr>
      </p:sp>
      <p:sp>
        <p:nvSpPr>
          <p:cNvPr id="51" name="Rectangle 51"/>
          <p:cNvSpPr/>
          <p:nvPr/>
        </p:nvSpPr>
        <p:spPr>
          <a:xfrm>
            <a:off x="8267700" y="4000500"/>
            <a:ext cx="33147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FE7E2"/>
            </a:solidFill>
          </a:ln>
        </p:spPr>
      </p:sp>
      <p:sp>
        <p:nvSpPr>
          <p:cNvPr id="52" name="Ellipse 52"/>
          <p:cNvSpPr/>
          <p:nvPr/>
        </p:nvSpPr>
        <p:spPr>
          <a:xfrm>
            <a:off x="8420100" y="4191000"/>
            <a:ext cx="152400" cy="152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8680704" y="4194810"/>
            <a:ext cx="21793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归还不一致 / 泄漏 / 存储异常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681466" y="4515802"/>
            <a:ext cx="15655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上报事件并进入处理闭环</a:t>
            </a:r>
          </a:p>
        </p:txBody>
      </p:sp>
      <p:sp>
        <p:nvSpPr>
          <p:cNvPr id="55" name="Line 55"/>
          <p:cNvSpPr/>
          <p:nvPr/>
        </p:nvSpPr>
        <p:spPr>
          <a:xfrm>
            <a:off x="9925050" y="2762250"/>
            <a:ext cx="9525" cy="1238250"/>
          </a:xfrm>
          <a:custGeom>
            <a:avLst/>
            <a:gdLst/>
            <a:ahLst/>
            <a:cxnLst/>
            <a:rect l="l" t="t" r="r" b="b"/>
            <a:pathLst>
              <a:path w="9525" h="1238250">
                <a:moveTo>
                  <a:pt x="0" y="0"/>
                </a:moveTo>
                <a:lnTo>
                  <a:pt x="0" y="1238250"/>
                </a:lnTo>
              </a:path>
            </a:pathLst>
          </a:custGeom>
          <a:noFill/>
          <a:ln w="15240">
            <a:solidFill>
              <a:schemeClr val="accent5"/>
            </a:solidFill>
            <a:custDash>
              <a:ds d="312500" sp="312500"/>
            </a:custDash>
          </a:ln>
        </p:spPr>
      </p:sp>
      <p:sp>
        <p:nvSpPr>
          <p:cNvPr id="56" name="TextBox 56"/>
          <p:cNvSpPr txBox="1"/>
          <p:nvPr/>
        </p:nvSpPr>
        <p:spPr>
          <a:xfrm>
            <a:off x="604266" y="548735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触发事件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518285" y="5479256"/>
            <a:ext cx="596701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到货 · 验收 · 入库 · 审批 · 复核 · 发放 · 实验开始 · 归还 · 处置完成 · 到期 · 发现泄漏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field"/>
          <p:cNvSpPr/>
          <p:nvPr/>
        </p:nvSpPr>
        <p:spPr>
          <a:xfrm>
            <a:off x="0" y="0"/>
            <a:ext cx="12192000" cy="8953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eyebrow"/>
          <p:cNvSpPr txBox="1"/>
          <p:nvPr/>
        </p:nvSpPr>
        <p:spPr>
          <a:xfrm>
            <a:off x="604838" y="188595"/>
            <a:ext cx="138184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12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PART 4 · 实现与演示</a:t>
            </a:r>
          </a:p>
        </p:txBody>
      </p:sp>
      <p:sp>
        <p:nvSpPr>
          <p:cNvPr id="4" name="page-title"/>
          <p:cNvSpPr txBox="1"/>
          <p:nvPr/>
        </p:nvSpPr>
        <p:spPr>
          <a:xfrm>
            <a:off x="598551" y="403384"/>
            <a:ext cx="6185002" cy="4253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b="1" dirty="0">
                <a:solidFill>
                  <a:srgbClr val="F5F7F4"/>
                </a:solidFill>
                <a:latin typeface="+mn-lt"/>
                <a:ea typeface="+mn-ea"/>
                <a:cs typeface="+mn-cs"/>
              </a:rPr>
              <a:t>课堂演示闭环：用一条真实路径证明需求可落地</a:t>
            </a:r>
          </a:p>
        </p:txBody>
      </p:sp>
      <p:sp>
        <p:nvSpPr>
          <p:cNvPr id="5" name="page-subtitle"/>
          <p:cNvSpPr txBox="1"/>
          <p:nvPr/>
        </p:nvSpPr>
        <p:spPr>
          <a:xfrm>
            <a:off x="603885" y="983456"/>
            <a:ext cx="42513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每一步都能在前端页面、REST API、数据库表和审计记录中定位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11036280" y="390049"/>
            <a:ext cx="55107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b="1" dirty="0">
                <a:solidFill>
                  <a:srgbClr val="B7D7CD"/>
                </a:solidFill>
                <a:latin typeface="Cascadia Mono"/>
                <a:ea typeface="Cascadia Mono"/>
                <a:cs typeface="Cascadia Mono"/>
              </a:rPr>
              <a:t>10 / 12</a:t>
            </a:r>
          </a:p>
        </p:txBody>
      </p:sp>
      <p:sp>
        <p:nvSpPr>
          <p:cNvPr id="7" name="Line 7"/>
          <p:cNvSpPr/>
          <p:nvPr/>
        </p:nvSpPr>
        <p:spPr>
          <a:xfrm>
            <a:off x="609600" y="648652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8" name="footer-label"/>
          <p:cNvSpPr txBox="1"/>
          <p:nvPr/>
        </p:nvSpPr>
        <p:spPr>
          <a:xfrm>
            <a:off x="604838" y="6616541"/>
            <a:ext cx="163731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82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CHEMTRACK · 课程设计汇报</a:t>
            </a:r>
          </a:p>
        </p:txBody>
      </p:sp>
      <p:sp>
        <p:nvSpPr>
          <p:cNvPr id="9" name="footer-section"/>
          <p:cNvSpPr txBox="1"/>
          <p:nvPr/>
        </p:nvSpPr>
        <p:spPr>
          <a:xfrm>
            <a:off x="10694530" y="6616541"/>
            <a:ext cx="89263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需求与可行性研究</a:t>
            </a:r>
          </a:p>
        </p:txBody>
      </p:sp>
      <p:sp>
        <p:nvSpPr>
          <p:cNvPr id="10" name="Line 10"/>
          <p:cNvSpPr/>
          <p:nvPr/>
        </p:nvSpPr>
        <p:spPr>
          <a:xfrm>
            <a:off x="952500" y="2419350"/>
            <a:ext cx="10096500" cy="1"/>
          </a:xfrm>
          <a:prstGeom prst="line">
            <a:avLst/>
          </a:prstGeom>
          <a:noFill/>
          <a:ln w="28575">
            <a:solidFill>
              <a:schemeClr val="accent1"/>
            </a:solidFill>
            <a:tailEnd type="triangle" w="lg" len="lg"/>
          </a:ln>
        </p:spPr>
      </p:sp>
      <p:sp>
        <p:nvSpPr>
          <p:cNvPr id="11" name="Ellipse 11"/>
          <p:cNvSpPr/>
          <p:nvPr/>
        </p:nvSpPr>
        <p:spPr>
          <a:xfrm>
            <a:off x="742950" y="220980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83050" y="2387441"/>
            <a:ext cx="1389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F5F7F4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5236" y="2802731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采购入库</a:t>
            </a:r>
          </a:p>
        </p:txBody>
      </p:sp>
      <p:sp>
        <p:nvSpPr>
          <p:cNvPr id="14" name="Ellipse 14"/>
          <p:cNvSpPr/>
          <p:nvPr/>
        </p:nvSpPr>
        <p:spPr>
          <a:xfrm>
            <a:off x="2171700" y="220980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311800" y="2387441"/>
            <a:ext cx="1389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F5F7F4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73986" y="2802731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新建批次</a:t>
            </a:r>
          </a:p>
        </p:txBody>
      </p:sp>
      <p:sp>
        <p:nvSpPr>
          <p:cNvPr id="17" name="Ellipse 17"/>
          <p:cNvSpPr/>
          <p:nvPr/>
        </p:nvSpPr>
        <p:spPr>
          <a:xfrm>
            <a:off x="3600450" y="220980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3740550" y="2387441"/>
            <a:ext cx="1389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F5F7F4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02736" y="2802731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提交申请</a:t>
            </a:r>
          </a:p>
        </p:txBody>
      </p:sp>
      <p:sp>
        <p:nvSpPr>
          <p:cNvPr id="20" name="Ellipse 20"/>
          <p:cNvSpPr/>
          <p:nvPr/>
        </p:nvSpPr>
        <p:spPr>
          <a:xfrm>
            <a:off x="5029200" y="220980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169300" y="2387441"/>
            <a:ext cx="1389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F5F7F4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931486" y="2802731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教师审批</a:t>
            </a:r>
          </a:p>
        </p:txBody>
      </p:sp>
      <p:sp>
        <p:nvSpPr>
          <p:cNvPr id="23" name="Ellipse 23"/>
          <p:cNvSpPr/>
          <p:nvPr/>
        </p:nvSpPr>
        <p:spPr>
          <a:xfrm>
            <a:off x="6457950" y="220980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598050" y="2387441"/>
            <a:ext cx="1389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F5F7F4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284849" y="2802731"/>
            <a:ext cx="7653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管理员复核</a:t>
            </a:r>
          </a:p>
        </p:txBody>
      </p:sp>
      <p:sp>
        <p:nvSpPr>
          <p:cNvPr id="26" name="Ellipse 26"/>
          <p:cNvSpPr/>
          <p:nvPr/>
        </p:nvSpPr>
        <p:spPr>
          <a:xfrm>
            <a:off x="7886700" y="220980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026800" y="2387441"/>
            <a:ext cx="1389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F5F7F4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788986" y="2802731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办理发放</a:t>
            </a:r>
          </a:p>
        </p:txBody>
      </p:sp>
      <p:sp>
        <p:nvSpPr>
          <p:cNvPr id="29" name="Ellipse 29"/>
          <p:cNvSpPr/>
          <p:nvPr/>
        </p:nvSpPr>
        <p:spPr>
          <a:xfrm>
            <a:off x="9315450" y="220980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455550" y="2387441"/>
            <a:ext cx="1389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F5F7F4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217736" y="2802731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使用归还</a:t>
            </a:r>
          </a:p>
        </p:txBody>
      </p:sp>
      <p:sp>
        <p:nvSpPr>
          <p:cNvPr id="32" name="Ellipse 32"/>
          <p:cNvSpPr/>
          <p:nvPr/>
        </p:nvSpPr>
        <p:spPr>
          <a:xfrm>
            <a:off x="10744200" y="220980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0884300" y="2387441"/>
            <a:ext cx="1389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F5F7F4"/>
                </a:solidFill>
                <a:latin typeface="Cascadia Mono"/>
                <a:ea typeface="Cascadia Mono"/>
                <a:cs typeface="Cascadia Mono"/>
              </a:rPr>
              <a:t>08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555456" y="2802731"/>
            <a:ext cx="7965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风险 / 审计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09600" y="3562350"/>
            <a:ext cx="109728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FE7E2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32104" y="3775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证据链</a:t>
            </a:r>
          </a:p>
        </p:txBody>
      </p:sp>
      <p:sp>
        <p:nvSpPr>
          <p:cNvPr id="37" name="Ellipse 37"/>
          <p:cNvSpPr/>
          <p:nvPr/>
        </p:nvSpPr>
        <p:spPr>
          <a:xfrm>
            <a:off x="771525" y="4333875"/>
            <a:ext cx="133350" cy="1333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022985" y="4221956"/>
            <a:ext cx="31297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页面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23747" y="4495324"/>
            <a:ext cx="179303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Cascadia Mono"/>
                <a:ea typeface="Microsoft YaHei"/>
                <a:cs typeface="Cascadia Mono"/>
              </a:rPr>
              <a:t>领用审批 / 风险中心 / 审计</a:t>
            </a:r>
          </a:p>
        </p:txBody>
      </p:sp>
      <p:sp>
        <p:nvSpPr>
          <p:cNvPr id="40" name="Ellipse 40"/>
          <p:cNvSpPr/>
          <p:nvPr/>
        </p:nvSpPr>
        <p:spPr>
          <a:xfrm>
            <a:off x="3438525" y="4333875"/>
            <a:ext cx="133350" cy="1333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3689985" y="4221956"/>
            <a:ext cx="31297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接口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690747" y="4495324"/>
            <a:ext cx="36490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Cascadia Mono"/>
                <a:ea typeface="Cascadia Mono"/>
                <a:cs typeface="Cascadia Mono"/>
              </a:rPr>
              <a:t>POST /requests · PATCH /approve · PATCH /issue</a:t>
            </a:r>
          </a:p>
        </p:txBody>
      </p:sp>
      <p:sp>
        <p:nvSpPr>
          <p:cNvPr id="43" name="Ellipse 43"/>
          <p:cNvSpPr/>
          <p:nvPr/>
        </p:nvSpPr>
        <p:spPr>
          <a:xfrm>
            <a:off x="6600825" y="4333875"/>
            <a:ext cx="133350" cy="1333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852285" y="4221956"/>
            <a:ext cx="31297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数据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853047" y="4495324"/>
            <a:ext cx="356614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Cascadia Mono"/>
                <a:ea typeface="Cascadia Mono"/>
                <a:cs typeface="Cascadia Mono"/>
              </a:rPr>
              <a:t>requests · usage_records · alerts · audit_logs</a:t>
            </a:r>
          </a:p>
        </p:txBody>
      </p:sp>
      <p:sp>
        <p:nvSpPr>
          <p:cNvPr id="46" name="Ellipse 46"/>
          <p:cNvSpPr/>
          <p:nvPr/>
        </p:nvSpPr>
        <p:spPr>
          <a:xfrm>
            <a:off x="9744075" y="4333875"/>
            <a:ext cx="133350" cy="1333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9995535" y="4221956"/>
            <a:ext cx="31297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结果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996297" y="4495324"/>
            <a:ext cx="179303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Cascadia Mono"/>
                <a:ea typeface="Microsoft YaHei"/>
                <a:cs typeface="Cascadia Mono"/>
              </a:rPr>
              <a:t>状态推进 + 库存变化 + 留痕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09600" y="5467350"/>
            <a:ext cx="10972800" cy="514350"/>
          </a:xfrm>
          <a:prstGeom prst="roundRect">
            <a:avLst>
              <a:gd name="adj" fmla="val 14815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832866" y="567785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演示结论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783842" y="5645468"/>
            <a:ext cx="38301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5F7F4"/>
                </a:solidFill>
                <a:latin typeface="+mn-lt"/>
                <a:ea typeface="+mn-ea"/>
                <a:cs typeface="+mn-cs"/>
              </a:rPr>
              <a:t>需求、模型、代码最终在同一条操作链上闭合。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field"/>
          <p:cNvSpPr/>
          <p:nvPr/>
        </p:nvSpPr>
        <p:spPr>
          <a:xfrm>
            <a:off x="0" y="0"/>
            <a:ext cx="12192000" cy="8953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eyebrow"/>
          <p:cNvSpPr txBox="1"/>
          <p:nvPr/>
        </p:nvSpPr>
        <p:spPr>
          <a:xfrm>
            <a:off x="604838" y="188595"/>
            <a:ext cx="138184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12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PART 4 · 实现与演示</a:t>
            </a:r>
          </a:p>
        </p:txBody>
      </p:sp>
      <p:sp>
        <p:nvSpPr>
          <p:cNvPr id="4" name="page-title"/>
          <p:cNvSpPr txBox="1"/>
          <p:nvPr/>
        </p:nvSpPr>
        <p:spPr>
          <a:xfrm>
            <a:off x="598551" y="403384"/>
            <a:ext cx="4424172" cy="4253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b="1" dirty="0">
                <a:solidFill>
                  <a:srgbClr val="F5F7F4"/>
                </a:solidFill>
                <a:latin typeface="+mn-lt"/>
                <a:ea typeface="+mn-ea"/>
                <a:cs typeface="+mn-cs"/>
              </a:rPr>
              <a:t>实现映射：技术栈与需求一一对应</a:t>
            </a:r>
          </a:p>
        </p:txBody>
      </p:sp>
      <p:sp>
        <p:nvSpPr>
          <p:cNvPr id="5" name="page-subtitle"/>
          <p:cNvSpPr txBox="1"/>
          <p:nvPr/>
        </p:nvSpPr>
        <p:spPr>
          <a:xfrm>
            <a:off x="603885" y="983456"/>
            <a:ext cx="507574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现有代码已覆盖 MVP 主要闭环，下一阶段集中在安全认证、权限和治理增强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11036280" y="390049"/>
            <a:ext cx="55107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b="1" dirty="0">
                <a:solidFill>
                  <a:srgbClr val="B7D7CD"/>
                </a:solidFill>
                <a:latin typeface="Cascadia Mono"/>
                <a:ea typeface="Cascadia Mono"/>
                <a:cs typeface="Cascadia Mono"/>
              </a:rPr>
              <a:t>11 / 12</a:t>
            </a:r>
          </a:p>
        </p:txBody>
      </p:sp>
      <p:sp>
        <p:nvSpPr>
          <p:cNvPr id="7" name="Line 7"/>
          <p:cNvSpPr/>
          <p:nvPr/>
        </p:nvSpPr>
        <p:spPr>
          <a:xfrm>
            <a:off x="609600" y="648652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8" name="footer-label"/>
          <p:cNvSpPr txBox="1"/>
          <p:nvPr/>
        </p:nvSpPr>
        <p:spPr>
          <a:xfrm>
            <a:off x="604838" y="6616541"/>
            <a:ext cx="163731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82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CHEMTRACK · 课程设计汇报</a:t>
            </a:r>
          </a:p>
        </p:txBody>
      </p:sp>
      <p:sp>
        <p:nvSpPr>
          <p:cNvPr id="9" name="footer-section"/>
          <p:cNvSpPr txBox="1"/>
          <p:nvPr/>
        </p:nvSpPr>
        <p:spPr>
          <a:xfrm>
            <a:off x="10694530" y="6616541"/>
            <a:ext cx="89263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需求与可行性研究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09600" y="1600200"/>
            <a:ext cx="109728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FE7E2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609600" y="1600200"/>
            <a:ext cx="95250" cy="1066800"/>
          </a:xfrm>
          <a:prstGeom prst="roundRect">
            <a:avLst>
              <a:gd name="adj" fmla="val 3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06780" y="1838325"/>
            <a:ext cx="316384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前端层 · Vue 3 + Vite + 原生 CSS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09066" y="2210752"/>
            <a:ext cx="50354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Cascadia Mono"/>
                <a:ea typeface="Microsoft YaHei"/>
                <a:cs typeface="Cascadia Mono"/>
              </a:rPr>
              <a:t>总览 · 危化品档案 · 采购入库 · 领用审批 · 风险中心 · 废弃处置 · 审计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09600" y="3009900"/>
            <a:ext cx="109728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FE7E2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609600" y="3009900"/>
            <a:ext cx="95250" cy="1066800"/>
          </a:xfrm>
          <a:prstGeom prst="roundRect">
            <a:avLst>
              <a:gd name="adj" fmla="val 3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06780" y="3248025"/>
            <a:ext cx="349664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服务层 · Spring Boot 3.4 + Java 17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9066" y="3620452"/>
            <a:ext cx="48839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Cascadia Mono"/>
                <a:ea typeface="Microsoft YaHei"/>
                <a:cs typeface="Cascadia Mono"/>
              </a:rPr>
              <a:t>REST Controller · Validation · JDBC · 健康检查 · 演示数据回退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09600" y="4419600"/>
            <a:ext cx="109728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FE7E2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609600" y="4419600"/>
            <a:ext cx="95250" cy="1066800"/>
          </a:xfrm>
          <a:prstGeom prst="roundRect">
            <a:avLst>
              <a:gd name="adj" fmla="val 3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06780" y="4657725"/>
            <a:ext cx="176241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数据层 · MySQL 8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9066" y="5030152"/>
            <a:ext cx="91221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Cascadia Mono"/>
                <a:ea typeface="Cascadia Mono"/>
                <a:cs typeface="Cascadia Mono"/>
              </a:rPr>
              <a:t>users · chemicals · procurements · requests · approvals · usages · incidents · disposals · alerts · audit_logs</a:t>
            </a:r>
          </a:p>
        </p:txBody>
      </p:sp>
      <p:sp>
        <p:nvSpPr>
          <p:cNvPr id="22" name="Line 22"/>
          <p:cNvSpPr/>
          <p:nvPr/>
        </p:nvSpPr>
        <p:spPr>
          <a:xfrm>
            <a:off x="5715000" y="2667000"/>
            <a:ext cx="1" cy="342900"/>
          </a:xfrm>
          <a:prstGeom prst="line">
            <a:avLst/>
          </a:prstGeom>
          <a:noFill/>
          <a:ln w="19050">
            <a:solidFill>
              <a:schemeClr val="accent1"/>
            </a:solidFill>
            <a:tailEnd type="triangle" w="lg" len="lg"/>
          </a:ln>
        </p:spPr>
      </p:sp>
      <p:sp>
        <p:nvSpPr>
          <p:cNvPr id="23" name="Line 23"/>
          <p:cNvSpPr/>
          <p:nvPr/>
        </p:nvSpPr>
        <p:spPr>
          <a:xfrm>
            <a:off x="5715000" y="4076700"/>
            <a:ext cx="1" cy="342900"/>
          </a:xfrm>
          <a:prstGeom prst="line">
            <a:avLst/>
          </a:prstGeom>
          <a:noFill/>
          <a:ln w="19050">
            <a:solidFill>
              <a:schemeClr val="accent1"/>
            </a:solidFill>
            <a:tailEnd type="triangle" w="lg" len="lg"/>
          </a:ln>
        </p:spPr>
      </p:sp>
      <p:sp>
        <p:nvSpPr>
          <p:cNvPr id="24" name="TextBox 24"/>
          <p:cNvSpPr txBox="1"/>
          <p:nvPr/>
        </p:nvSpPr>
        <p:spPr>
          <a:xfrm>
            <a:off x="604266" y="5792152"/>
            <a:ext cx="4347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已实现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03223" y="5767864"/>
            <a:ext cx="36315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生命周期闭环、风险预警、角色演示、审计展示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176516" y="579215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下一阶段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14335" y="5784056"/>
            <a:ext cx="34775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6"/>
                </a:solidFill>
                <a:latin typeface="Cascadia Mono"/>
                <a:ea typeface="Microsoft YaHei"/>
                <a:cs typeface="Cascadia Mono"/>
              </a:rPr>
              <a:t>JWT · 细粒度权限 · 通知 · 移动端 · 法规配置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838" y="588645"/>
            <a:ext cx="9475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3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FINAL CHECK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036280" y="580549"/>
            <a:ext cx="55107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b="1" dirty="0">
                <a:solidFill>
                  <a:srgbClr val="B7D7CD"/>
                </a:solidFill>
                <a:latin typeface="Cascadia Mono"/>
                <a:ea typeface="Cascadia Mono"/>
                <a:cs typeface="Cascadia Mono"/>
              </a:rPr>
              <a:t>12 / 12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2836" y="1205865"/>
            <a:ext cx="4224528" cy="11978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4350"/>
              </a:lnSpc>
            </a:pPr>
            <a:r>
              <a:rPr lang="zh-CN" sz="3300" b="1" dirty="0">
                <a:solidFill>
                  <a:srgbClr val="F5F7F4"/>
                </a:solidFill>
                <a:latin typeface="+mn-lt"/>
                <a:ea typeface="+mn-ea"/>
                <a:cs typeface="+mn-cs"/>
              </a:rPr>
              <a:t>结论：可行、可验收、</a:t>
            </a:r>
            <a:br/>
            <a:r>
              <a:rPr lang="zh-CN" sz="3300" b="1" dirty="0">
                <a:solidFill>
                  <a:srgbClr val="F5F7F4"/>
                </a:solidFill>
                <a:latin typeface="+mn-lt"/>
                <a:ea typeface="+mn-ea"/>
                <a:cs typeface="+mn-cs"/>
              </a:rPr>
              <a:t>可持续演进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1030" y="2695575"/>
            <a:ext cx="68385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E2DA"/>
                </a:solidFill>
                <a:latin typeface="+mn-lt"/>
                <a:ea typeface="+mn-ea"/>
                <a:cs typeface="+mn-cs"/>
              </a:rPr>
              <a:t>ChemTrack 已具备课程设计所需的可运行 MVP，需求边界和演进路径清晰。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34290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2E6D65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03885" y="3764756"/>
            <a:ext cx="9766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spc="9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三条答辩结论</a:t>
            </a:r>
          </a:p>
        </p:txBody>
      </p:sp>
      <p:sp>
        <p:nvSpPr>
          <p:cNvPr id="8" name="Ellipse 8"/>
          <p:cNvSpPr/>
          <p:nvPr/>
        </p:nvSpPr>
        <p:spPr>
          <a:xfrm>
            <a:off x="609600" y="4343400"/>
            <a:ext cx="342900" cy="342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11600" y="4482941"/>
            <a:ext cx="1389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173B3B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6899" y="4401979"/>
            <a:ext cx="654101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F5F7F4"/>
                </a:solidFill>
                <a:latin typeface="+mn-lt"/>
                <a:ea typeface="+mn-ea"/>
                <a:cs typeface="+mn-cs"/>
              </a:rPr>
              <a:t>可行性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3885" y="4888706"/>
            <a:ext cx="468543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B7D7CD"/>
                </a:solidFill>
                <a:latin typeface="+mn-lt"/>
                <a:ea typeface="+mn-ea"/>
                <a:cs typeface="+mn-cs"/>
              </a:rPr>
              <a:t>技术与操作已验证，经济可控，社会价值明确；法律方向需制度复核。</a:t>
            </a:r>
          </a:p>
        </p:txBody>
      </p:sp>
      <p:sp>
        <p:nvSpPr>
          <p:cNvPr id="12" name="Ellipse 12"/>
          <p:cNvSpPr/>
          <p:nvPr/>
        </p:nvSpPr>
        <p:spPr>
          <a:xfrm>
            <a:off x="4000500" y="4343400"/>
            <a:ext cx="342900" cy="342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102500" y="4482941"/>
            <a:ext cx="1389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173B3B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487799" y="4401979"/>
            <a:ext cx="441401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F5F7F4"/>
                </a:solidFill>
                <a:latin typeface="+mn-lt"/>
                <a:ea typeface="+mn-ea"/>
                <a:cs typeface="+mn-cs"/>
              </a:rPr>
              <a:t>需求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94785" y="4888706"/>
            <a:ext cx="528853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B7D7CD"/>
                </a:solidFill>
                <a:latin typeface="+mn-lt"/>
                <a:ea typeface="+mn-ea"/>
                <a:cs typeface="+mn-cs"/>
              </a:rPr>
              <a:t>功能、性能、可靠性、可用性、异常、接口、约束、逆向与未来要求均有落点。</a:t>
            </a:r>
          </a:p>
        </p:txBody>
      </p:sp>
      <p:sp>
        <p:nvSpPr>
          <p:cNvPr id="16" name="Ellipse 16"/>
          <p:cNvSpPr/>
          <p:nvPr/>
        </p:nvSpPr>
        <p:spPr>
          <a:xfrm>
            <a:off x="7391400" y="4343400"/>
            <a:ext cx="342900" cy="342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493400" y="4482941"/>
            <a:ext cx="1389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173B3B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78699" y="4401979"/>
            <a:ext cx="441401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F5F7F4"/>
                </a:solidFill>
                <a:latin typeface="+mn-lt"/>
                <a:ea typeface="+mn-ea"/>
                <a:cs typeface="+mn-cs"/>
              </a:rPr>
              <a:t>实现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85685" y="4888706"/>
            <a:ext cx="436698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B7D7CD"/>
                </a:solidFill>
                <a:latin typeface="+mn-lt"/>
                <a:ea typeface="+mn-ea"/>
                <a:cs typeface="+mn-cs"/>
              </a:rPr>
              <a:t>Vue + Spring Boot + MySQL 与 DFD / ER / 状态模型保持一致。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09600" y="5753100"/>
            <a:ext cx="10972800" cy="514350"/>
          </a:xfrm>
          <a:prstGeom prst="roundRect">
            <a:avLst>
              <a:gd name="adj" fmla="val 14815"/>
            </a:avLst>
          </a:prstGeom>
          <a:solidFill>
            <a:srgbClr val="214E49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32866" y="59636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答辩检查句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74342" y="5931218"/>
            <a:ext cx="47388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5F7F4"/>
                </a:solidFill>
                <a:latin typeface="+mn-lt"/>
                <a:ea typeface="+mn-ea"/>
                <a:cs typeface="+mn-cs"/>
              </a:rPr>
              <a:t>每一个需求是否都有角色、状态、数据、接口和验收证据？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chemtrack_requirements_ppt">
  <a:themeElements>
    <a:clrScheme name="chemtrack_requirements_ppt">
      <a:dk1>
        <a:srgbClr val="263F40"/>
      </a:dk1>
      <a:lt1>
        <a:srgbClr val="F2F5F2"/>
      </a:lt1>
      <a:dk2>
        <a:srgbClr val="263F40"/>
      </a:dk2>
      <a:lt2>
        <a:srgbClr val="173B3B"/>
      </a:lt2>
      <a:accent1>
        <a:srgbClr val="1C5C57"/>
      </a:accent1>
      <a:accent2>
        <a:srgbClr val="42C397"/>
      </a:accent2>
      <a:accent3>
        <a:srgbClr val="E9A13B"/>
      </a:accent3>
      <a:accent4>
        <a:srgbClr val="1C5C57"/>
      </a:accent4>
      <a:accent5>
        <a:srgbClr val="E97667"/>
      </a:accent5>
      <a:accent6>
        <a:srgbClr val="81918C"/>
      </a:accent6>
      <a:hlink>
        <a:srgbClr val="42C397"/>
      </a:hlink>
      <a:folHlink>
        <a:srgbClr val="E9A13B"/>
      </a:folHlink>
    </a:clrScheme>
    <a:fontScheme name="chemtrack_requirements_ppt">
      <a:majorFont>
        <a:latin typeface="Aptos Display"/>
        <a:ea typeface="Microsoft YaHei"/>
        <a:cs typeface="Aptos Display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Microsoft YaHei"/>
        <a:cs typeface="Apto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emtrack_requirements_p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2026-09-15T08:41:45Z</dcterms:created>
  <dcterms:modified xsi:type="dcterms:W3CDTF">2026-09-15T08:41:45Z</dcterms:modified>
  <cp:category/>
  <cp:contentStatus/>
</cp:coreProperties>
</file>